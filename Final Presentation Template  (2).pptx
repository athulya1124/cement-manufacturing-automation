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307" r:id="rId2"/>
    <p:sldId id="256" r:id="rId3"/>
    <p:sldId id="258" r:id="rId4"/>
    <p:sldId id="260" r:id="rId5"/>
    <p:sldId id="261" r:id="rId6"/>
    <p:sldId id="262" r:id="rId7"/>
    <p:sldId id="263" r:id="rId8"/>
    <p:sldId id="308" r:id="rId9"/>
    <p:sldId id="265" r:id="rId10"/>
    <p:sldId id="267" r:id="rId11"/>
    <p:sldId id="269" r:id="rId12"/>
    <p:sldId id="274" r:id="rId13"/>
    <p:sldId id="298" r:id="rId14"/>
    <p:sldId id="276" r:id="rId15"/>
    <p:sldId id="297" r:id="rId16"/>
    <p:sldId id="277" r:id="rId17"/>
    <p:sldId id="299" r:id="rId18"/>
    <p:sldId id="278" r:id="rId19"/>
    <p:sldId id="300" r:id="rId20"/>
    <p:sldId id="301" r:id="rId21"/>
    <p:sldId id="302" r:id="rId22"/>
    <p:sldId id="303" r:id="rId23"/>
    <p:sldId id="304" r:id="rId24"/>
    <p:sldId id="305" r:id="rId25"/>
    <p:sldId id="306" r:id="rId26"/>
    <p:sldId id="279" r:id="rId27"/>
    <p:sldId id="294" r:id="rId28"/>
    <p:sldId id="292" r:id="rId29"/>
    <p:sldId id="293" r:id="rId30"/>
    <p:sldId id="295" r:id="rId31"/>
    <p:sldId id="296" r:id="rId32"/>
  </p:sldIdLst>
  <p:sldSz cx="12192000" cy="6858000"/>
  <p:notesSz cx="6858000" cy="9144000"/>
  <p:embeddedFontLst>
    <p:embeddedFont>
      <p:font typeface="Algerian" panose="04020705040A02060702" pitchFamily="82" charset="0"/>
      <p:regular r:id="rId34"/>
    </p:embeddedFont>
    <p:embeddedFont>
      <p:font typeface="Calibri" panose="020F0502020204030204" pitchFamily="34" charset="0"/>
      <p:regular r:id="rId35"/>
      <p:bold r:id="rId36"/>
      <p:italic r:id="rId37"/>
      <p:boldItalic r:id="rId38"/>
    </p:embeddedFont>
    <p:embeddedFont>
      <p:font typeface="Century Schoolbook" panose="02040604050505020304" pitchFamily="18" charset="0"/>
      <p:regular r:id="rId39"/>
      <p:bold r:id="rId40"/>
      <p:italic r:id="rId41"/>
      <p:boldItalic r:id="rId42"/>
    </p:embeddedFont>
    <p:embeddedFont>
      <p:font typeface="Georgia" panose="02040502050405020303" pitchFamily="18" charset="0"/>
      <p:regular r:id="rId43"/>
      <p:bold r:id="rId44"/>
      <p:italic r:id="rId45"/>
      <p:boldItalic r:id="rId46"/>
    </p:embeddedFont>
    <p:embeddedFont>
      <p:font typeface="Imprint MT Shadow" panose="04020605060303030202" pitchFamily="82" charset="0"/>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70">
          <p15:clr>
            <a:srgbClr val="9AA0A6"/>
          </p15:clr>
        </p15:guide>
        <p15:guide id="2" pos="5868">
          <p15:clr>
            <a:srgbClr val="9AA0A6"/>
          </p15:clr>
        </p15:guide>
        <p15:guide id="3" orient="horz" pos="157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gzPzfW/Eqj5INjXEMP3JF+w7YJ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C7D7C2-2656-48F7-9868-D3045F35443C}" v="2479" dt="2023-10-30T17:19:25.767"/>
    <p1510:client id="{3B0C9E4D-5C66-4406-A54D-CD46A714A9F5}" v="1447" dt="2023-10-31T08:08:55.405"/>
    <p1510:client id="{609C8AB4-28E4-48AD-A929-08AECE974784}" v="148" dt="2023-10-31T08:23:33.698"/>
    <p1510:client id="{6BC97803-1631-42C6-940C-9C6500ACD03C}" v="13" dt="2023-10-29T14:25:14.084"/>
    <p1510:client id="{93331B25-E059-4C2A-B70A-33A3438E04FA}" v="502" dt="2023-11-01T11:27:18.190"/>
    <p1510:client id="{A4A5E087-148B-4EAF-9243-749F7E9CA034}" v="267" dt="2023-11-01T05:08:59.541"/>
    <p1510:client id="{A81040DE-7F0B-456E-8E01-BF51695F0A6A}" v="23" dt="2023-10-30T06:17:25.126"/>
    <p1510:client id="{B81F5B6E-A723-4238-BAD9-750E42D2E785}" v="444" dt="2023-10-30T07:04:29.318"/>
    <p1510:client id="{B82C2DF1-94E3-4DB3-891C-EEC8C3322E7A}" v="5190" dt="2023-10-31T18:35:13.161"/>
    <p1510:client id="{BE2406B2-80B2-4757-92F2-48697C6EFA99}" v="3" dt="2023-10-29T14:22:44.300"/>
  </p1510:revLst>
</p1510:revInfo>
</file>

<file path=ppt/tableStyles.xml><?xml version="1.0" encoding="utf-8"?>
<a:tblStyleLst xmlns:a="http://schemas.openxmlformats.org/drawingml/2006/main" def="{2C2D7396-3E8A-4C48-A43C-EBEA59809495}">
  <a:tblStyle styleId="{2C2D7396-3E8A-4C48-A43C-EBEA598094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90" autoAdjust="0"/>
  </p:normalViewPr>
  <p:slideViewPr>
    <p:cSldViewPr snapToGrid="0">
      <p:cViewPr varScale="1">
        <p:scale>
          <a:sx n="75" d="100"/>
          <a:sy n="75" d="100"/>
        </p:scale>
        <p:origin x="516" y="72"/>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8" Type="http://schemas.openxmlformats.org/officeDocument/2006/relationships/viewProps" Target="viewProps.xml"/><Relationship Id="rId5" Type="http://schemas.openxmlformats.org/officeDocument/2006/relationships/slide" Target="slides/slide4.xml"/><Relationship Id="rId61"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f3a8d4be09_2_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Change </a:t>
            </a:r>
            <a:endParaRPr/>
          </a:p>
        </p:txBody>
      </p:sp>
      <p:sp>
        <p:nvSpPr>
          <p:cNvPr id="137" name="Google Shape;137;gf3a8d4be09_2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f3a8d4be09_2_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f3a8d4be09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100"/>
          </a:p>
        </p:txBody>
      </p:sp>
      <p:sp>
        <p:nvSpPr>
          <p:cNvPr id="157" name="Google Shape;15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100"/>
          </a:p>
        </p:txBody>
      </p:sp>
      <p:sp>
        <p:nvSpPr>
          <p:cNvPr id="164" name="Google Shape;1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19c79fd7f2_1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100"/>
          </a:p>
          <a:p>
            <a:pPr marL="0" lvl="0" indent="0" algn="l" rtl="0">
              <a:lnSpc>
                <a:spcPct val="100000"/>
              </a:lnSpc>
              <a:spcBef>
                <a:spcPts val="0"/>
              </a:spcBef>
              <a:spcAft>
                <a:spcPts val="0"/>
              </a:spcAft>
              <a:buClr>
                <a:schemeClr val="dk1"/>
              </a:buClr>
              <a:buSzPts val="1100"/>
              <a:buFont typeface="Calibri"/>
              <a:buNone/>
            </a:pPr>
            <a:endParaRPr sz="1100"/>
          </a:p>
          <a:p>
            <a:pPr marL="0" lvl="0" indent="0" algn="l" rtl="0">
              <a:lnSpc>
                <a:spcPct val="100000"/>
              </a:lnSpc>
              <a:spcBef>
                <a:spcPts val="0"/>
              </a:spcBef>
              <a:spcAft>
                <a:spcPts val="0"/>
              </a:spcAft>
              <a:buClr>
                <a:schemeClr val="dk1"/>
              </a:buClr>
              <a:buSzPts val="1100"/>
              <a:buFont typeface="Calibri"/>
              <a:buNone/>
            </a:pPr>
            <a:endParaRPr sz="1100"/>
          </a:p>
        </p:txBody>
      </p:sp>
      <p:sp>
        <p:nvSpPr>
          <p:cNvPr id="180" name="Google Shape;180;g119c79fd7f2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t>EDA is used for </a:t>
            </a:r>
            <a:r>
              <a:rPr lang="en-US" sz="1200" b="1"/>
              <a:t>seeing what the data can tell us before the modeling task</a:t>
            </a:r>
            <a:r>
              <a:rPr lang="en-US" sz="1200"/>
              <a:t>.</a:t>
            </a:r>
            <a:endParaRPr/>
          </a:p>
          <a:p>
            <a:pPr marL="0" lvl="0" indent="0" algn="l" rtl="0">
              <a:lnSpc>
                <a:spcPct val="100000"/>
              </a:lnSpc>
              <a:spcBef>
                <a:spcPts val="0"/>
              </a:spcBef>
              <a:spcAft>
                <a:spcPts val="0"/>
              </a:spcAft>
              <a:buSzPts val="1400"/>
              <a:buNone/>
            </a:pPr>
            <a:endParaRPr sz="1200"/>
          </a:p>
          <a:p>
            <a:pPr marL="0" lvl="0" indent="0" algn="l" rtl="0">
              <a:lnSpc>
                <a:spcPct val="100000"/>
              </a:lnSpc>
              <a:spcBef>
                <a:spcPts val="0"/>
              </a:spcBef>
              <a:spcAft>
                <a:spcPts val="0"/>
              </a:spcAft>
              <a:buSzPts val="1400"/>
              <a:buNone/>
            </a:pPr>
            <a:r>
              <a:rPr lang="en-US" sz="1200"/>
              <a:t>Change</a:t>
            </a:r>
            <a:endParaRPr/>
          </a:p>
          <a:p>
            <a:pPr marL="0" lvl="0" indent="0" algn="l" rtl="0">
              <a:lnSpc>
                <a:spcPct val="100000"/>
              </a:lnSpc>
              <a:spcBef>
                <a:spcPts val="0"/>
              </a:spcBef>
              <a:spcAft>
                <a:spcPts val="0"/>
              </a:spcAft>
              <a:buSzPts val="1400"/>
              <a:buNone/>
            </a:pPr>
            <a:endParaRPr/>
          </a:p>
        </p:txBody>
      </p:sp>
      <p:sp>
        <p:nvSpPr>
          <p:cNvPr id="261" name="Google Shape;26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Keep observations </a:t>
            </a:r>
            <a:endParaRPr/>
          </a:p>
        </p:txBody>
      </p:sp>
      <p:sp>
        <p:nvSpPr>
          <p:cNvPr id="303" name="Google Shape;303;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3c7840ddab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3c7840ddab_0_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g23c7840ddab_0_4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321" name="Google Shape;321;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26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1" name="Google Shape;471;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72" name="Google Shape;472;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119d570088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g119d570088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9" name="Google Shape;459;g119d570088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9" name="Google Shape;479;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80" name="Google Shape;480;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7" name="Google Shape;487;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6_Title and Content">
    <p:spTree>
      <p:nvGrpSpPr>
        <p:cNvPr id="1" name="Shape 15"/>
        <p:cNvGrpSpPr/>
        <p:nvPr/>
      </p:nvGrpSpPr>
      <p:grpSpPr>
        <a:xfrm>
          <a:off x="0" y="0"/>
          <a:ext cx="0" cy="0"/>
          <a:chOff x="0" y="0"/>
          <a:chExt cx="0" cy="0"/>
        </a:xfrm>
      </p:grpSpPr>
      <p:sp>
        <p:nvSpPr>
          <p:cNvPr id="16" name="Google Shape;16;p61"/>
          <p:cNvSpPr/>
          <p:nvPr/>
        </p:nvSpPr>
        <p:spPr>
          <a:xfrm>
            <a:off x="0" y="13"/>
            <a:ext cx="12192000" cy="819151"/>
          </a:xfrm>
          <a:prstGeom prst="rect">
            <a:avLst/>
          </a:prstGeom>
          <a:solidFill>
            <a:srgbClr val="D5DBE5"/>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Calibri"/>
              <a:ea typeface="Calibri"/>
              <a:cs typeface="Calibri"/>
              <a:sym typeface="Calibri"/>
            </a:endParaRPr>
          </a:p>
        </p:txBody>
      </p:sp>
      <p:sp>
        <p:nvSpPr>
          <p:cNvPr id="17" name="Google Shape;17;p61"/>
          <p:cNvSpPr txBox="1">
            <a:spLocks noGrp="1"/>
          </p:cNvSpPr>
          <p:nvPr>
            <p:ph type="title"/>
          </p:nvPr>
        </p:nvSpPr>
        <p:spPr>
          <a:xfrm>
            <a:off x="228600" y="184714"/>
            <a:ext cx="10515600" cy="521639"/>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23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 name="Google Shape;18;p61"/>
          <p:cNvSpPr txBox="1">
            <a:spLocks noGrp="1"/>
          </p:cNvSpPr>
          <p:nvPr>
            <p:ph type="sldNum" idx="12"/>
          </p:nvPr>
        </p:nvSpPr>
        <p:spPr>
          <a:xfrm>
            <a:off x="11639552" y="6350000"/>
            <a:ext cx="390525" cy="288925"/>
          </a:xfrm>
          <a:prstGeom prst="rect">
            <a:avLst/>
          </a:prstGeom>
          <a:noFill/>
          <a:ln>
            <a:noFill/>
          </a:ln>
        </p:spPr>
        <p:txBody>
          <a:bodyPr spcFirstLastPara="1" wrap="square" lIns="91400" tIns="45675" rIns="91400" bIns="45675"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9" name="Google Shape;19;p61"/>
          <p:cNvCxnSpPr/>
          <p:nvPr/>
        </p:nvCxnSpPr>
        <p:spPr>
          <a:xfrm>
            <a:off x="13" y="6457951"/>
            <a:ext cx="9608457"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24"/>
        <p:cNvGrpSpPr/>
        <p:nvPr/>
      </p:nvGrpSpPr>
      <p:grpSpPr>
        <a:xfrm>
          <a:off x="0" y="0"/>
          <a:ext cx="0" cy="0"/>
          <a:chOff x="0" y="0"/>
          <a:chExt cx="0" cy="0"/>
        </a:xfrm>
      </p:grpSpPr>
      <p:sp>
        <p:nvSpPr>
          <p:cNvPr id="25" name="Google Shape;25;gf3a8d4be09_2_86"/>
          <p:cNvSpPr/>
          <p:nvPr/>
        </p:nvSpPr>
        <p:spPr>
          <a:xfrm>
            <a:off x="0" y="3"/>
            <a:ext cx="12192000" cy="819300"/>
          </a:xfrm>
          <a:prstGeom prst="rect">
            <a:avLst/>
          </a:prstGeom>
          <a:solidFill>
            <a:srgbClr val="D5DBE5"/>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900" b="0" i="0" u="none" strike="noStrike" cap="none">
              <a:solidFill>
                <a:schemeClr val="lt1"/>
              </a:solidFill>
              <a:latin typeface="Calibri"/>
              <a:ea typeface="Calibri"/>
              <a:cs typeface="Calibri"/>
              <a:sym typeface="Calibri"/>
            </a:endParaRPr>
          </a:p>
        </p:txBody>
      </p:sp>
      <p:sp>
        <p:nvSpPr>
          <p:cNvPr id="26" name="Google Shape;26;gf3a8d4be09_2_86"/>
          <p:cNvSpPr txBox="1">
            <a:spLocks noGrp="1"/>
          </p:cNvSpPr>
          <p:nvPr>
            <p:ph type="title"/>
          </p:nvPr>
        </p:nvSpPr>
        <p:spPr>
          <a:xfrm>
            <a:off x="228600" y="187044"/>
            <a:ext cx="10515600" cy="517024"/>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30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gf3a8d4be09_2_86"/>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gf3a8d4be09_2_86"/>
          <p:cNvCxnSpPr/>
          <p:nvPr/>
        </p:nvCxnSpPr>
        <p:spPr>
          <a:xfrm>
            <a:off x="0" y="6457951"/>
            <a:ext cx="9608400"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39"/>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9"/>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9"/>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9"/>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9"/>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5"/>
        <p:cNvGrpSpPr/>
        <p:nvPr/>
      </p:nvGrpSpPr>
      <p:grpSpPr>
        <a:xfrm>
          <a:off x="0" y="0"/>
          <a:ext cx="0" cy="0"/>
          <a:chOff x="0" y="0"/>
          <a:chExt cx="0" cy="0"/>
        </a:xfrm>
      </p:grpSpPr>
      <p:sp>
        <p:nvSpPr>
          <p:cNvPr id="36" name="Google Shape;36;p42"/>
          <p:cNvSpPr txBox="1">
            <a:spLocks noGrp="1"/>
          </p:cNvSpPr>
          <p:nvPr>
            <p:ph type="title"/>
          </p:nvPr>
        </p:nvSpPr>
        <p:spPr>
          <a:xfrm>
            <a:off x="839788"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2"/>
          <p:cNvSpPr txBox="1">
            <a:spLocks noGrp="1"/>
          </p:cNvSpPr>
          <p:nvPr>
            <p:ph type="body" idx="1"/>
          </p:nvPr>
        </p:nvSpPr>
        <p:spPr>
          <a:xfrm>
            <a:off x="839789" y="1681163"/>
            <a:ext cx="5157787" cy="823912"/>
          </a:xfrm>
          <a:prstGeom prst="rect">
            <a:avLst/>
          </a:prstGeom>
          <a:noFill/>
          <a:ln>
            <a:noFill/>
          </a:ln>
        </p:spPr>
        <p:txBody>
          <a:bodyPr spcFirstLastPara="1" wrap="square" lIns="91400" tIns="45675" rIns="91400" bIns="45675"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9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42"/>
          <p:cNvSpPr txBox="1">
            <a:spLocks noGrp="1"/>
          </p:cNvSpPr>
          <p:nvPr>
            <p:ph type="body" idx="2"/>
          </p:nvPr>
        </p:nvSpPr>
        <p:spPr>
          <a:xfrm>
            <a:off x="839789" y="2505075"/>
            <a:ext cx="5157787" cy="3684588"/>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42"/>
          <p:cNvSpPr txBox="1">
            <a:spLocks noGrp="1"/>
          </p:cNvSpPr>
          <p:nvPr>
            <p:ph type="body" idx="3"/>
          </p:nvPr>
        </p:nvSpPr>
        <p:spPr>
          <a:xfrm>
            <a:off x="6172203" y="1681163"/>
            <a:ext cx="5183188" cy="823912"/>
          </a:xfrm>
          <a:prstGeom prst="rect">
            <a:avLst/>
          </a:prstGeom>
          <a:noFill/>
          <a:ln>
            <a:noFill/>
          </a:ln>
        </p:spPr>
        <p:txBody>
          <a:bodyPr spcFirstLastPara="1" wrap="square" lIns="91400" tIns="45675" rIns="91400" bIns="45675"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9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0" name="Google Shape;40;p42"/>
          <p:cNvSpPr txBox="1">
            <a:spLocks noGrp="1"/>
          </p:cNvSpPr>
          <p:nvPr>
            <p:ph type="body" idx="4"/>
          </p:nvPr>
        </p:nvSpPr>
        <p:spPr>
          <a:xfrm>
            <a:off x="6172203" y="2505075"/>
            <a:ext cx="5183188" cy="3684588"/>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42"/>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2"/>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4"/>
        <p:cNvGrpSpPr/>
        <p:nvPr/>
      </p:nvGrpSpPr>
      <p:grpSpPr>
        <a:xfrm>
          <a:off x="0" y="0"/>
          <a:ext cx="0" cy="0"/>
          <a:chOff x="0" y="0"/>
          <a:chExt cx="0" cy="0"/>
        </a:xfrm>
      </p:grpSpPr>
      <p:sp>
        <p:nvSpPr>
          <p:cNvPr id="45" name="Google Shape;45;p37"/>
          <p:cNvSpPr/>
          <p:nvPr/>
        </p:nvSpPr>
        <p:spPr>
          <a:xfrm>
            <a:off x="0" y="11"/>
            <a:ext cx="12192000" cy="819151"/>
          </a:xfrm>
          <a:prstGeom prst="rect">
            <a:avLst/>
          </a:prstGeom>
          <a:solidFill>
            <a:srgbClr val="D5DBE5"/>
          </a:solidFill>
          <a:ln>
            <a:noFill/>
          </a:ln>
        </p:spPr>
        <p:txBody>
          <a:bodyPr spcFirstLastPara="1" wrap="square" lIns="91400" tIns="45675" rIns="91400" bIns="456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900" b="0" i="0" u="none" strike="noStrike" cap="none">
              <a:solidFill>
                <a:schemeClr val="lt1"/>
              </a:solidFill>
              <a:latin typeface="Calibri"/>
              <a:ea typeface="Calibri"/>
              <a:cs typeface="Calibri"/>
              <a:sym typeface="Calibri"/>
            </a:endParaRPr>
          </a:p>
        </p:txBody>
      </p:sp>
      <p:sp>
        <p:nvSpPr>
          <p:cNvPr id="46" name="Google Shape;46;p37"/>
          <p:cNvSpPr txBox="1">
            <a:spLocks noGrp="1"/>
          </p:cNvSpPr>
          <p:nvPr>
            <p:ph type="title"/>
          </p:nvPr>
        </p:nvSpPr>
        <p:spPr>
          <a:xfrm>
            <a:off x="228600" y="187009"/>
            <a:ext cx="10515600" cy="517024"/>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30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7"/>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48" name="Google Shape;48;p37"/>
          <p:cNvCxnSpPr/>
          <p:nvPr/>
        </p:nvCxnSpPr>
        <p:spPr>
          <a:xfrm>
            <a:off x="12" y="6457951"/>
            <a:ext cx="9608457"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40"/>
          <p:cNvSpPr txBox="1">
            <a:spLocks noGrp="1"/>
          </p:cNvSpPr>
          <p:nvPr>
            <p:ph type="title"/>
          </p:nvPr>
        </p:nvSpPr>
        <p:spPr>
          <a:xfrm>
            <a:off x="831851" y="1709750"/>
            <a:ext cx="10515600" cy="2852737"/>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0"/>
          <p:cNvSpPr txBox="1">
            <a:spLocks noGrp="1"/>
          </p:cNvSpPr>
          <p:nvPr>
            <p:ph type="body" idx="1"/>
          </p:nvPr>
        </p:nvSpPr>
        <p:spPr>
          <a:xfrm>
            <a:off x="831851" y="4589465"/>
            <a:ext cx="10515600" cy="1500187"/>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9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2" name="Google Shape;52;p40"/>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0"/>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0"/>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41"/>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1"/>
          <p:cNvSpPr txBox="1">
            <a:spLocks noGrp="1"/>
          </p:cNvSpPr>
          <p:nvPr>
            <p:ph type="body" idx="1"/>
          </p:nvPr>
        </p:nvSpPr>
        <p:spPr>
          <a:xfrm>
            <a:off x="838200" y="1825625"/>
            <a:ext cx="5181600" cy="4351339"/>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41"/>
          <p:cNvSpPr txBox="1">
            <a:spLocks noGrp="1"/>
          </p:cNvSpPr>
          <p:nvPr>
            <p:ph type="body" idx="2"/>
          </p:nvPr>
        </p:nvSpPr>
        <p:spPr>
          <a:xfrm>
            <a:off x="6172200" y="1825625"/>
            <a:ext cx="5181600" cy="4351339"/>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41"/>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1"/>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41"/>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43"/>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3"/>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3"/>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3"/>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44"/>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4"/>
          <p:cNvSpPr txBox="1">
            <a:spLocks noGrp="1"/>
          </p:cNvSpPr>
          <p:nvPr>
            <p:ph type="body" idx="1"/>
          </p:nvPr>
        </p:nvSpPr>
        <p:spPr>
          <a:xfrm>
            <a:off x="5183188" y="987437"/>
            <a:ext cx="6172200" cy="4873625"/>
          </a:xfrm>
          <a:prstGeom prst="rect">
            <a:avLst/>
          </a:prstGeom>
          <a:noFill/>
          <a:ln>
            <a:noFill/>
          </a:ln>
        </p:spPr>
        <p:txBody>
          <a:bodyPr spcFirstLastPara="1" wrap="square" lIns="91400" tIns="45675" rIns="91400" bIns="45675"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44"/>
          <p:cNvSpPr txBox="1">
            <a:spLocks noGrp="1"/>
          </p:cNvSpPr>
          <p:nvPr>
            <p:ph type="body" idx="2"/>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1" name="Google Shape;71;p44"/>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4"/>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4"/>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5"/>
          <p:cNvSpPr txBox="1">
            <a:spLocks noGrp="1"/>
          </p:cNvSpPr>
          <p:nvPr>
            <p:ph type="title"/>
          </p:nvPr>
        </p:nvSpPr>
        <p:spPr>
          <a:xfrm>
            <a:off x="839788" y="457200"/>
            <a:ext cx="3932237" cy="1600200"/>
          </a:xfrm>
          <a:prstGeom prst="rect">
            <a:avLst/>
          </a:prstGeom>
          <a:noFill/>
          <a:ln>
            <a:noFill/>
          </a:ln>
        </p:spPr>
        <p:txBody>
          <a:bodyPr spcFirstLastPara="1" wrap="square" lIns="91400" tIns="45675" rIns="91400" bIns="45675"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5"/>
          <p:cNvSpPr>
            <a:spLocks noGrp="1"/>
          </p:cNvSpPr>
          <p:nvPr>
            <p:ph type="pic" idx="2"/>
          </p:nvPr>
        </p:nvSpPr>
        <p:spPr>
          <a:xfrm>
            <a:off x="5183188" y="987437"/>
            <a:ext cx="6172200" cy="4873625"/>
          </a:xfrm>
          <a:prstGeom prst="rect">
            <a:avLst/>
          </a:prstGeom>
          <a:noFill/>
          <a:ln>
            <a:noFill/>
          </a:ln>
        </p:spPr>
      </p:sp>
      <p:sp>
        <p:nvSpPr>
          <p:cNvPr id="77" name="Google Shape;77;p45"/>
          <p:cNvSpPr txBox="1">
            <a:spLocks noGrp="1"/>
          </p:cNvSpPr>
          <p:nvPr>
            <p:ph type="body" idx="1"/>
          </p:nvPr>
        </p:nvSpPr>
        <p:spPr>
          <a:xfrm>
            <a:off x="839788" y="2057403"/>
            <a:ext cx="3932237" cy="3811588"/>
          </a:xfrm>
          <a:prstGeom prst="rect">
            <a:avLst/>
          </a:prstGeom>
          <a:noFill/>
          <a:ln>
            <a:noFill/>
          </a:ln>
        </p:spPr>
        <p:txBody>
          <a:bodyPr spcFirstLastPara="1" wrap="square" lIns="91400" tIns="45675" rIns="91400" bIns="45675"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5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100"/>
            </a:lvl4pPr>
            <a:lvl5pPr marL="2286000" lvl="4" indent="-228600" algn="l">
              <a:lnSpc>
                <a:spcPct val="90000"/>
              </a:lnSpc>
              <a:spcBef>
                <a:spcPts val="500"/>
              </a:spcBef>
              <a:spcAft>
                <a:spcPts val="0"/>
              </a:spcAft>
              <a:buClr>
                <a:schemeClr val="dk1"/>
              </a:buClr>
              <a:buSzPts val="1000"/>
              <a:buNone/>
              <a:defRPr sz="1100"/>
            </a:lvl5pPr>
            <a:lvl6pPr marL="2743200" lvl="5" indent="-228600" algn="l">
              <a:lnSpc>
                <a:spcPct val="90000"/>
              </a:lnSpc>
              <a:spcBef>
                <a:spcPts val="500"/>
              </a:spcBef>
              <a:spcAft>
                <a:spcPts val="0"/>
              </a:spcAft>
              <a:buClr>
                <a:schemeClr val="dk1"/>
              </a:buClr>
              <a:buSzPts val="1000"/>
              <a:buNone/>
              <a:defRPr sz="1100"/>
            </a:lvl6pPr>
            <a:lvl7pPr marL="3200400" lvl="6" indent="-228600" algn="l">
              <a:lnSpc>
                <a:spcPct val="90000"/>
              </a:lnSpc>
              <a:spcBef>
                <a:spcPts val="500"/>
              </a:spcBef>
              <a:spcAft>
                <a:spcPts val="0"/>
              </a:spcAft>
              <a:buClr>
                <a:schemeClr val="dk1"/>
              </a:buClr>
              <a:buSzPts val="1000"/>
              <a:buNone/>
              <a:defRPr sz="1100"/>
            </a:lvl7pPr>
            <a:lvl8pPr marL="3657600" lvl="7" indent="-228600" algn="l">
              <a:lnSpc>
                <a:spcPct val="90000"/>
              </a:lnSpc>
              <a:spcBef>
                <a:spcPts val="500"/>
              </a:spcBef>
              <a:spcAft>
                <a:spcPts val="0"/>
              </a:spcAft>
              <a:buClr>
                <a:schemeClr val="dk1"/>
              </a:buClr>
              <a:buSzPts val="1000"/>
              <a:buNone/>
              <a:defRPr sz="1100"/>
            </a:lvl8pPr>
            <a:lvl9pPr marL="4114800" lvl="8" indent="-228600" algn="l">
              <a:lnSpc>
                <a:spcPct val="90000"/>
              </a:lnSpc>
              <a:spcBef>
                <a:spcPts val="500"/>
              </a:spcBef>
              <a:spcAft>
                <a:spcPts val="0"/>
              </a:spcAft>
              <a:buClr>
                <a:schemeClr val="dk1"/>
              </a:buClr>
              <a:buSzPts val="1000"/>
              <a:buNone/>
              <a:defRPr sz="1100"/>
            </a:lvl9pPr>
          </a:lstStyle>
          <a:p>
            <a:endParaRPr/>
          </a:p>
        </p:txBody>
      </p:sp>
      <p:sp>
        <p:nvSpPr>
          <p:cNvPr id="78" name="Google Shape;78;p4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46"/>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6"/>
          <p:cNvSpPr txBox="1">
            <a:spLocks noGrp="1"/>
          </p:cNvSpPr>
          <p:nvPr>
            <p:ph type="body" idx="1"/>
          </p:nvPr>
        </p:nvSpPr>
        <p:spPr>
          <a:xfrm rot="5400000">
            <a:off x="3920333" y="-1256507"/>
            <a:ext cx="4351339" cy="105156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6"/>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6"/>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6"/>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47"/>
          <p:cNvSpPr txBox="1">
            <a:spLocks noGrp="1"/>
          </p:cNvSpPr>
          <p:nvPr>
            <p:ph type="title"/>
          </p:nvPr>
        </p:nvSpPr>
        <p:spPr>
          <a:xfrm rot="5400000">
            <a:off x="7133442" y="1956595"/>
            <a:ext cx="5811839" cy="2628900"/>
          </a:xfrm>
          <a:prstGeom prst="rect">
            <a:avLst/>
          </a:prstGeom>
          <a:noFill/>
          <a:ln>
            <a:noFill/>
          </a:ln>
        </p:spPr>
        <p:txBody>
          <a:bodyPr spcFirstLastPara="1" wrap="square" lIns="91400" tIns="45675" rIns="91400" bIns="45675"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47"/>
          <p:cNvSpPr txBox="1">
            <a:spLocks noGrp="1"/>
          </p:cNvSpPr>
          <p:nvPr>
            <p:ph type="body" idx="1"/>
          </p:nvPr>
        </p:nvSpPr>
        <p:spPr>
          <a:xfrm rot="5400000">
            <a:off x="1799442" y="-596106"/>
            <a:ext cx="5811839" cy="7734300"/>
          </a:xfrm>
          <a:prstGeom prst="rect">
            <a:avLst/>
          </a:prstGeom>
          <a:noFill/>
          <a:ln>
            <a:noFill/>
          </a:ln>
        </p:spPr>
        <p:txBody>
          <a:bodyPr spcFirstLastPara="1" wrap="square" lIns="91400" tIns="45675" rIns="91400" bIns="45675"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7"/>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47"/>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7"/>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838200" y="365125"/>
            <a:ext cx="10515600" cy="1325563"/>
          </a:xfrm>
          <a:prstGeom prst="rect">
            <a:avLst/>
          </a:prstGeom>
          <a:noFill/>
          <a:ln>
            <a:noFill/>
          </a:ln>
        </p:spPr>
        <p:txBody>
          <a:bodyPr spcFirstLastPara="1" wrap="square" lIns="91400" tIns="45675" rIns="91400" bIns="45675"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5"/>
          <p:cNvSpPr txBox="1">
            <a:spLocks noGrp="1"/>
          </p:cNvSpPr>
          <p:nvPr>
            <p:ph type="body" idx="1"/>
          </p:nvPr>
        </p:nvSpPr>
        <p:spPr>
          <a:xfrm>
            <a:off x="838200" y="1825625"/>
            <a:ext cx="10515600" cy="4351339"/>
          </a:xfrm>
          <a:prstGeom prst="rect">
            <a:avLst/>
          </a:prstGeom>
          <a:noFill/>
          <a:ln>
            <a:noFill/>
          </a:ln>
        </p:spPr>
        <p:txBody>
          <a:bodyPr spcFirstLastPara="1" wrap="square" lIns="91400" tIns="45675" rIns="91400" bIns="45675"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838200" y="6356352"/>
            <a:ext cx="2743200" cy="365125"/>
          </a:xfrm>
          <a:prstGeom prst="rect">
            <a:avLst/>
          </a:prstGeom>
          <a:noFill/>
          <a:ln>
            <a:noFill/>
          </a:ln>
        </p:spPr>
        <p:txBody>
          <a:bodyPr spcFirstLastPara="1" wrap="square" lIns="91400" tIns="45675" rIns="91400" bIns="4567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ftr" idx="11"/>
          </p:nvPr>
        </p:nvSpPr>
        <p:spPr>
          <a:xfrm>
            <a:off x="4038600" y="6356352"/>
            <a:ext cx="4114800" cy="365125"/>
          </a:xfrm>
          <a:prstGeom prst="rect">
            <a:avLst/>
          </a:prstGeom>
          <a:noFill/>
          <a:ln>
            <a:noFill/>
          </a:ln>
        </p:spPr>
        <p:txBody>
          <a:bodyPr spcFirstLastPara="1" wrap="square" lIns="91400" tIns="45675" rIns="91400" bIns="4567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5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3.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12.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13.xml"/><Relationship Id="rId16"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1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2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25.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93.jp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9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8A1C7E-B9DA-DBDB-3C9C-302CE27D9D8D}"/>
              </a:ext>
            </a:extLst>
          </p:cNvPr>
          <p:cNvSpPr txBox="1"/>
          <p:nvPr/>
        </p:nvSpPr>
        <p:spPr>
          <a:xfrm>
            <a:off x="1787190" y="2694571"/>
            <a:ext cx="922421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t>Project conducted on </a:t>
            </a:r>
          </a:p>
          <a:p>
            <a:pPr algn="ctr"/>
            <a:r>
              <a:rPr lang="en-US" sz="3200" b="1" dirty="0">
                <a:solidFill>
                  <a:srgbClr val="002060"/>
                </a:solidFill>
                <a:latin typeface="Century Schoolbook" panose="02040604050505020304" pitchFamily="18" charset="0"/>
              </a:rPr>
              <a:t>Cement Manufacturing Automation</a:t>
            </a:r>
            <a:endParaRPr lang="en-US" dirty="0">
              <a:solidFill>
                <a:srgbClr val="002060"/>
              </a:solidFill>
              <a:latin typeface="Century Schoolbook" panose="02040604050505020304" pitchFamily="18" charset="0"/>
            </a:endParaRPr>
          </a:p>
          <a:p>
            <a:pPr algn="ctr"/>
            <a:endParaRPr lang="en-US" dirty="0">
              <a:solidFill>
                <a:srgbClr val="002060"/>
              </a:solidFill>
              <a:latin typeface="Century Schoolbook" panose="02040604050505020304" pitchFamily="18" charset="0"/>
            </a:endParaRPr>
          </a:p>
          <a:p>
            <a:pPr algn="ctr"/>
            <a:endParaRPr lang="en-US" sz="3200" b="1" dirty="0"/>
          </a:p>
        </p:txBody>
      </p:sp>
    </p:spTree>
    <p:extLst>
      <p:ext uri="{BB962C8B-B14F-4D97-AF65-F5344CB8AC3E}">
        <p14:creationId xmlns:p14="http://schemas.microsoft.com/office/powerpoint/2010/main" val="1699048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242944" y="192204"/>
            <a:ext cx="10515600" cy="535491"/>
          </a:xfrm>
          <a:prstGeom prst="rect">
            <a:avLst/>
          </a:prstGeom>
          <a:noFill/>
          <a:ln>
            <a:noFill/>
          </a:ln>
        </p:spPr>
        <p:txBody>
          <a:bodyPr spcFirstLastPara="1" wrap="square" lIns="91425" tIns="45675" rIns="91425" bIns="45675" anchor="ctr" anchorCtr="0">
            <a:spAutoFit/>
          </a:bodyPr>
          <a:lstStyle/>
          <a:p>
            <a:r>
              <a:rPr lang="en-US" b="1" dirty="0">
                <a:latin typeface="Times New Roman"/>
                <a:ea typeface="Times New Roman"/>
                <a:cs typeface="Times New Roman"/>
              </a:rPr>
              <a:t>Project Overview</a:t>
            </a:r>
            <a:endParaRPr b="1" dirty="0">
              <a:latin typeface="Times New Roman"/>
              <a:ea typeface="Times New Roman"/>
              <a:cs typeface="Times New Roman"/>
              <a:sym typeface="Times New Roman"/>
            </a:endParaRPr>
          </a:p>
        </p:txBody>
      </p:sp>
      <p:sp>
        <p:nvSpPr>
          <p:cNvPr id="98" name="Google Shape;98;p2"/>
          <p:cNvSpPr txBox="1"/>
          <p:nvPr/>
        </p:nvSpPr>
        <p:spPr>
          <a:xfrm>
            <a:off x="242944" y="860611"/>
            <a:ext cx="11586894" cy="6155461"/>
          </a:xfrm>
          <a:prstGeom prst="rect">
            <a:avLst/>
          </a:prstGeom>
          <a:noFill/>
          <a:ln>
            <a:noFill/>
          </a:ln>
        </p:spPr>
        <p:txBody>
          <a:bodyPr spcFirstLastPara="1" wrap="square" lIns="121875" tIns="60925" rIns="121875" bIns="60925" anchor="t" anchorCtr="0">
            <a:spAutoFit/>
          </a:bodyPr>
          <a:lstStyle/>
          <a:p>
            <a:r>
              <a:rPr lang="en-US" sz="2400" b="1" dirty="0">
                <a:latin typeface="Times New Roman"/>
                <a:ea typeface="Times New Roman"/>
                <a:cs typeface="Times New Roman"/>
              </a:rPr>
              <a:t>Title </a:t>
            </a:r>
            <a:r>
              <a:rPr lang="en-US" sz="2400" dirty="0">
                <a:latin typeface="Times New Roman"/>
                <a:ea typeface="Times New Roman"/>
                <a:cs typeface="Times New Roman"/>
              </a:rPr>
              <a:t>: </a:t>
            </a:r>
            <a:r>
              <a:rPr lang="en-US" sz="2400" b="1" dirty="0">
                <a:solidFill>
                  <a:schemeClr val="tx1"/>
                </a:solidFill>
                <a:latin typeface="Century Schoolbook" panose="02040604050505020304" pitchFamily="18" charset="0"/>
                <a:ea typeface="Times New Roman"/>
                <a:cs typeface="Times New Roman"/>
              </a:rPr>
              <a:t>Cement Manufacturing Automation </a:t>
            </a:r>
          </a:p>
          <a:p>
            <a:endParaRPr lang="en-US" sz="2400" b="1" dirty="0">
              <a:latin typeface="Times New Roman"/>
              <a:ea typeface="Times New Roman"/>
              <a:cs typeface="Times New Roman"/>
            </a:endParaRPr>
          </a:p>
          <a:p>
            <a:r>
              <a:rPr lang="en-US" sz="1600" dirty="0">
                <a:ea typeface="Times New Roman"/>
              </a:rPr>
              <a:t>The project is to address the business problem of minimizing the time interval between quality checks of cement samples. The purpose of this project is to enhance efficiency, reduce downtime, and ensure consistent product quality. The main aim is to minimize the time between intervals of quality check by 90% and thereby saving a cost of at least $1M. Minimizing the time interval between quality checks can help in early detection of issues, reducing the need for rework and saving on production costs.</a:t>
            </a:r>
          </a:p>
          <a:p>
            <a:endParaRPr lang="en-US" sz="4400" dirty="0">
              <a:latin typeface="Times New Roman"/>
              <a:ea typeface="Times New Roman"/>
              <a:cs typeface="Times New Roman"/>
            </a:endParaRPr>
          </a:p>
          <a:p>
            <a:r>
              <a:rPr lang="en-US" sz="2000" b="1" dirty="0">
                <a:latin typeface="Times New Roman"/>
                <a:ea typeface="Times New Roman"/>
                <a:cs typeface="Times New Roman"/>
              </a:rPr>
              <a:t>Start date</a:t>
            </a:r>
            <a:r>
              <a:rPr lang="en-US" sz="2000" dirty="0">
                <a:latin typeface="Times New Roman"/>
                <a:ea typeface="Times New Roman"/>
                <a:cs typeface="Times New Roman"/>
              </a:rPr>
              <a:t>: 26/09/2023</a:t>
            </a:r>
          </a:p>
          <a:p>
            <a:endParaRPr lang="en-US" sz="2000" dirty="0">
              <a:latin typeface="Times New Roman"/>
              <a:ea typeface="Times New Roman"/>
              <a:cs typeface="Times New Roman"/>
            </a:endParaRPr>
          </a:p>
          <a:p>
            <a:r>
              <a:rPr lang="en-US" sz="2000" b="1" dirty="0">
                <a:latin typeface="Times New Roman"/>
                <a:ea typeface="Times New Roman"/>
                <a:cs typeface="Times New Roman"/>
              </a:rPr>
              <a:t>End date</a:t>
            </a:r>
            <a:r>
              <a:rPr lang="en-US" sz="2000" dirty="0">
                <a:latin typeface="Times New Roman"/>
                <a:ea typeface="Times New Roman"/>
                <a:cs typeface="Times New Roman"/>
              </a:rPr>
              <a:t>: 30/10/2023</a:t>
            </a:r>
          </a:p>
          <a:p>
            <a:endParaRPr lang="en-US" sz="2000" dirty="0">
              <a:latin typeface="Times New Roman"/>
              <a:ea typeface="Times New Roman"/>
              <a:cs typeface="Times New Roman"/>
            </a:endParaRPr>
          </a:p>
          <a:p>
            <a:r>
              <a:rPr lang="en-US" sz="2000" b="1" dirty="0">
                <a:latin typeface="Times New Roman"/>
                <a:ea typeface="Times New Roman"/>
                <a:cs typeface="Times New Roman"/>
              </a:rPr>
              <a:t>Organization</a:t>
            </a:r>
            <a:r>
              <a:rPr lang="en-US" sz="2000" dirty="0">
                <a:latin typeface="Times New Roman"/>
                <a:ea typeface="Times New Roman"/>
                <a:cs typeface="Times New Roman"/>
              </a:rPr>
              <a:t> : 360digitmg</a:t>
            </a:r>
          </a:p>
          <a:p>
            <a:endParaRPr lang="en-US" sz="2000" dirty="0">
              <a:latin typeface="Times New Roman"/>
              <a:ea typeface="Times New Roman"/>
              <a:cs typeface="Times New Roman"/>
            </a:endParaRPr>
          </a:p>
          <a:p>
            <a:endParaRPr lang="en-US" sz="2000" dirty="0">
              <a:latin typeface="Times New Roman"/>
              <a:ea typeface="Times New Roman"/>
              <a:cs typeface="Times New Roman"/>
            </a:endParaRPr>
          </a:p>
          <a:p>
            <a:r>
              <a:rPr lang="en-US" sz="2000" dirty="0">
                <a:latin typeface="Times New Roman"/>
                <a:ea typeface="Times New Roman"/>
                <a:cs typeface="Times New Roman"/>
              </a:rPr>
              <a:t>Prepared and presented by: Athulya P</a:t>
            </a:r>
          </a:p>
          <a:p>
            <a:r>
              <a:rPr lang="en-US" sz="2000" dirty="0">
                <a:latin typeface="Times New Roman"/>
                <a:ea typeface="Times New Roman"/>
                <a:cs typeface="Times New Roman"/>
              </a:rPr>
              <a:t>                                            </a:t>
            </a:r>
            <a:r>
              <a:rPr lang="en-US" dirty="0">
                <a:latin typeface="Times New Roman"/>
                <a:ea typeface="Times New Roman"/>
                <a:cs typeface="Times New Roman"/>
              </a:rPr>
              <a:t>https://www.linkedin.com/in/athulya-ramesan-56693725a</a:t>
            </a:r>
          </a:p>
          <a:p>
            <a:endParaRPr lang="en-US" sz="2000" dirty="0">
              <a:latin typeface="Times New Roman"/>
              <a:ea typeface="Times New Roman"/>
              <a:cs typeface="Times New Roman"/>
            </a:endParaRPr>
          </a:p>
          <a:p>
            <a:endParaRPr lang="en-US" sz="2000" dirty="0">
              <a:latin typeface="Times New Roman"/>
              <a:ea typeface="Times New Roman"/>
              <a:cs typeface="Times New Roman"/>
            </a:endParaRPr>
          </a:p>
        </p:txBody>
      </p:sp>
      <p:pic>
        <p:nvPicPr>
          <p:cNvPr id="99" name="Google Shape;99;p2"/>
          <p:cNvPicPr preferRelativeResize="0"/>
          <p:nvPr/>
        </p:nvPicPr>
        <p:blipFill rotWithShape="1">
          <a:blip r:embed="rId3">
            <a:alphaModFix/>
          </a:blip>
          <a:srcRect/>
          <a:stretch/>
        </p:blipFill>
        <p:spPr>
          <a:xfrm>
            <a:off x="9915533" y="6151968"/>
            <a:ext cx="2276467" cy="7060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txBox="1">
            <a:spLocks noGrp="1"/>
          </p:cNvSpPr>
          <p:nvPr>
            <p:ph type="title"/>
          </p:nvPr>
        </p:nvSpPr>
        <p:spPr>
          <a:xfrm>
            <a:off x="242944" y="192204"/>
            <a:ext cx="10515600" cy="535491"/>
          </a:xfrm>
          <a:prstGeom prst="rect">
            <a:avLst/>
          </a:prstGeom>
          <a:noFill/>
          <a:ln>
            <a:noFill/>
          </a:ln>
        </p:spPr>
        <p:txBody>
          <a:bodyPr spcFirstLastPara="1" wrap="square" lIns="91425" tIns="45675" rIns="91425"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Project Leadership</a:t>
            </a:r>
            <a:endParaRPr b="1">
              <a:latin typeface="Times New Roman"/>
              <a:ea typeface="Times New Roman"/>
              <a:cs typeface="Times New Roman"/>
              <a:sym typeface="Times New Roman"/>
            </a:endParaRPr>
          </a:p>
        </p:txBody>
      </p:sp>
      <p:sp>
        <p:nvSpPr>
          <p:cNvPr id="115" name="Google Shape;115;p4"/>
          <p:cNvSpPr txBox="1"/>
          <p:nvPr/>
        </p:nvSpPr>
        <p:spPr>
          <a:xfrm>
            <a:off x="242944" y="860611"/>
            <a:ext cx="3537600"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Times New Roman"/>
              <a:ea typeface="Times New Roman"/>
              <a:cs typeface="Times New Roman"/>
              <a:sym typeface="Times New Roman"/>
            </a:endParaRPr>
          </a:p>
        </p:txBody>
      </p:sp>
      <p:pic>
        <p:nvPicPr>
          <p:cNvPr id="116" name="Google Shape;116;p4"/>
          <p:cNvPicPr preferRelativeResize="0"/>
          <p:nvPr/>
        </p:nvPicPr>
        <p:blipFill rotWithShape="1">
          <a:blip r:embed="rId3">
            <a:alphaModFix/>
          </a:blip>
          <a:srcRect/>
          <a:stretch/>
        </p:blipFill>
        <p:spPr>
          <a:xfrm>
            <a:off x="9915533" y="6151968"/>
            <a:ext cx="2276467" cy="706033"/>
          </a:xfrm>
          <a:prstGeom prst="rect">
            <a:avLst/>
          </a:prstGeom>
          <a:noFill/>
          <a:ln>
            <a:noFill/>
          </a:ln>
        </p:spPr>
      </p:pic>
      <p:sp>
        <p:nvSpPr>
          <p:cNvPr id="118" name="Google Shape;118;p4"/>
          <p:cNvSpPr/>
          <p:nvPr/>
        </p:nvSpPr>
        <p:spPr>
          <a:xfrm>
            <a:off x="3044559" y="1634759"/>
            <a:ext cx="4699262" cy="1107056"/>
          </a:xfrm>
          <a:prstGeom prst="roundRect">
            <a:avLst>
              <a:gd name="adj" fmla="val 16667"/>
            </a:avLst>
          </a:prstGeom>
          <a:solidFill>
            <a:srgbClr val="FFFFFF"/>
          </a:solidFill>
          <a:ln w="12700" cap="flat" cmpd="sng">
            <a:solidFill>
              <a:srgbClr val="4472C4"/>
            </a:solidFill>
            <a:prstDash val="solid"/>
            <a:miter lim="800000"/>
            <a:headEnd type="none" w="sm" len="sm"/>
            <a:tailEnd type="none" w="sm" len="sm"/>
          </a:ln>
        </p:spPr>
        <p:txBody>
          <a:bodyPr spcFirstLastPara="1" wrap="square" lIns="121875" tIns="60925" rIns="121875" bIns="60925" anchor="ctr" anchorCtr="0">
            <a:noAutofit/>
          </a:bodyPr>
          <a:lstStyle/>
          <a:p>
            <a:r>
              <a:rPr lang="en-US" sz="2000" dirty="0">
                <a:latin typeface="Times New Roman"/>
                <a:ea typeface="Times New Roman"/>
                <a:cs typeface="Times New Roman"/>
              </a:rPr>
              <a:t>Bharani Kumar </a:t>
            </a:r>
            <a:r>
              <a:rPr lang="en-US" sz="2000" dirty="0" err="1">
                <a:latin typeface="Times New Roman"/>
                <a:ea typeface="Times New Roman"/>
                <a:cs typeface="Times New Roman"/>
              </a:rPr>
              <a:t>Depuru</a:t>
            </a:r>
            <a:endParaRPr lang="en-US" sz="2000" b="0" i="0" u="none" strike="noStrike" cap="none">
              <a:solidFill>
                <a:srgbClr val="000000"/>
              </a:solidFill>
              <a:latin typeface="Times New Roman"/>
              <a:ea typeface="Times New Roman"/>
              <a:cs typeface="Times New Roman"/>
            </a:endParaRPr>
          </a:p>
          <a:p>
            <a:r>
              <a:rPr lang="en-US" sz="1900" b="0" i="0" u="none" strike="noStrike" cap="none" dirty="0">
                <a:solidFill>
                  <a:srgbClr val="000000"/>
                </a:solidFill>
                <a:latin typeface="Times New Roman"/>
                <a:ea typeface="Times New Roman"/>
                <a:cs typeface="Times New Roman"/>
                <a:sym typeface="Times New Roman"/>
              </a:rPr>
              <a:t>Director </a:t>
            </a:r>
            <a:r>
              <a:rPr lang="en-US" sz="1900" dirty="0">
                <a:latin typeface="Times New Roman"/>
                <a:ea typeface="Times New Roman"/>
                <a:cs typeface="Times New Roman"/>
                <a:sym typeface="Times New Roman"/>
              </a:rPr>
              <a:t>and Co-Founder </a:t>
            </a:r>
            <a:r>
              <a:rPr lang="en-US" sz="1900" b="0" i="0" u="none" strike="noStrike" cap="none" dirty="0">
                <a:solidFill>
                  <a:srgbClr val="000000"/>
                </a:solidFill>
                <a:latin typeface="Times New Roman"/>
                <a:ea typeface="Times New Roman"/>
                <a:cs typeface="Times New Roman"/>
                <a:sym typeface="Times New Roman"/>
              </a:rPr>
              <a:t>at </a:t>
            </a:r>
            <a:r>
              <a:rPr lang="en-US" sz="1900" b="0" i="0" u="none" strike="noStrike" cap="none" dirty="0" err="1">
                <a:solidFill>
                  <a:srgbClr val="000000"/>
                </a:solidFill>
                <a:latin typeface="Times New Roman"/>
                <a:ea typeface="Times New Roman"/>
                <a:cs typeface="Times New Roman"/>
                <a:sym typeface="Times New Roman"/>
              </a:rPr>
              <a:t>Innodatatics</a:t>
            </a:r>
            <a:endParaRPr lang="en-US" sz="1900" i="0" u="none" strike="noStrike" cap="none" dirty="0" err="1">
              <a:solidFill>
                <a:srgbClr val="000000"/>
              </a:solidFill>
              <a:latin typeface="Times New Roman"/>
              <a:ea typeface="Times New Roman"/>
              <a:cs typeface="Times New Roman"/>
            </a:endParaRPr>
          </a:p>
          <a:p>
            <a:pPr marL="0" marR="0" lvl="0" indent="0" algn="l">
              <a:lnSpc>
                <a:spcPct val="100000"/>
              </a:lnSpc>
              <a:spcBef>
                <a:spcPts val="0"/>
              </a:spcBef>
              <a:spcAft>
                <a:spcPts val="0"/>
              </a:spcAft>
              <a:buNone/>
            </a:pPr>
            <a:r>
              <a:rPr lang="en-US" dirty="0">
                <a:solidFill>
                  <a:srgbClr val="2E75B5"/>
                </a:solidFill>
              </a:rPr>
              <a:t>linkedin.com/in/</a:t>
            </a:r>
            <a:r>
              <a:rPr lang="en-US" dirty="0" err="1">
                <a:solidFill>
                  <a:srgbClr val="2E75B5"/>
                </a:solidFill>
              </a:rPr>
              <a:t>bharanikumardepuru</a:t>
            </a:r>
          </a:p>
        </p:txBody>
      </p:sp>
      <p:pic>
        <p:nvPicPr>
          <p:cNvPr id="2" name="Picture 1" descr="Bharani Kumar Depuru - Visiting Faculty Member - Indian School of Business  | LinkedIn">
            <a:extLst>
              <a:ext uri="{FF2B5EF4-FFF2-40B4-BE49-F238E27FC236}">
                <a16:creationId xmlns:a16="http://schemas.microsoft.com/office/drawing/2014/main" id="{D2556248-3FBD-0B69-330E-F67625CED417}"/>
              </a:ext>
            </a:extLst>
          </p:cNvPr>
          <p:cNvPicPr>
            <a:picLocks noChangeAspect="1"/>
          </p:cNvPicPr>
          <p:nvPr/>
        </p:nvPicPr>
        <p:blipFill>
          <a:blip r:embed="rId4"/>
          <a:stretch>
            <a:fillRect/>
          </a:stretch>
        </p:blipFill>
        <p:spPr>
          <a:xfrm>
            <a:off x="774409" y="1241268"/>
            <a:ext cx="2143125" cy="21431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sp>
        <p:nvSpPr>
          <p:cNvPr id="139" name="Google Shape;139;gf3a8d4be09_2_180"/>
          <p:cNvSpPr txBox="1">
            <a:spLocks noGrp="1"/>
          </p:cNvSpPr>
          <p:nvPr>
            <p:ph type="title"/>
          </p:nvPr>
        </p:nvSpPr>
        <p:spPr>
          <a:xfrm>
            <a:off x="163275" y="0"/>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Contents</a:t>
            </a:r>
            <a:endParaRPr sz="3200" b="1">
              <a:latin typeface="Times New Roman"/>
              <a:ea typeface="Times New Roman"/>
              <a:cs typeface="Times New Roman"/>
              <a:sym typeface="Times New Roman"/>
            </a:endParaRPr>
          </a:p>
        </p:txBody>
      </p:sp>
      <p:sp>
        <p:nvSpPr>
          <p:cNvPr id="140" name="Google Shape;140;gf3a8d4be09_2_180"/>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pic>
        <p:nvPicPr>
          <p:cNvPr id="141" name="Google Shape;141;gf3a8d4be09_2_180"/>
          <p:cNvPicPr preferRelativeResize="0"/>
          <p:nvPr/>
        </p:nvPicPr>
        <p:blipFill rotWithShape="1">
          <a:blip r:embed="rId3">
            <a:alphaModFix/>
          </a:blip>
          <a:srcRect/>
          <a:stretch/>
        </p:blipFill>
        <p:spPr>
          <a:xfrm>
            <a:off x="9599989" y="6038978"/>
            <a:ext cx="2592012" cy="805375"/>
          </a:xfrm>
          <a:prstGeom prst="rect">
            <a:avLst/>
          </a:prstGeom>
          <a:noFill/>
          <a:ln>
            <a:noFill/>
          </a:ln>
        </p:spPr>
      </p:pic>
      <p:sp>
        <p:nvSpPr>
          <p:cNvPr id="142" name="Google Shape;142;gf3a8d4be09_2_180"/>
          <p:cNvSpPr txBox="1"/>
          <p:nvPr/>
        </p:nvSpPr>
        <p:spPr>
          <a:xfrm>
            <a:off x="383125" y="1149375"/>
            <a:ext cx="11034000" cy="4616618"/>
          </a:xfrm>
          <a:prstGeom prst="rect">
            <a:avLst/>
          </a:prstGeom>
          <a:noFill/>
          <a:ln>
            <a:noFill/>
          </a:ln>
        </p:spPr>
        <p:txBody>
          <a:bodyPr spcFirstLastPara="1" wrap="square" lIns="91425" tIns="91425" rIns="91425" bIns="91425" anchor="t" anchorCtr="0">
            <a:spAutoFit/>
          </a:bodyPr>
          <a:lstStyle/>
          <a:p>
            <a:pPr marL="457200" indent="-431800">
              <a:lnSpc>
                <a:spcPct val="90000"/>
              </a:lnSpc>
              <a:buClr>
                <a:schemeClr val="dk1"/>
              </a:buClr>
              <a:buSzPts val="3200"/>
              <a:buFont typeface="Times New Roman"/>
              <a:buChar char="●"/>
            </a:pPr>
            <a:r>
              <a:rPr lang="en-US" sz="3200" dirty="0">
                <a:solidFill>
                  <a:schemeClr val="dk1"/>
                </a:solidFill>
                <a:latin typeface="Times New Roman"/>
                <a:ea typeface="Times New Roman"/>
                <a:cs typeface="Times New Roman"/>
              </a:rPr>
              <a:t>Project Architecture</a:t>
            </a:r>
            <a:endParaRPr lang="en-US" sz="3200" dirty="0">
              <a:solidFill>
                <a:schemeClr val="dk1"/>
              </a:solidFill>
              <a:latin typeface="Times New Roman"/>
              <a:ea typeface="Times New Roman"/>
              <a:cs typeface="Times New Roman"/>
              <a:sym typeface="Times New Roman"/>
            </a:endParaRPr>
          </a:p>
          <a:p>
            <a:pPr marL="457200" lvl="0" indent="-431800" algn="l">
              <a:lnSpc>
                <a:spcPct val="90000"/>
              </a:lnSpc>
              <a:spcBef>
                <a:spcPts val="0"/>
              </a:spcBef>
              <a:spcAft>
                <a:spcPts val="0"/>
              </a:spcAft>
              <a:buClr>
                <a:schemeClr val="dk1"/>
              </a:buClr>
              <a:buSzPts val="3200"/>
              <a:buFont typeface="Times New Roman"/>
              <a:buChar char="●"/>
            </a:pPr>
            <a:r>
              <a:rPr lang="en-US" sz="3200" dirty="0">
                <a:solidFill>
                  <a:schemeClr val="dk1"/>
                </a:solidFill>
                <a:latin typeface="Times New Roman"/>
                <a:ea typeface="Times New Roman"/>
                <a:cs typeface="Times New Roman"/>
                <a:sym typeface="Times New Roman"/>
              </a:rPr>
              <a:t>Business problem</a:t>
            </a:r>
            <a:endParaRPr sz="3200" dirty="0">
              <a:solidFill>
                <a:schemeClr val="dk1"/>
              </a:solidFill>
              <a:latin typeface="Times New Roman"/>
              <a:ea typeface="Times New Roman"/>
              <a:cs typeface="Times New Roman"/>
            </a:endParaRPr>
          </a:p>
          <a:p>
            <a:pPr marL="457200" indent="-431800">
              <a:lnSpc>
                <a:spcPct val="90000"/>
              </a:lnSpc>
              <a:buClr>
                <a:schemeClr val="dk1"/>
              </a:buClr>
              <a:buSzPts val="3200"/>
              <a:buFont typeface="Times New Roman"/>
              <a:buChar char="●"/>
            </a:pPr>
            <a:r>
              <a:rPr lang="en-US" sz="3200" dirty="0">
                <a:solidFill>
                  <a:schemeClr val="dk1"/>
                </a:solidFill>
                <a:latin typeface="Times New Roman"/>
                <a:ea typeface="Times New Roman"/>
                <a:cs typeface="Times New Roman"/>
                <a:sym typeface="Times New Roman"/>
              </a:rPr>
              <a:t>Business objective, constraints and success criteria</a:t>
            </a:r>
            <a:endParaRPr sz="3200" dirty="0">
              <a:solidFill>
                <a:schemeClr val="dk1"/>
              </a:solidFill>
              <a:latin typeface="Times New Roman"/>
              <a:ea typeface="Times New Roman"/>
              <a:cs typeface="Times New Roman"/>
              <a:sym typeface="Times New Roman"/>
            </a:endParaRPr>
          </a:p>
          <a:p>
            <a:pPr marL="457200" indent="-431800">
              <a:lnSpc>
                <a:spcPct val="90000"/>
              </a:lnSpc>
              <a:buClr>
                <a:schemeClr val="dk1"/>
              </a:buClr>
              <a:buSzPts val="3200"/>
              <a:buFont typeface="Times New Roman"/>
              <a:buChar char="●"/>
            </a:pPr>
            <a:r>
              <a:rPr lang="en-US" sz="3200" dirty="0">
                <a:solidFill>
                  <a:schemeClr val="dk1"/>
                </a:solidFill>
                <a:latin typeface="Times New Roman"/>
                <a:ea typeface="Times New Roman"/>
                <a:cs typeface="Times New Roman"/>
              </a:rPr>
              <a:t>Technical stacks </a:t>
            </a:r>
          </a:p>
          <a:p>
            <a:pPr marL="457200" lvl="0" indent="-431800" algn="l" rtl="0">
              <a:lnSpc>
                <a:spcPct val="90000"/>
              </a:lnSpc>
              <a:spcBef>
                <a:spcPts val="0"/>
              </a:spcBef>
              <a:spcAft>
                <a:spcPts val="0"/>
              </a:spcAft>
              <a:buClr>
                <a:schemeClr val="dk1"/>
              </a:buClr>
              <a:buSzPts val="3200"/>
              <a:buFont typeface="Times New Roman"/>
              <a:buChar char="●"/>
            </a:pPr>
            <a:r>
              <a:rPr lang="en-US" sz="3200" dirty="0">
                <a:solidFill>
                  <a:schemeClr val="dk1"/>
                </a:solidFill>
                <a:latin typeface="Times New Roman"/>
                <a:ea typeface="Times New Roman"/>
                <a:cs typeface="Times New Roman"/>
                <a:sym typeface="Times New Roman"/>
              </a:rPr>
              <a:t>Data collection and details</a:t>
            </a:r>
            <a:endParaRPr sz="3200">
              <a:solidFill>
                <a:schemeClr val="dk1"/>
              </a:solidFill>
              <a:latin typeface="Times New Roman"/>
              <a:ea typeface="Times New Roman"/>
              <a:cs typeface="Times New Roman"/>
              <a:sym typeface="Times New Roman"/>
            </a:endParaRPr>
          </a:p>
          <a:p>
            <a:pPr marL="457200" lvl="0" indent="-431800" algn="l" rtl="0">
              <a:lnSpc>
                <a:spcPct val="90000"/>
              </a:lnSpc>
              <a:spcBef>
                <a:spcPts val="0"/>
              </a:spcBef>
              <a:spcAft>
                <a:spcPts val="0"/>
              </a:spcAft>
              <a:buClr>
                <a:schemeClr val="dk1"/>
              </a:buClr>
              <a:buSzPts val="3200"/>
              <a:buFont typeface="Times New Roman"/>
              <a:buChar char="●"/>
            </a:pPr>
            <a:r>
              <a:rPr lang="en-US" sz="3200" dirty="0">
                <a:solidFill>
                  <a:schemeClr val="dk1"/>
                </a:solidFill>
                <a:latin typeface="Times New Roman"/>
                <a:ea typeface="Times New Roman"/>
                <a:cs typeface="Times New Roman"/>
                <a:sym typeface="Times New Roman"/>
              </a:rPr>
              <a:t>Exploratory Data Analysis</a:t>
            </a:r>
            <a:endParaRPr sz="3200">
              <a:solidFill>
                <a:schemeClr val="dk1"/>
              </a:solidFill>
              <a:latin typeface="Times New Roman"/>
              <a:ea typeface="Times New Roman"/>
              <a:cs typeface="Times New Roman"/>
              <a:sym typeface="Times New Roman"/>
            </a:endParaRPr>
          </a:p>
          <a:p>
            <a:pPr marL="457200" lvl="0" indent="-431800" algn="l" rtl="0">
              <a:lnSpc>
                <a:spcPct val="90000"/>
              </a:lnSpc>
              <a:spcBef>
                <a:spcPts val="0"/>
              </a:spcBef>
              <a:spcAft>
                <a:spcPts val="0"/>
              </a:spcAft>
              <a:buClr>
                <a:schemeClr val="dk1"/>
              </a:buClr>
              <a:buSzPts val="3200"/>
              <a:buFont typeface="Times New Roman"/>
              <a:buChar char="●"/>
            </a:pPr>
            <a:r>
              <a:rPr lang="en-US" sz="3200" dirty="0">
                <a:solidFill>
                  <a:schemeClr val="dk1"/>
                </a:solidFill>
                <a:latin typeface="Times New Roman"/>
                <a:ea typeface="Times New Roman"/>
                <a:cs typeface="Times New Roman"/>
                <a:sym typeface="Times New Roman"/>
              </a:rPr>
              <a:t>Visualization</a:t>
            </a:r>
            <a:endParaRPr sz="3200">
              <a:solidFill>
                <a:schemeClr val="dk1"/>
              </a:solidFill>
              <a:latin typeface="Times New Roman"/>
              <a:ea typeface="Times New Roman"/>
              <a:cs typeface="Times New Roman"/>
              <a:sym typeface="Times New Roman"/>
            </a:endParaRPr>
          </a:p>
          <a:p>
            <a:pPr marL="457200" indent="-431800">
              <a:lnSpc>
                <a:spcPct val="90000"/>
              </a:lnSpc>
              <a:buClr>
                <a:schemeClr val="dk1"/>
              </a:buClr>
              <a:buSzPts val="3200"/>
              <a:buFont typeface="Times New Roman"/>
              <a:buChar char="●"/>
            </a:pPr>
            <a:r>
              <a:rPr lang="en-US" sz="3200" dirty="0">
                <a:solidFill>
                  <a:schemeClr val="dk1"/>
                </a:solidFill>
                <a:latin typeface="Times New Roman"/>
                <a:ea typeface="Times New Roman"/>
                <a:cs typeface="Times New Roman"/>
              </a:rPr>
              <a:t>Insights </a:t>
            </a:r>
          </a:p>
          <a:p>
            <a:pPr marL="457200" indent="-431800">
              <a:lnSpc>
                <a:spcPct val="90000"/>
              </a:lnSpc>
              <a:buClr>
                <a:schemeClr val="dk1"/>
              </a:buClr>
              <a:buSzPts val="3200"/>
              <a:buFont typeface="Times New Roman"/>
              <a:buChar char="●"/>
            </a:pPr>
            <a:r>
              <a:rPr lang="en-US" sz="3200">
                <a:solidFill>
                  <a:schemeClr val="dk1"/>
                </a:solidFill>
                <a:latin typeface="Times New Roman"/>
                <a:ea typeface="Calibri"/>
                <a:cs typeface="Times New Roman"/>
              </a:rPr>
              <a:t>Challenges </a:t>
            </a:r>
          </a:p>
          <a:p>
            <a:pPr marL="457200" indent="-431800">
              <a:lnSpc>
                <a:spcPct val="90000"/>
              </a:lnSpc>
              <a:buClr>
                <a:schemeClr val="dk1"/>
              </a:buClr>
              <a:buSzPts val="3200"/>
              <a:buFont typeface="Times New Roman"/>
              <a:buChar char="●"/>
            </a:pPr>
            <a:r>
              <a:rPr lang="en-US" sz="3200" dirty="0">
                <a:solidFill>
                  <a:schemeClr val="dk1"/>
                </a:solidFill>
                <a:latin typeface="Times New Roman"/>
                <a:ea typeface="Calibri"/>
                <a:cs typeface="Times New Roman"/>
              </a:rPr>
              <a:t>Future scopes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sp>
        <p:nvSpPr>
          <p:cNvPr id="148" name="Google Shape;148;gf3a8d4be09_2_92"/>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pic>
        <p:nvPicPr>
          <p:cNvPr id="149" name="Google Shape;149;gf3a8d4be09_2_92"/>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150" name="Google Shape;150;gf3a8d4be09_2_92"/>
          <p:cNvSpPr txBox="1"/>
          <p:nvPr/>
        </p:nvSpPr>
        <p:spPr>
          <a:xfrm>
            <a:off x="4162975" y="1290375"/>
            <a:ext cx="2164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b="1">
              <a:latin typeface="Calibri"/>
              <a:ea typeface="Calibri"/>
              <a:cs typeface="Calibri"/>
              <a:sym typeface="Calibri"/>
            </a:endParaRPr>
          </a:p>
        </p:txBody>
      </p:sp>
      <p:sp>
        <p:nvSpPr>
          <p:cNvPr id="151" name="Google Shape;151;gf3a8d4be09_2_92"/>
          <p:cNvSpPr txBox="1"/>
          <p:nvPr/>
        </p:nvSpPr>
        <p:spPr>
          <a:xfrm>
            <a:off x="6053425" y="2493975"/>
            <a:ext cx="3409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b="1">
              <a:latin typeface="Calibri"/>
              <a:ea typeface="Calibri"/>
              <a:cs typeface="Calibri"/>
              <a:sym typeface="Calibri"/>
            </a:endParaRPr>
          </a:p>
        </p:txBody>
      </p:sp>
      <p:sp>
        <p:nvSpPr>
          <p:cNvPr id="152" name="Google Shape;152;gf3a8d4be09_2_92"/>
          <p:cNvSpPr txBox="1"/>
          <p:nvPr/>
        </p:nvSpPr>
        <p:spPr>
          <a:xfrm>
            <a:off x="5938500" y="3792975"/>
            <a:ext cx="32757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000" b="1">
              <a:latin typeface="Calibri"/>
              <a:ea typeface="Calibri"/>
              <a:cs typeface="Calibri"/>
              <a:sym typeface="Calibri"/>
            </a:endParaRPr>
          </a:p>
        </p:txBody>
      </p:sp>
      <p:sp>
        <p:nvSpPr>
          <p:cNvPr id="153" name="Google Shape;153;gf3a8d4be09_2_92"/>
          <p:cNvSpPr txBox="1"/>
          <p:nvPr/>
        </p:nvSpPr>
        <p:spPr>
          <a:xfrm>
            <a:off x="-1091900" y="2720225"/>
            <a:ext cx="3888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000" b="1">
              <a:latin typeface="Calibri"/>
              <a:ea typeface="Calibri"/>
              <a:cs typeface="Calibri"/>
              <a:sym typeface="Calibri"/>
            </a:endParaRPr>
          </a:p>
        </p:txBody>
      </p:sp>
      <p:pic>
        <p:nvPicPr>
          <p:cNvPr id="4" name="Picture 3">
            <a:extLst>
              <a:ext uri="{FF2B5EF4-FFF2-40B4-BE49-F238E27FC236}">
                <a16:creationId xmlns:a16="http://schemas.microsoft.com/office/drawing/2014/main" id="{84D9BB3D-734E-7C99-AF46-0DCABAC5F59D}"/>
              </a:ext>
            </a:extLst>
          </p:cNvPr>
          <p:cNvPicPr>
            <a:picLocks noChangeAspect="1"/>
          </p:cNvPicPr>
          <p:nvPr/>
        </p:nvPicPr>
        <p:blipFill>
          <a:blip r:embed="rId4"/>
          <a:stretch>
            <a:fillRect/>
          </a:stretch>
        </p:blipFill>
        <p:spPr>
          <a:xfrm>
            <a:off x="1498600" y="1118825"/>
            <a:ext cx="8298251" cy="49098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title"/>
          </p:nvPr>
        </p:nvSpPr>
        <p:spPr>
          <a:xfrm>
            <a:off x="838200" y="760163"/>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1800"/>
              <a:buNone/>
            </a:pPr>
            <a:r>
              <a:rPr lang="en-US" sz="3200" b="1">
                <a:latin typeface="Times New Roman"/>
                <a:ea typeface="Times New Roman"/>
                <a:cs typeface="Times New Roman"/>
                <a:sym typeface="Times New Roman"/>
              </a:rPr>
              <a:t>Business Problem</a:t>
            </a:r>
            <a:endParaRPr sz="3200" b="1">
              <a:latin typeface="Times New Roman"/>
              <a:ea typeface="Times New Roman"/>
              <a:cs typeface="Times New Roman"/>
              <a:sym typeface="Times New Roman"/>
            </a:endParaRPr>
          </a:p>
        </p:txBody>
      </p:sp>
      <p:pic>
        <p:nvPicPr>
          <p:cNvPr id="161" name="Google Shape;161;p12"/>
          <p:cNvPicPr preferRelativeResize="0"/>
          <p:nvPr/>
        </p:nvPicPr>
        <p:blipFill rotWithShape="1">
          <a:blip r:embed="rId3">
            <a:alphaModFix/>
          </a:blip>
          <a:srcRect/>
          <a:stretch/>
        </p:blipFill>
        <p:spPr>
          <a:xfrm>
            <a:off x="9580951" y="6053750"/>
            <a:ext cx="2592012" cy="805375"/>
          </a:xfrm>
          <a:prstGeom prst="rect">
            <a:avLst/>
          </a:prstGeom>
          <a:noFill/>
          <a:ln>
            <a:noFill/>
          </a:ln>
        </p:spPr>
      </p:pic>
      <p:sp>
        <p:nvSpPr>
          <p:cNvPr id="3" name="Text Placeholder 2">
            <a:extLst>
              <a:ext uri="{FF2B5EF4-FFF2-40B4-BE49-F238E27FC236}">
                <a16:creationId xmlns:a16="http://schemas.microsoft.com/office/drawing/2014/main" id="{CD017A16-4BF2-9E28-F1B6-185E8826E5C9}"/>
              </a:ext>
            </a:extLst>
          </p:cNvPr>
          <p:cNvSpPr>
            <a:spLocks noGrp="1"/>
          </p:cNvSpPr>
          <p:nvPr>
            <p:ph type="body" idx="1"/>
          </p:nvPr>
        </p:nvSpPr>
        <p:spPr>
          <a:xfrm>
            <a:off x="185785" y="1350435"/>
            <a:ext cx="11909256" cy="5203575"/>
          </a:xfrm>
        </p:spPr>
        <p:txBody>
          <a:bodyPr spcFirstLastPara="1" wrap="square" lIns="91400" tIns="45675" rIns="91400" bIns="45675" anchor="t" anchorCtr="0">
            <a:normAutofit/>
          </a:bodyPr>
          <a:lstStyle/>
          <a:p>
            <a:r>
              <a:rPr lang="en-US" dirty="0"/>
              <a:t>Sample of cement manufactured is taken at a regular interval of 1 hour or so and tested in lab for quality check</a:t>
            </a:r>
            <a:endParaRPr lang="en-IN" dirty="0"/>
          </a:p>
          <a:p>
            <a:pPr marL="114300" indent="0">
              <a:buNone/>
            </a:pPr>
            <a:r>
              <a:rPr lang="en-US" dirty="0">
                <a:latin typeface="Arial"/>
                <a:cs typeface="Arial"/>
              </a:rPr>
              <a:t> </a:t>
            </a:r>
          </a:p>
          <a:p>
            <a:pPr marL="114300" indent="0">
              <a:buNone/>
            </a:pPr>
            <a:endParaRPr lang="en-US" sz="1800" dirty="0">
              <a:latin typeface="Arial"/>
              <a:cs typeface="Arial"/>
            </a:endParaRPr>
          </a:p>
          <a:p>
            <a:pPr marL="114300" indent="0">
              <a:buNone/>
            </a:pPr>
            <a:endParaRPr lang="en-US" sz="1800" dirty="0">
              <a:latin typeface="Arial"/>
              <a:cs typeface="Arial"/>
            </a:endParaRPr>
          </a:p>
          <a:p>
            <a:pPr marL="114300" indent="0">
              <a:buNone/>
            </a:pPr>
            <a:endParaRPr lang="en-US" sz="1800" dirty="0">
              <a:latin typeface="Arial"/>
              <a:cs typeface="Arial"/>
            </a:endParaRPr>
          </a:p>
        </p:txBody>
      </p:sp>
      <p:sp>
        <p:nvSpPr>
          <p:cNvPr id="252" name="Rectangle: Rounded Corners 251">
            <a:extLst>
              <a:ext uri="{FF2B5EF4-FFF2-40B4-BE49-F238E27FC236}">
                <a16:creationId xmlns:a16="http://schemas.microsoft.com/office/drawing/2014/main" id="{1E83AECD-7DB2-2EA1-2A81-7A3351D2C32E}"/>
              </a:ext>
            </a:extLst>
          </p:cNvPr>
          <p:cNvSpPr/>
          <p:nvPr/>
        </p:nvSpPr>
        <p:spPr>
          <a:xfrm>
            <a:off x="842210" y="4210551"/>
            <a:ext cx="2466473" cy="1353552"/>
          </a:xfrm>
          <a:prstGeom prst="roundRect">
            <a:avLst/>
          </a:prstGeom>
          <a:solidFill>
            <a:srgbClr val="00B0F0"/>
          </a:solidFill>
          <a:ln>
            <a:solidFill>
              <a:schemeClr val="tx1"/>
            </a:solid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Arial"/>
              </a:rPr>
              <a:t>Quality check on regular intervals</a:t>
            </a:r>
          </a:p>
        </p:txBody>
      </p:sp>
      <p:sp>
        <p:nvSpPr>
          <p:cNvPr id="253" name="Rectangle: Rounded Corners 252">
            <a:extLst>
              <a:ext uri="{FF2B5EF4-FFF2-40B4-BE49-F238E27FC236}">
                <a16:creationId xmlns:a16="http://schemas.microsoft.com/office/drawing/2014/main" id="{D421A6DF-113C-0C99-9715-C504C92C2FBA}"/>
              </a:ext>
            </a:extLst>
          </p:cNvPr>
          <p:cNvSpPr/>
          <p:nvPr/>
        </p:nvSpPr>
        <p:spPr>
          <a:xfrm>
            <a:off x="5203657" y="3185861"/>
            <a:ext cx="2215816" cy="912395"/>
          </a:xfrm>
          <a:prstGeom prst="roundRect">
            <a:avLst/>
          </a:prstGeom>
          <a:solidFill>
            <a:srgbClr val="00B0F0"/>
          </a:solidFill>
          <a:ln>
            <a:solidFill>
              <a:schemeClr val="tx1"/>
            </a:solid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Arial"/>
              </a:rPr>
              <a:t>Produce large batches of defective items</a:t>
            </a:r>
            <a:endParaRPr lang="en-US" dirty="0">
              <a:solidFill>
                <a:schemeClr val="tx1"/>
              </a:solidFill>
            </a:endParaRPr>
          </a:p>
        </p:txBody>
      </p:sp>
      <p:sp>
        <p:nvSpPr>
          <p:cNvPr id="254" name="Rectangle: Rounded Corners 253">
            <a:extLst>
              <a:ext uri="{FF2B5EF4-FFF2-40B4-BE49-F238E27FC236}">
                <a16:creationId xmlns:a16="http://schemas.microsoft.com/office/drawing/2014/main" id="{0BFEB78B-CED9-6961-FDDD-B66F4294E01D}"/>
              </a:ext>
            </a:extLst>
          </p:cNvPr>
          <p:cNvSpPr/>
          <p:nvPr/>
        </p:nvSpPr>
        <p:spPr>
          <a:xfrm>
            <a:off x="5203657" y="5602203"/>
            <a:ext cx="2215817" cy="952501"/>
          </a:xfrm>
          <a:prstGeom prst="roundRect">
            <a:avLst/>
          </a:prstGeom>
          <a:solidFill>
            <a:srgbClr val="00B0F0"/>
          </a:solidFill>
          <a:ln>
            <a:solidFill>
              <a:schemeClr val="tx1"/>
            </a:solid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Arial"/>
              </a:rPr>
              <a:t>Potential for human error</a:t>
            </a:r>
            <a:endParaRPr lang="en-US" dirty="0">
              <a:solidFill>
                <a:schemeClr val="tx1"/>
              </a:solidFill>
            </a:endParaRPr>
          </a:p>
        </p:txBody>
      </p:sp>
      <p:sp>
        <p:nvSpPr>
          <p:cNvPr id="255" name="Rectangle: Rounded Corners 254">
            <a:extLst>
              <a:ext uri="{FF2B5EF4-FFF2-40B4-BE49-F238E27FC236}">
                <a16:creationId xmlns:a16="http://schemas.microsoft.com/office/drawing/2014/main" id="{B6BE1D2B-CE29-A495-2ABD-0AE61E9242A2}"/>
              </a:ext>
            </a:extLst>
          </p:cNvPr>
          <p:cNvSpPr/>
          <p:nvPr/>
        </p:nvSpPr>
        <p:spPr>
          <a:xfrm>
            <a:off x="5203658" y="4348914"/>
            <a:ext cx="2215816" cy="982579"/>
          </a:xfrm>
          <a:prstGeom prst="roundRect">
            <a:avLst/>
          </a:prstGeom>
          <a:solidFill>
            <a:srgbClr val="00B0F0"/>
          </a:solidFill>
          <a:ln>
            <a:solidFill>
              <a:schemeClr val="tx1"/>
            </a:solid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Arial"/>
              </a:rPr>
              <a:t>Loss of cost</a:t>
            </a:r>
            <a:endParaRPr lang="en-US" dirty="0">
              <a:solidFill>
                <a:schemeClr val="tx1"/>
              </a:solidFill>
            </a:endParaRPr>
          </a:p>
        </p:txBody>
      </p:sp>
      <p:sp>
        <p:nvSpPr>
          <p:cNvPr id="258" name="Arrow: Bent 257">
            <a:extLst>
              <a:ext uri="{FF2B5EF4-FFF2-40B4-BE49-F238E27FC236}">
                <a16:creationId xmlns:a16="http://schemas.microsoft.com/office/drawing/2014/main" id="{77221B5B-C63C-7408-7135-13A35ECF804A}"/>
              </a:ext>
            </a:extLst>
          </p:cNvPr>
          <p:cNvSpPr/>
          <p:nvPr/>
        </p:nvSpPr>
        <p:spPr>
          <a:xfrm>
            <a:off x="2017795" y="3371348"/>
            <a:ext cx="3148263" cy="88231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0" name="Arrow: Bent 259">
            <a:extLst>
              <a:ext uri="{FF2B5EF4-FFF2-40B4-BE49-F238E27FC236}">
                <a16:creationId xmlns:a16="http://schemas.microsoft.com/office/drawing/2014/main" id="{09D1AEE7-1A78-853B-23B4-8D4E2C7D84BE}"/>
              </a:ext>
            </a:extLst>
          </p:cNvPr>
          <p:cNvSpPr/>
          <p:nvPr/>
        </p:nvSpPr>
        <p:spPr>
          <a:xfrm rot="10800000" flipH="1">
            <a:off x="2047873" y="5607216"/>
            <a:ext cx="3088105" cy="862263"/>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1" name="Arrow: Right 260">
            <a:extLst>
              <a:ext uri="{FF2B5EF4-FFF2-40B4-BE49-F238E27FC236}">
                <a16:creationId xmlns:a16="http://schemas.microsoft.com/office/drawing/2014/main" id="{5BB9412B-AD22-FB74-FD75-BF7FCBC887E0}"/>
              </a:ext>
            </a:extLst>
          </p:cNvPr>
          <p:cNvSpPr/>
          <p:nvPr/>
        </p:nvSpPr>
        <p:spPr>
          <a:xfrm>
            <a:off x="3311190" y="4744954"/>
            <a:ext cx="1814763" cy="3509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rrow: Bent 1">
            <a:extLst>
              <a:ext uri="{FF2B5EF4-FFF2-40B4-BE49-F238E27FC236}">
                <a16:creationId xmlns:a16="http://schemas.microsoft.com/office/drawing/2014/main" id="{777B9DE2-E1F0-80F2-FC04-16A47F99B792}"/>
              </a:ext>
            </a:extLst>
          </p:cNvPr>
          <p:cNvSpPr/>
          <p:nvPr/>
        </p:nvSpPr>
        <p:spPr>
          <a:xfrm>
            <a:off x="2017795" y="3409448"/>
            <a:ext cx="3148263" cy="882315"/>
          </a:xfrm>
          <a:prstGeom prst="bentArrow">
            <a:avLst/>
          </a:prstGeom>
          <a:solidFill>
            <a:srgbClr val="00B0F0"/>
          </a:solidFill>
          <a:ln>
            <a:solidFill>
              <a:schemeClr val="tx1"/>
            </a:solid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Arrow: Bent 3">
            <a:extLst>
              <a:ext uri="{FF2B5EF4-FFF2-40B4-BE49-F238E27FC236}">
                <a16:creationId xmlns:a16="http://schemas.microsoft.com/office/drawing/2014/main" id="{609B4683-18D5-C08E-1104-10446AB1A855}"/>
              </a:ext>
            </a:extLst>
          </p:cNvPr>
          <p:cNvSpPr/>
          <p:nvPr/>
        </p:nvSpPr>
        <p:spPr>
          <a:xfrm rot="10800000" flipH="1">
            <a:off x="2047873" y="5645316"/>
            <a:ext cx="3088105" cy="862263"/>
          </a:xfrm>
          <a:prstGeom prst="bentArrow">
            <a:avLst/>
          </a:prstGeom>
          <a:solidFill>
            <a:srgbClr val="00B0F0"/>
          </a:solidFill>
          <a:ln>
            <a:solidFill>
              <a:schemeClr val="tx1"/>
            </a:solid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Arrow: Right 4">
            <a:extLst>
              <a:ext uri="{FF2B5EF4-FFF2-40B4-BE49-F238E27FC236}">
                <a16:creationId xmlns:a16="http://schemas.microsoft.com/office/drawing/2014/main" id="{2ECB3ACD-1897-8FAC-A324-9E2CDB358EF0}"/>
              </a:ext>
            </a:extLst>
          </p:cNvPr>
          <p:cNvSpPr/>
          <p:nvPr/>
        </p:nvSpPr>
        <p:spPr>
          <a:xfrm>
            <a:off x="3311190" y="4783054"/>
            <a:ext cx="1814763" cy="350921"/>
          </a:xfrm>
          <a:prstGeom prst="rightArrow">
            <a:avLst/>
          </a:prstGeom>
          <a:solidFill>
            <a:srgbClr val="00B0F0"/>
          </a:solidFill>
          <a:ln>
            <a:solidFill>
              <a:schemeClr val="tx1"/>
            </a:solid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title"/>
          </p:nvPr>
        </p:nvSpPr>
        <p:spPr>
          <a:xfrm>
            <a:off x="839788" y="519531"/>
            <a:ext cx="10515600" cy="535487"/>
          </a:xfrm>
          <a:prstGeom prst="rect">
            <a:avLst/>
          </a:prstGeom>
          <a:noFill/>
          <a:ln>
            <a:noFill/>
          </a:ln>
        </p:spPr>
        <p:txBody>
          <a:bodyPr spcFirstLastPara="1" wrap="square" lIns="91400" tIns="45675" rIns="91400" bIns="45675" anchor="ctr" anchorCtr="0">
            <a:spAutoFit/>
          </a:bodyPr>
          <a:lstStyle/>
          <a:p>
            <a:r>
              <a:rPr lang="en-US" sz="3200" b="1" dirty="0">
                <a:latin typeface="Times New Roman"/>
                <a:ea typeface="Times New Roman"/>
                <a:cs typeface="Times New Roman"/>
                <a:sym typeface="Times New Roman"/>
              </a:rPr>
              <a:t>Business Objectives, Constraints and Success Criteria</a:t>
            </a:r>
            <a:endParaRPr sz="3200" b="1" dirty="0">
              <a:latin typeface="Times New Roman"/>
              <a:ea typeface="Times New Roman"/>
              <a:cs typeface="Times New Roman"/>
              <a:sym typeface="Times New Roman"/>
            </a:endParaRPr>
          </a:p>
        </p:txBody>
      </p:sp>
      <p:sp>
        <p:nvSpPr>
          <p:cNvPr id="167" name="Google Shape;167;p7"/>
          <p:cNvSpPr txBox="1">
            <a:spLocks noGrp="1"/>
          </p:cNvSpPr>
          <p:nvPr>
            <p:ph type="body" idx="1"/>
          </p:nvPr>
        </p:nvSpPr>
        <p:spPr>
          <a:xfrm>
            <a:off x="673101" y="1049504"/>
            <a:ext cx="11684000" cy="6024396"/>
          </a:xfrm>
          <a:prstGeom prst="rect">
            <a:avLst/>
          </a:prstGeom>
          <a:noFill/>
          <a:ln>
            <a:noFill/>
          </a:ln>
        </p:spPr>
        <p:txBody>
          <a:bodyPr spcFirstLastPara="1" wrap="square" lIns="91400" tIns="45675" rIns="91400" bIns="45675" anchor="b" anchorCtr="0">
            <a:normAutofit fontScale="40000" lnSpcReduction="20000"/>
          </a:bodyPr>
          <a:lstStyle/>
          <a:p>
            <a:pPr marL="457095" lvl="0" indent="-228552" algn="l" rtl="0">
              <a:lnSpc>
                <a:spcPct val="90000"/>
              </a:lnSpc>
              <a:spcBef>
                <a:spcPts val="1000"/>
              </a:spcBef>
              <a:spcAft>
                <a:spcPts val="0"/>
              </a:spcAft>
              <a:buClr>
                <a:schemeClr val="dk1"/>
              </a:buClr>
              <a:buSzPts val="2400"/>
              <a:buNone/>
            </a:pPr>
            <a:endParaRPr sz="2800" dirty="0"/>
          </a:p>
        </p:txBody>
      </p:sp>
      <p:pic>
        <p:nvPicPr>
          <p:cNvPr id="171" name="Google Shape;171;p7"/>
          <p:cNvPicPr preferRelativeResize="0"/>
          <p:nvPr/>
        </p:nvPicPr>
        <p:blipFill rotWithShape="1">
          <a:blip r:embed="rId3">
            <a:alphaModFix/>
          </a:blip>
          <a:srcRect/>
          <a:stretch/>
        </p:blipFill>
        <p:spPr>
          <a:xfrm>
            <a:off x="9580951" y="6053750"/>
            <a:ext cx="2592012" cy="805375"/>
          </a:xfrm>
          <a:prstGeom prst="rect">
            <a:avLst/>
          </a:prstGeom>
          <a:noFill/>
          <a:ln>
            <a:noFill/>
          </a:ln>
        </p:spPr>
      </p:pic>
      <p:sp>
        <p:nvSpPr>
          <p:cNvPr id="2" name="TextBox 1">
            <a:extLst>
              <a:ext uri="{FF2B5EF4-FFF2-40B4-BE49-F238E27FC236}">
                <a16:creationId xmlns:a16="http://schemas.microsoft.com/office/drawing/2014/main" id="{2D2E808C-BB7A-AF58-A94C-8EA03DB02E96}"/>
              </a:ext>
            </a:extLst>
          </p:cNvPr>
          <p:cNvSpPr txBox="1"/>
          <p:nvPr/>
        </p:nvSpPr>
        <p:spPr>
          <a:xfrm>
            <a:off x="842210" y="3022934"/>
            <a:ext cx="4524375" cy="6015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5" name="TextBox 14">
            <a:extLst>
              <a:ext uri="{FF2B5EF4-FFF2-40B4-BE49-F238E27FC236}">
                <a16:creationId xmlns:a16="http://schemas.microsoft.com/office/drawing/2014/main" id="{C309FA7E-6E2B-702E-812A-6BA729342645}"/>
              </a:ext>
            </a:extLst>
          </p:cNvPr>
          <p:cNvSpPr txBox="1"/>
          <p:nvPr/>
        </p:nvSpPr>
        <p:spPr>
          <a:xfrm>
            <a:off x="1032710" y="5301414"/>
            <a:ext cx="340894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600" dirty="0"/>
          </a:p>
        </p:txBody>
      </p:sp>
      <p:sp>
        <p:nvSpPr>
          <p:cNvPr id="16" name="TextBox 15">
            <a:extLst>
              <a:ext uri="{FF2B5EF4-FFF2-40B4-BE49-F238E27FC236}">
                <a16:creationId xmlns:a16="http://schemas.microsoft.com/office/drawing/2014/main" id="{1BAEFCF6-1F84-6061-76D4-240E94E3CD10}"/>
              </a:ext>
            </a:extLst>
          </p:cNvPr>
          <p:cNvSpPr txBox="1"/>
          <p:nvPr/>
        </p:nvSpPr>
        <p:spPr>
          <a:xfrm>
            <a:off x="7534776" y="5351546"/>
            <a:ext cx="423611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600" dirty="0"/>
          </a:p>
        </p:txBody>
      </p:sp>
      <p:sp>
        <p:nvSpPr>
          <p:cNvPr id="4" name="Callout: Right Arrow 3">
            <a:extLst>
              <a:ext uri="{FF2B5EF4-FFF2-40B4-BE49-F238E27FC236}">
                <a16:creationId xmlns:a16="http://schemas.microsoft.com/office/drawing/2014/main" id="{07B5BE06-6677-C075-8D51-9E7214A06809}"/>
              </a:ext>
            </a:extLst>
          </p:cNvPr>
          <p:cNvSpPr/>
          <p:nvPr/>
        </p:nvSpPr>
        <p:spPr>
          <a:xfrm>
            <a:off x="926846" y="3346877"/>
            <a:ext cx="4709160" cy="645795"/>
          </a:xfrm>
          <a:prstGeom prst="rightArrowCallou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095" lvl="0" indent="-228552" algn="l" rtl="0">
              <a:lnSpc>
                <a:spcPct val="90000"/>
              </a:lnSpc>
              <a:spcBef>
                <a:spcPts val="1000"/>
              </a:spcBef>
              <a:spcAft>
                <a:spcPts val="0"/>
              </a:spcAft>
              <a:buClr>
                <a:schemeClr val="dk1"/>
              </a:buClr>
              <a:buSzPts val="2400"/>
              <a:buNone/>
            </a:pPr>
            <a:r>
              <a:rPr lang="en-US" sz="2000" b="1" dirty="0">
                <a:solidFill>
                  <a:schemeClr val="tx1"/>
                </a:solidFill>
                <a:latin typeface="Times New Roman"/>
                <a:cs typeface="Times New Roman"/>
                <a:sym typeface="Times New Roman"/>
              </a:rPr>
              <a:t>Business Constraints</a:t>
            </a:r>
            <a:endParaRPr lang="en-US" sz="2000" dirty="0">
              <a:solidFill>
                <a:schemeClr val="tx1"/>
              </a:solidFill>
            </a:endParaRPr>
          </a:p>
        </p:txBody>
      </p:sp>
      <p:sp>
        <p:nvSpPr>
          <p:cNvPr id="5" name="Callout: Right Arrow 4">
            <a:extLst>
              <a:ext uri="{FF2B5EF4-FFF2-40B4-BE49-F238E27FC236}">
                <a16:creationId xmlns:a16="http://schemas.microsoft.com/office/drawing/2014/main" id="{1205A3CF-96A9-E683-E370-AC7ACC586229}"/>
              </a:ext>
            </a:extLst>
          </p:cNvPr>
          <p:cNvSpPr/>
          <p:nvPr/>
        </p:nvSpPr>
        <p:spPr>
          <a:xfrm>
            <a:off x="926846" y="4610356"/>
            <a:ext cx="4709160" cy="645795"/>
          </a:xfrm>
          <a:prstGeom prst="rightArrowCallou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095" lvl="0" indent="-228552" algn="l" rtl="0">
              <a:lnSpc>
                <a:spcPct val="90000"/>
              </a:lnSpc>
              <a:spcBef>
                <a:spcPts val="1000"/>
              </a:spcBef>
              <a:spcAft>
                <a:spcPts val="0"/>
              </a:spcAft>
              <a:buClr>
                <a:schemeClr val="dk1"/>
              </a:buClr>
              <a:buSzPts val="2400"/>
              <a:buNone/>
            </a:pPr>
            <a:r>
              <a:rPr lang="en-US" sz="2000" b="1" dirty="0">
                <a:solidFill>
                  <a:schemeClr val="tx1"/>
                </a:solidFill>
              </a:rPr>
              <a:t>Success Criteria</a:t>
            </a:r>
          </a:p>
        </p:txBody>
      </p:sp>
      <p:sp>
        <p:nvSpPr>
          <p:cNvPr id="6" name="Callout: Right Arrow 5">
            <a:extLst>
              <a:ext uri="{FF2B5EF4-FFF2-40B4-BE49-F238E27FC236}">
                <a16:creationId xmlns:a16="http://schemas.microsoft.com/office/drawing/2014/main" id="{AE62A060-B9F3-4709-BAEC-759563004024}"/>
              </a:ext>
            </a:extLst>
          </p:cNvPr>
          <p:cNvSpPr/>
          <p:nvPr/>
        </p:nvSpPr>
        <p:spPr>
          <a:xfrm>
            <a:off x="926846" y="2046532"/>
            <a:ext cx="4709160" cy="645795"/>
          </a:xfrm>
          <a:prstGeom prst="rightArrowCallou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095" lvl="0" indent="-228552" algn="l" rtl="0">
              <a:lnSpc>
                <a:spcPct val="90000"/>
              </a:lnSpc>
              <a:spcBef>
                <a:spcPts val="1000"/>
              </a:spcBef>
              <a:spcAft>
                <a:spcPts val="0"/>
              </a:spcAft>
              <a:buClr>
                <a:schemeClr val="dk1"/>
              </a:buClr>
              <a:buSzPts val="2400"/>
              <a:buNone/>
            </a:pPr>
            <a:r>
              <a:rPr lang="en-US" sz="2000" b="1" dirty="0">
                <a:solidFill>
                  <a:schemeClr val="tx1"/>
                </a:solidFill>
              </a:rPr>
              <a:t>Business objectives</a:t>
            </a:r>
          </a:p>
        </p:txBody>
      </p:sp>
      <p:sp>
        <p:nvSpPr>
          <p:cNvPr id="9" name="Text Placeholder 8">
            <a:extLst>
              <a:ext uri="{FF2B5EF4-FFF2-40B4-BE49-F238E27FC236}">
                <a16:creationId xmlns:a16="http://schemas.microsoft.com/office/drawing/2014/main" id="{2E660E43-4516-76FB-F3B4-0E1B1282E155}"/>
              </a:ext>
            </a:extLst>
          </p:cNvPr>
          <p:cNvSpPr>
            <a:spLocks noGrp="1"/>
          </p:cNvSpPr>
          <p:nvPr>
            <p:ph type="body" idx="4"/>
          </p:nvPr>
        </p:nvSpPr>
        <p:spPr>
          <a:xfrm>
            <a:off x="5969666" y="1873344"/>
            <a:ext cx="4307556" cy="806450"/>
          </a:xfrm>
          <a:prstGeom prst="homePlat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marL="114300" indent="0" algn="ctr">
              <a:buNone/>
            </a:pPr>
            <a:r>
              <a:rPr lang="en-US" dirty="0"/>
              <a:t>Minimize the time between intervals of quality check</a:t>
            </a:r>
            <a:endParaRPr lang="en-IN" dirty="0"/>
          </a:p>
        </p:txBody>
      </p:sp>
      <p:sp>
        <p:nvSpPr>
          <p:cNvPr id="11" name="Text Placeholder 8">
            <a:extLst>
              <a:ext uri="{FF2B5EF4-FFF2-40B4-BE49-F238E27FC236}">
                <a16:creationId xmlns:a16="http://schemas.microsoft.com/office/drawing/2014/main" id="{1568A4F1-5B9B-83E9-D922-373DFA9ABAC9}"/>
              </a:ext>
            </a:extLst>
          </p:cNvPr>
          <p:cNvSpPr txBox="1">
            <a:spLocks/>
          </p:cNvSpPr>
          <p:nvPr/>
        </p:nvSpPr>
        <p:spPr>
          <a:xfrm>
            <a:off x="5969666" y="3266549"/>
            <a:ext cx="4307556" cy="806450"/>
          </a:xfrm>
          <a:prstGeom prst="homePlate">
            <a:avLst/>
          </a:prstGeom>
          <a:solidFill>
            <a:schemeClr val="bg1"/>
          </a:solidFill>
          <a:ln w="25400" cap="flat" cmpd="sng" algn="ctr">
            <a:solidFill>
              <a:schemeClr val="accent2"/>
            </a:solidFill>
            <a:prstDash val="solid"/>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00" tIns="45675" rIns="91400" bIns="45675" rtlCol="0" anchor="ctr"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US" dirty="0"/>
              <a:t>Minimize manual intervention</a:t>
            </a:r>
            <a:endParaRPr lang="en-IN" dirty="0"/>
          </a:p>
        </p:txBody>
      </p:sp>
      <p:sp>
        <p:nvSpPr>
          <p:cNvPr id="18" name="Text Placeholder 8">
            <a:extLst>
              <a:ext uri="{FF2B5EF4-FFF2-40B4-BE49-F238E27FC236}">
                <a16:creationId xmlns:a16="http://schemas.microsoft.com/office/drawing/2014/main" id="{D424645A-70D8-BC34-C848-2D2773A067CA}"/>
              </a:ext>
            </a:extLst>
          </p:cNvPr>
          <p:cNvSpPr txBox="1">
            <a:spLocks/>
          </p:cNvSpPr>
          <p:nvPr/>
        </p:nvSpPr>
        <p:spPr>
          <a:xfrm>
            <a:off x="6222335" y="5864226"/>
            <a:ext cx="2413000" cy="806450"/>
          </a:xfrm>
          <a:prstGeom prst="homePlate">
            <a:avLst/>
          </a:prstGeom>
          <a:solidFill>
            <a:schemeClr val="bg1"/>
          </a:solidFill>
          <a:ln w="25400" cap="flat" cmpd="sng" algn="ctr">
            <a:solidFill>
              <a:schemeClr val="accent2"/>
            </a:solidFill>
            <a:prstDash val="solid"/>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00" tIns="45675" rIns="91400" bIns="45675" rtlCol="0" anchor="ctr" anchorCtr="0">
            <a:normAutofit fontScale="6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US" dirty="0"/>
              <a:t>Reduce the time intervals by </a:t>
            </a:r>
            <a:r>
              <a:rPr lang="en-US" dirty="0" err="1"/>
              <a:t>atleast</a:t>
            </a:r>
            <a:r>
              <a:rPr lang="en-US" dirty="0"/>
              <a:t> 50%</a:t>
            </a:r>
            <a:endParaRPr lang="en-IN" dirty="0"/>
          </a:p>
        </p:txBody>
      </p:sp>
      <p:sp>
        <p:nvSpPr>
          <p:cNvPr id="21" name="Text Placeholder 8">
            <a:extLst>
              <a:ext uri="{FF2B5EF4-FFF2-40B4-BE49-F238E27FC236}">
                <a16:creationId xmlns:a16="http://schemas.microsoft.com/office/drawing/2014/main" id="{2BE69F57-B9A0-EF8C-6770-231BA89F3CE0}"/>
              </a:ext>
            </a:extLst>
          </p:cNvPr>
          <p:cNvSpPr txBox="1">
            <a:spLocks/>
          </p:cNvSpPr>
          <p:nvPr/>
        </p:nvSpPr>
        <p:spPr>
          <a:xfrm>
            <a:off x="9155859" y="5864226"/>
            <a:ext cx="2363040" cy="823912"/>
          </a:xfrm>
          <a:prstGeom prst="homePlate">
            <a:avLst/>
          </a:prstGeom>
          <a:solidFill>
            <a:schemeClr val="bg1"/>
          </a:solidFill>
          <a:ln w="25400" cap="flat" cmpd="sng" algn="ctr">
            <a:solidFill>
              <a:schemeClr val="accent2"/>
            </a:solidFill>
            <a:prstDash val="solid"/>
          </a:ln>
        </p:spPr>
        <p:style>
          <a:lnRef idx="2">
            <a:schemeClr val="accent1">
              <a:shade val="15000"/>
            </a:schemeClr>
          </a:lnRef>
          <a:fillRef idx="1">
            <a:schemeClr val="accent1"/>
          </a:fillRef>
          <a:effectRef idx="0">
            <a:schemeClr val="accent1"/>
          </a:effectRef>
          <a:fontRef idx="minor">
            <a:schemeClr val="lt1"/>
          </a:fontRef>
        </p:style>
        <p:txBody>
          <a:bodyPr spcFirstLastPara="1" wrap="square" lIns="91400" tIns="45675" rIns="91400" bIns="45675" rtlCol="0" anchor="ctr" anchorCtr="0">
            <a:normAutofit fontScale="6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gn="ctr">
              <a:buFont typeface="Arial"/>
              <a:buNone/>
            </a:pPr>
            <a:r>
              <a:rPr lang="en-US" dirty="0"/>
              <a:t>Achieve a cost saving of at least $ 1M</a:t>
            </a:r>
            <a:endParaRPr lang="en-IN" dirty="0"/>
          </a:p>
        </p:txBody>
      </p:sp>
      <p:sp>
        <p:nvSpPr>
          <p:cNvPr id="22" name="Oval 21">
            <a:extLst>
              <a:ext uri="{FF2B5EF4-FFF2-40B4-BE49-F238E27FC236}">
                <a16:creationId xmlns:a16="http://schemas.microsoft.com/office/drawing/2014/main" id="{6646919E-C750-00C8-21F2-EC2CAFA62F90}"/>
              </a:ext>
            </a:extLst>
          </p:cNvPr>
          <p:cNvSpPr/>
          <p:nvPr/>
        </p:nvSpPr>
        <p:spPr>
          <a:xfrm>
            <a:off x="6692900" y="4247124"/>
            <a:ext cx="1428630" cy="1213877"/>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Business Success Criteria</a:t>
            </a:r>
            <a:endParaRPr lang="en-IN" dirty="0"/>
          </a:p>
        </p:txBody>
      </p:sp>
      <p:sp>
        <p:nvSpPr>
          <p:cNvPr id="23" name="Oval 22">
            <a:extLst>
              <a:ext uri="{FF2B5EF4-FFF2-40B4-BE49-F238E27FC236}">
                <a16:creationId xmlns:a16="http://schemas.microsoft.com/office/drawing/2014/main" id="{BC994044-A722-C1DB-2ABD-E0222BC2EAFC}"/>
              </a:ext>
            </a:extLst>
          </p:cNvPr>
          <p:cNvSpPr/>
          <p:nvPr/>
        </p:nvSpPr>
        <p:spPr>
          <a:xfrm>
            <a:off x="9401808" y="4292458"/>
            <a:ext cx="1418591" cy="1123207"/>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Economic Success Criteria</a:t>
            </a:r>
            <a:endParaRPr lang="en-IN" dirty="0"/>
          </a:p>
        </p:txBody>
      </p:sp>
      <p:sp>
        <p:nvSpPr>
          <p:cNvPr id="24" name="Arrow: Down 23">
            <a:extLst>
              <a:ext uri="{FF2B5EF4-FFF2-40B4-BE49-F238E27FC236}">
                <a16:creationId xmlns:a16="http://schemas.microsoft.com/office/drawing/2014/main" id="{DEB47FF0-F6F6-86C2-79E9-1CFB2A835AA7}"/>
              </a:ext>
            </a:extLst>
          </p:cNvPr>
          <p:cNvSpPr/>
          <p:nvPr/>
        </p:nvSpPr>
        <p:spPr>
          <a:xfrm>
            <a:off x="7327900" y="5478464"/>
            <a:ext cx="45719" cy="3857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Down 24">
            <a:extLst>
              <a:ext uri="{FF2B5EF4-FFF2-40B4-BE49-F238E27FC236}">
                <a16:creationId xmlns:a16="http://schemas.microsoft.com/office/drawing/2014/main" id="{0C340F9C-7A66-7F7C-7020-0FD8A2E4BE2D}"/>
              </a:ext>
            </a:extLst>
          </p:cNvPr>
          <p:cNvSpPr/>
          <p:nvPr/>
        </p:nvSpPr>
        <p:spPr>
          <a:xfrm>
            <a:off x="10020300" y="5415665"/>
            <a:ext cx="45719" cy="4485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0EE99-1D11-DAB7-5516-908DE76DA5B8}"/>
              </a:ext>
            </a:extLst>
          </p:cNvPr>
          <p:cNvSpPr>
            <a:spLocks noGrp="1"/>
          </p:cNvSpPr>
          <p:nvPr>
            <p:ph type="title"/>
          </p:nvPr>
        </p:nvSpPr>
        <p:spPr>
          <a:xfrm>
            <a:off x="228600" y="205535"/>
            <a:ext cx="10515600" cy="480041"/>
          </a:xfrm>
        </p:spPr>
        <p:txBody>
          <a:bodyPr/>
          <a:lstStyle/>
          <a:p>
            <a:r>
              <a:rPr lang="en-US" sz="2800" b="1" dirty="0">
                <a:latin typeface="Times New Roman"/>
                <a:ea typeface="Times New Roman"/>
                <a:cs typeface="Times New Roman"/>
                <a:sym typeface="Times New Roman"/>
              </a:rPr>
              <a:t>CRISP-ML(Q) Methodology</a:t>
            </a:r>
            <a:endParaRPr lang="en-IN" dirty="0"/>
          </a:p>
        </p:txBody>
      </p:sp>
      <p:sp>
        <p:nvSpPr>
          <p:cNvPr id="3" name="TextBox 2">
            <a:extLst>
              <a:ext uri="{FF2B5EF4-FFF2-40B4-BE49-F238E27FC236}">
                <a16:creationId xmlns:a16="http://schemas.microsoft.com/office/drawing/2014/main" id="{03A21CE9-8FC5-358A-36A2-F05994BD67BC}"/>
              </a:ext>
            </a:extLst>
          </p:cNvPr>
          <p:cNvSpPr txBox="1"/>
          <p:nvPr/>
        </p:nvSpPr>
        <p:spPr>
          <a:xfrm>
            <a:off x="228600" y="965200"/>
            <a:ext cx="7035800" cy="5521512"/>
          </a:xfrm>
          <a:prstGeom prst="rect">
            <a:avLst/>
          </a:prstGeom>
          <a:noFill/>
        </p:spPr>
        <p:txBody>
          <a:bodyPr wrap="square" rtlCol="0">
            <a:spAutoFit/>
          </a:bodyPr>
          <a:lstStyle/>
          <a:p>
            <a:pPr marL="0" lvl="0" indent="0" algn="l" rtl="0">
              <a:lnSpc>
                <a:spcPct val="90000"/>
              </a:lnSpc>
              <a:spcBef>
                <a:spcPts val="0"/>
              </a:spcBef>
              <a:spcAft>
                <a:spcPts val="0"/>
              </a:spcAft>
              <a:buSzPts val="1200"/>
              <a:buNone/>
            </a:pPr>
            <a:r>
              <a:rPr lang="en-US" sz="2800" b="1" dirty="0">
                <a:latin typeface="Times New Roman"/>
                <a:ea typeface="Times New Roman"/>
                <a:cs typeface="Times New Roman"/>
                <a:sym typeface="Times New Roman"/>
              </a:rPr>
              <a:t>There are six stages of CRISP-ML(Q) Methodology</a:t>
            </a:r>
          </a:p>
          <a:p>
            <a:pPr marL="0" lvl="0" indent="0" algn="l" rtl="0">
              <a:lnSpc>
                <a:spcPct val="90000"/>
              </a:lnSpc>
              <a:spcBef>
                <a:spcPts val="0"/>
              </a:spcBef>
              <a:spcAft>
                <a:spcPts val="0"/>
              </a:spcAft>
              <a:buSzPts val="1200"/>
              <a:buNone/>
            </a:pPr>
            <a:endParaRPr lang="en-US" sz="28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800" b="1" dirty="0">
                <a:latin typeface="Times New Roman"/>
                <a:ea typeface="Times New Roman"/>
                <a:cs typeface="Times New Roman"/>
                <a:sym typeface="Times New Roman"/>
              </a:rPr>
              <a:t>1.Business and data understanding</a:t>
            </a:r>
          </a:p>
          <a:p>
            <a:pPr marL="0" lvl="0" indent="0" algn="l" rtl="0">
              <a:lnSpc>
                <a:spcPct val="90000"/>
              </a:lnSpc>
              <a:spcBef>
                <a:spcPts val="0"/>
              </a:spcBef>
              <a:spcAft>
                <a:spcPts val="0"/>
              </a:spcAft>
              <a:buSzPts val="1200"/>
              <a:buNone/>
            </a:pPr>
            <a:endParaRPr lang="en-US" sz="28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800" b="1" dirty="0">
                <a:latin typeface="Times New Roman"/>
                <a:ea typeface="Times New Roman"/>
                <a:cs typeface="Times New Roman"/>
                <a:sym typeface="Times New Roman"/>
              </a:rPr>
              <a:t>2.Data preparation</a:t>
            </a:r>
          </a:p>
          <a:p>
            <a:pPr marL="0" lvl="0" indent="0" algn="l" rtl="0">
              <a:lnSpc>
                <a:spcPct val="90000"/>
              </a:lnSpc>
              <a:spcBef>
                <a:spcPts val="0"/>
              </a:spcBef>
              <a:spcAft>
                <a:spcPts val="0"/>
              </a:spcAft>
              <a:buSzPts val="1200"/>
              <a:buNone/>
            </a:pPr>
            <a:endParaRPr lang="en-US" sz="28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800" b="1" dirty="0">
                <a:latin typeface="Times New Roman"/>
                <a:ea typeface="Times New Roman"/>
                <a:cs typeface="Times New Roman"/>
                <a:sym typeface="Times New Roman"/>
              </a:rPr>
              <a:t>3.model building </a:t>
            </a:r>
          </a:p>
          <a:p>
            <a:pPr marL="0" lvl="0" indent="0" algn="l" rtl="0">
              <a:lnSpc>
                <a:spcPct val="90000"/>
              </a:lnSpc>
              <a:spcBef>
                <a:spcPts val="0"/>
              </a:spcBef>
              <a:spcAft>
                <a:spcPts val="0"/>
              </a:spcAft>
              <a:buSzPts val="1200"/>
              <a:buNone/>
            </a:pPr>
            <a:endParaRPr lang="en-US" sz="28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800" b="1" dirty="0">
                <a:latin typeface="Times New Roman"/>
                <a:ea typeface="Times New Roman"/>
                <a:cs typeface="Times New Roman"/>
                <a:sym typeface="Times New Roman"/>
              </a:rPr>
              <a:t>4.Model evaluation</a:t>
            </a:r>
          </a:p>
          <a:p>
            <a:pPr marL="0" lvl="0" indent="0" algn="l" rtl="0">
              <a:lnSpc>
                <a:spcPct val="90000"/>
              </a:lnSpc>
              <a:spcBef>
                <a:spcPts val="0"/>
              </a:spcBef>
              <a:spcAft>
                <a:spcPts val="0"/>
              </a:spcAft>
              <a:buSzPts val="1200"/>
              <a:buNone/>
            </a:pPr>
            <a:endParaRPr lang="en-US" sz="28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800" b="1" dirty="0">
                <a:latin typeface="Times New Roman"/>
                <a:ea typeface="Times New Roman"/>
                <a:cs typeface="Times New Roman"/>
                <a:sym typeface="Times New Roman"/>
              </a:rPr>
              <a:t>5.Model deployment</a:t>
            </a:r>
          </a:p>
          <a:p>
            <a:pPr marL="0" lvl="0" indent="0" algn="l" rtl="0">
              <a:lnSpc>
                <a:spcPct val="90000"/>
              </a:lnSpc>
              <a:spcBef>
                <a:spcPts val="0"/>
              </a:spcBef>
              <a:spcAft>
                <a:spcPts val="0"/>
              </a:spcAft>
              <a:buSzPts val="1200"/>
              <a:buNone/>
            </a:pPr>
            <a:endParaRPr lang="en-US" sz="28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800" b="1" dirty="0">
                <a:latin typeface="Times New Roman"/>
                <a:ea typeface="Times New Roman"/>
                <a:cs typeface="Times New Roman"/>
                <a:sym typeface="Times New Roman"/>
              </a:rPr>
              <a:t>6.Monitoring and maintenance</a:t>
            </a:r>
            <a:endParaRPr lang="en-IN" sz="2800" dirty="0"/>
          </a:p>
        </p:txBody>
      </p:sp>
    </p:spTree>
    <p:extLst>
      <p:ext uri="{BB962C8B-B14F-4D97-AF65-F5344CB8AC3E}">
        <p14:creationId xmlns:p14="http://schemas.microsoft.com/office/powerpoint/2010/main" val="3438323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1"/>
        <p:cNvGrpSpPr/>
        <p:nvPr/>
      </p:nvGrpSpPr>
      <p:grpSpPr>
        <a:xfrm>
          <a:off x="0" y="0"/>
          <a:ext cx="0" cy="0"/>
          <a:chOff x="0" y="0"/>
          <a:chExt cx="0" cy="0"/>
        </a:xfrm>
      </p:grpSpPr>
      <p:sp useBgFill="1">
        <p:nvSpPr>
          <p:cNvPr id="190" name="Rectangle 189">
            <a:extLst>
              <a:ext uri="{FF2B5EF4-FFF2-40B4-BE49-F238E27FC236}">
                <a16:creationId xmlns:a16="http://schemas.microsoft.com/office/drawing/2014/main" id="{0855A890-B60B-4670-9DC2-69DC05015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Google Shape;182;g119c79fd7f2_1_58"/>
          <p:cNvSpPr txBox="1">
            <a:spLocks noGrp="1"/>
          </p:cNvSpPr>
          <p:nvPr>
            <p:ph type="title"/>
          </p:nvPr>
        </p:nvSpPr>
        <p:spPr>
          <a:xfrm>
            <a:off x="454467" y="2023110"/>
            <a:ext cx="2469624" cy="2846070"/>
          </a:xfrm>
          <a:prstGeom prst="rect">
            <a:avLst/>
          </a:prstGeom>
        </p:spPr>
        <p:txBody>
          <a:bodyPr spcFirstLastPara="1" vert="horz" lIns="91440" tIns="45720" rIns="91440" bIns="45720" rtlCol="0" anchor="ctr" anchorCtr="0">
            <a:normAutofit/>
          </a:bodyPr>
          <a:lstStyle/>
          <a:p>
            <a:pPr marL="0" lvl="0" indent="0">
              <a:spcBef>
                <a:spcPct val="0"/>
              </a:spcBef>
              <a:spcAft>
                <a:spcPts val="0"/>
              </a:spcAft>
              <a:buClr>
                <a:schemeClr val="dk1"/>
              </a:buClr>
              <a:buSzPts val="3000"/>
            </a:pPr>
            <a:r>
              <a:rPr lang="en-US" sz="3700" b="1" kern="1200" dirty="0">
                <a:solidFill>
                  <a:srgbClr val="002060"/>
                </a:solidFill>
                <a:latin typeface="Imprint MT Shadow" panose="04020605060303030202" pitchFamily="82" charset="0"/>
                <a:ea typeface="+mj-ea"/>
                <a:cs typeface="+mj-cs"/>
                <a:sym typeface="Times New Roman"/>
              </a:rPr>
              <a:t>Technical Stacks</a:t>
            </a:r>
          </a:p>
        </p:txBody>
      </p:sp>
      <p:sp>
        <p:nvSpPr>
          <p:cNvPr id="192" name="Rectangle 191">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22480"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042549"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Rectangle 19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283"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5" name="Google Shape;185;g119c79fd7f2_1_58"/>
          <p:cNvPicPr preferRelativeResize="0"/>
          <p:nvPr/>
        </p:nvPicPr>
        <p:blipFill rotWithShape="1">
          <a:blip r:embed="rId3"/>
          <a:stretch/>
        </p:blipFill>
        <p:spPr>
          <a:xfrm>
            <a:off x="9199420" y="5925761"/>
            <a:ext cx="2737405" cy="678449"/>
          </a:xfrm>
          <a:prstGeom prst="rect">
            <a:avLst/>
          </a:prstGeom>
          <a:noFill/>
        </p:spPr>
      </p:pic>
      <p:sp>
        <p:nvSpPr>
          <p:cNvPr id="183" name="Google Shape;183;g119c79fd7f2_1_58" descr="GitHub - serengil/deepface: A Lightweight Face Recognition and Facial  Attribute Analysis (Age, Gender, Emotion and Race) Library for Python"/>
          <p:cNvSpPr/>
          <p:nvPr/>
        </p:nvSpPr>
        <p:spPr>
          <a:xfrm>
            <a:off x="155575" y="-144463"/>
            <a:ext cx="304800" cy="3048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sp>
        <p:nvSpPr>
          <p:cNvPr id="184" name="Google Shape;184;g119c79fd7f2_1_58" descr="GitHub - serengil/deepface: A Lightweight Face Recognition and Facial  Attribute Analysis (Age, Gender, Emotion and Race) Library for Python"/>
          <p:cNvSpPr/>
          <p:nvPr/>
        </p:nvSpPr>
        <p:spPr>
          <a:xfrm>
            <a:off x="307975" y="7937"/>
            <a:ext cx="304800" cy="3048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45430361-D794-9DA1-FF89-8F800EA717C6}"/>
              </a:ext>
            </a:extLst>
          </p:cNvPr>
          <p:cNvPicPr>
            <a:picLocks noChangeAspect="1"/>
          </p:cNvPicPr>
          <p:nvPr/>
        </p:nvPicPr>
        <p:blipFill>
          <a:blip r:embed="rId4"/>
          <a:stretch>
            <a:fillRect/>
          </a:stretch>
        </p:blipFill>
        <p:spPr>
          <a:xfrm>
            <a:off x="4755991" y="1148631"/>
            <a:ext cx="2222874" cy="2297514"/>
          </a:xfrm>
          <a:prstGeom prst="rect">
            <a:avLst/>
          </a:prstGeom>
        </p:spPr>
      </p:pic>
      <p:pic>
        <p:nvPicPr>
          <p:cNvPr id="9" name="Picture 8">
            <a:extLst>
              <a:ext uri="{FF2B5EF4-FFF2-40B4-BE49-F238E27FC236}">
                <a16:creationId xmlns:a16="http://schemas.microsoft.com/office/drawing/2014/main" id="{D497D62D-00AB-A77F-7CE3-AD9F22633AC9}"/>
              </a:ext>
            </a:extLst>
          </p:cNvPr>
          <p:cNvPicPr>
            <a:picLocks noChangeAspect="1"/>
          </p:cNvPicPr>
          <p:nvPr/>
        </p:nvPicPr>
        <p:blipFill>
          <a:blip r:embed="rId5"/>
          <a:stretch>
            <a:fillRect/>
          </a:stretch>
        </p:blipFill>
        <p:spPr>
          <a:xfrm>
            <a:off x="5595190" y="3892654"/>
            <a:ext cx="4692270" cy="1778902"/>
          </a:xfrm>
          <a:prstGeom prst="rect">
            <a:avLst/>
          </a:prstGeom>
        </p:spPr>
      </p:pic>
      <p:pic>
        <p:nvPicPr>
          <p:cNvPr id="11" name="Picture 10">
            <a:extLst>
              <a:ext uri="{FF2B5EF4-FFF2-40B4-BE49-F238E27FC236}">
                <a16:creationId xmlns:a16="http://schemas.microsoft.com/office/drawing/2014/main" id="{DA699E4A-1099-5984-824D-BECCBC818D09}"/>
              </a:ext>
            </a:extLst>
          </p:cNvPr>
          <p:cNvPicPr>
            <a:picLocks noChangeAspect="1"/>
          </p:cNvPicPr>
          <p:nvPr/>
        </p:nvPicPr>
        <p:blipFill rotWithShape="1">
          <a:blip r:embed="rId6"/>
          <a:srcRect l="335" t="11133" r="14331"/>
          <a:stretch/>
        </p:blipFill>
        <p:spPr>
          <a:xfrm>
            <a:off x="8585200" y="1148630"/>
            <a:ext cx="2336800" cy="22803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0"/>
          <p:cNvSpPr txBox="1">
            <a:spLocks noGrp="1"/>
          </p:cNvSpPr>
          <p:nvPr>
            <p:ph type="title"/>
          </p:nvPr>
        </p:nvSpPr>
        <p:spPr>
          <a:xfrm>
            <a:off x="270456" y="177567"/>
            <a:ext cx="11482588" cy="6241618"/>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Collection and Understanding</a:t>
            </a:r>
            <a:endParaRPr sz="3200" b="1" dirty="0">
              <a:latin typeface="Times New Roman"/>
              <a:ea typeface="Times New Roman"/>
              <a:cs typeface="Times New Roman"/>
              <a:sym typeface="Times New Roman"/>
            </a:endParaRPr>
          </a:p>
          <a:p>
            <a:pPr marL="0" lvl="0" indent="0" algn="l" rtl="0">
              <a:lnSpc>
                <a:spcPct val="90000"/>
              </a:lnSpc>
              <a:spcBef>
                <a:spcPts val="0"/>
              </a:spcBef>
              <a:spcAft>
                <a:spcPts val="0"/>
              </a:spcAft>
              <a:buNone/>
            </a:pPr>
            <a:endParaRPr sz="3200" b="1">
              <a:latin typeface="Times New Roman"/>
              <a:ea typeface="Times New Roman"/>
              <a:cs typeface="Times New Roman"/>
              <a:sym typeface="Times New Roman"/>
            </a:endParaRPr>
          </a:p>
          <a:p>
            <a:r>
              <a:rPr lang="en-US" sz="2000" b="1" u="sng" dirty="0">
                <a:latin typeface="Times New Roman"/>
                <a:ea typeface="Times New Roman"/>
                <a:cs typeface="Times New Roman"/>
              </a:rPr>
              <a:t>Raw material input</a:t>
            </a:r>
            <a:br>
              <a:rPr lang="en-US" sz="2000" b="1" u="sng" dirty="0">
                <a:latin typeface="Times New Roman"/>
                <a:ea typeface="Times New Roman"/>
                <a:cs typeface="Times New Roman"/>
              </a:rPr>
            </a:br>
            <a:r>
              <a:rPr lang="en-US" sz="2000" dirty="0">
                <a:latin typeface="Times New Roman"/>
                <a:ea typeface="Times New Roman"/>
                <a:cs typeface="Times New Roman"/>
              </a:rPr>
              <a:t>For the process of </a:t>
            </a:r>
            <a:r>
              <a:rPr lang="en-US" sz="2000" err="1">
                <a:latin typeface="Times New Roman"/>
                <a:ea typeface="Times New Roman"/>
                <a:cs typeface="Times New Roman"/>
              </a:rPr>
              <a:t>manufactuirng</a:t>
            </a:r>
            <a:r>
              <a:rPr lang="en-US" sz="2000" dirty="0">
                <a:latin typeface="Times New Roman"/>
                <a:ea typeface="Times New Roman"/>
                <a:cs typeface="Times New Roman"/>
              </a:rPr>
              <a:t> cement, raw materials such as gypsum, DFA, WFA and clinker are needed. The quality and quantity of these are noted.</a:t>
            </a:r>
            <a:br>
              <a:rPr lang="en-US" sz="2000" dirty="0">
                <a:latin typeface="Times New Roman"/>
                <a:ea typeface="Times New Roman"/>
                <a:cs typeface="Times New Roman"/>
              </a:rPr>
            </a:br>
            <a:br>
              <a:rPr lang="en-US" sz="2000" dirty="0">
                <a:latin typeface="Times New Roman"/>
                <a:ea typeface="Times New Roman"/>
                <a:cs typeface="Times New Roman"/>
              </a:rPr>
            </a:br>
            <a:r>
              <a:rPr lang="en-US" sz="2000" b="1" u="sng" dirty="0">
                <a:latin typeface="Times New Roman"/>
                <a:ea typeface="Times New Roman"/>
                <a:cs typeface="Times New Roman"/>
              </a:rPr>
              <a:t>Process at mill</a:t>
            </a:r>
            <a:br>
              <a:rPr lang="en-US" sz="2000" b="1" u="sng" dirty="0">
                <a:latin typeface="Times New Roman"/>
                <a:ea typeface="Times New Roman"/>
                <a:cs typeface="Times New Roman"/>
              </a:rPr>
            </a:br>
            <a:r>
              <a:rPr lang="en-US" sz="2000" dirty="0">
                <a:latin typeface="Times New Roman"/>
                <a:ea typeface="Times New Roman"/>
                <a:cs typeface="Times New Roman"/>
              </a:rPr>
              <a:t>The mill throughput (TPH), power consumed (KW), </a:t>
            </a:r>
            <a:r>
              <a:rPr lang="en-US" sz="2000" err="1">
                <a:latin typeface="Times New Roman"/>
                <a:ea typeface="Times New Roman"/>
                <a:cs typeface="Times New Roman"/>
              </a:rPr>
              <a:t>temparature</a:t>
            </a:r>
            <a:r>
              <a:rPr lang="en-US" sz="2000" dirty="0">
                <a:latin typeface="Times New Roman"/>
                <a:ea typeface="Times New Roman"/>
                <a:cs typeface="Times New Roman"/>
              </a:rPr>
              <a:t> (Temp I/L and O/L) are noted for examining the mill functioning and process</a:t>
            </a:r>
            <a:br>
              <a:rPr lang="en-US" sz="2000" dirty="0">
                <a:latin typeface="Times New Roman"/>
                <a:ea typeface="Times New Roman"/>
                <a:cs typeface="Times New Roman"/>
              </a:rPr>
            </a:br>
            <a:br>
              <a:rPr lang="en-US" sz="2000" dirty="0">
                <a:latin typeface="Times New Roman"/>
                <a:ea typeface="Times New Roman"/>
                <a:cs typeface="Times New Roman"/>
              </a:rPr>
            </a:br>
            <a:r>
              <a:rPr lang="en-US" sz="2000" b="1" u="sng" dirty="0">
                <a:latin typeface="Times New Roman"/>
                <a:ea typeface="Times New Roman"/>
                <a:cs typeface="Times New Roman"/>
              </a:rPr>
              <a:t>Quality checks </a:t>
            </a:r>
            <a:br>
              <a:rPr lang="en-US" sz="2000" b="1" u="sng" dirty="0">
                <a:latin typeface="Times New Roman"/>
                <a:ea typeface="Times New Roman"/>
                <a:cs typeface="Times New Roman"/>
              </a:rPr>
            </a:br>
            <a:r>
              <a:rPr lang="en-US" sz="2000" dirty="0">
                <a:latin typeface="Times New Roman"/>
                <a:ea typeface="Times New Roman"/>
                <a:cs typeface="Times New Roman"/>
              </a:rPr>
              <a:t>At the end of process, the amount of residue is noted so that it will an idea about the quality of cement </a:t>
            </a:r>
            <a:r>
              <a:rPr lang="en-US" sz="2000">
                <a:latin typeface="Times New Roman"/>
                <a:ea typeface="Times New Roman"/>
                <a:cs typeface="Times New Roman"/>
              </a:rPr>
              <a:t>manufactured. Required adjustments can be made accordingly.</a:t>
            </a:r>
            <a:br>
              <a:rPr lang="en-US" sz="2000" dirty="0">
                <a:latin typeface="Times New Roman"/>
                <a:ea typeface="Times New Roman"/>
                <a:cs typeface="Times New Roman"/>
              </a:rPr>
            </a:br>
            <a:br>
              <a:rPr lang="en-US" sz="2000" dirty="0">
                <a:latin typeface="Times New Roman"/>
                <a:ea typeface="Times New Roman"/>
                <a:cs typeface="Times New Roman"/>
              </a:rPr>
            </a:br>
            <a:r>
              <a:rPr lang="en-US" sz="2000" b="1" u="sng" dirty="0">
                <a:latin typeface="Times New Roman"/>
                <a:ea typeface="Times New Roman"/>
                <a:cs typeface="Times New Roman"/>
              </a:rPr>
              <a:t>Operations of machinery and its </a:t>
            </a:r>
            <a:r>
              <a:rPr lang="en-US" sz="2000" b="1" u="sng" err="1">
                <a:latin typeface="Times New Roman"/>
                <a:ea typeface="Times New Roman"/>
                <a:cs typeface="Times New Roman"/>
              </a:rPr>
              <a:t>maintenence</a:t>
            </a:r>
            <a:br>
              <a:rPr lang="en-US" sz="2000" b="1" u="sng" dirty="0">
                <a:latin typeface="Times New Roman"/>
                <a:ea typeface="Times New Roman"/>
                <a:cs typeface="Times New Roman"/>
              </a:rPr>
            </a:br>
            <a:r>
              <a:rPr lang="en-US" sz="2000" dirty="0">
                <a:latin typeface="Times New Roman"/>
                <a:ea typeface="Times New Roman"/>
                <a:cs typeface="Times New Roman"/>
              </a:rPr>
              <a:t>As a part of </a:t>
            </a:r>
            <a:r>
              <a:rPr lang="en-US" sz="2000" err="1">
                <a:latin typeface="Times New Roman"/>
                <a:ea typeface="Times New Roman"/>
                <a:cs typeface="Times New Roman"/>
              </a:rPr>
              <a:t>envoirnmental</a:t>
            </a:r>
            <a:r>
              <a:rPr lang="en-US" sz="2000" dirty="0">
                <a:latin typeface="Times New Roman"/>
                <a:ea typeface="Times New Roman"/>
                <a:cs typeface="Times New Roman"/>
              </a:rPr>
              <a:t> and safety monitoring, fans and ventilation are implemented. Automated alarms and alerts are also there to handle situations which is beyond threshold. we note the power used (KW), </a:t>
            </a:r>
            <a:r>
              <a:rPr lang="en-US" sz="2000" err="1">
                <a:latin typeface="Times New Roman"/>
                <a:ea typeface="Times New Roman"/>
                <a:cs typeface="Times New Roman"/>
              </a:rPr>
              <a:t>temparature</a:t>
            </a:r>
            <a:r>
              <a:rPr lang="en-US" sz="2000" dirty="0">
                <a:latin typeface="Times New Roman"/>
                <a:ea typeface="Times New Roman"/>
                <a:cs typeface="Times New Roman"/>
              </a:rPr>
              <a:t> (Temp I/L and O/L), revolutions per minute (RPM), pressure etc. for each</a:t>
            </a:r>
            <a:br>
              <a:rPr lang="en-US" sz="2000" dirty="0">
                <a:latin typeface="Times New Roman"/>
                <a:ea typeface="Times New Roman"/>
                <a:cs typeface="Times New Roman"/>
              </a:rPr>
            </a:br>
            <a:br>
              <a:rPr lang="en-US" sz="2000" dirty="0">
                <a:latin typeface="Times New Roman"/>
                <a:ea typeface="Times New Roman"/>
                <a:cs typeface="Times New Roman"/>
              </a:rPr>
            </a:br>
            <a:br>
              <a:rPr lang="en-US" sz="2000" dirty="0">
                <a:latin typeface="Times New Roman"/>
                <a:ea typeface="Times New Roman"/>
                <a:cs typeface="Times New Roman"/>
              </a:rPr>
            </a:br>
            <a:endParaRPr lang="en-US" sz="2000" b="1" u="sng" dirty="0">
              <a:latin typeface="Times New Roman"/>
              <a:ea typeface="Times New Roman"/>
              <a:cs typeface="Times New Roman"/>
            </a:endParaRPr>
          </a:p>
        </p:txBody>
      </p:sp>
      <p:pic>
        <p:nvPicPr>
          <p:cNvPr id="208" name="Google Shape;208;p10"/>
          <p:cNvPicPr preferRelativeResize="0"/>
          <p:nvPr/>
        </p:nvPicPr>
        <p:blipFill rotWithShape="1">
          <a:blip r:embed="rId3">
            <a:alphaModFix/>
          </a:blip>
          <a:srcRect/>
          <a:stretch/>
        </p:blipFill>
        <p:spPr>
          <a:xfrm>
            <a:off x="9580951" y="6053750"/>
            <a:ext cx="2592012" cy="805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6"/>
        <p:cNvGrpSpPr/>
        <p:nvPr/>
      </p:nvGrpSpPr>
      <p:grpSpPr>
        <a:xfrm>
          <a:off x="0" y="0"/>
          <a:ext cx="0" cy="0"/>
          <a:chOff x="0" y="0"/>
          <a:chExt cx="0" cy="0"/>
        </a:xfrm>
      </p:grpSpPr>
      <p:sp useBgFill="1">
        <p:nvSpPr>
          <p:cNvPr id="243" name="Rectangle 242">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Freeform: Shape 2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7" name="Google Shape;227;p15"/>
          <p:cNvSpPr txBox="1">
            <a:spLocks noGrp="1"/>
          </p:cNvSpPr>
          <p:nvPr>
            <p:ph type="title"/>
          </p:nvPr>
        </p:nvSpPr>
        <p:spPr>
          <a:xfrm>
            <a:off x="838200" y="609600"/>
            <a:ext cx="3739341" cy="1330839"/>
          </a:xfrm>
          <a:prstGeom prst="rect">
            <a:avLst/>
          </a:prstGeom>
        </p:spPr>
        <p:txBody>
          <a:bodyPr spcFirstLastPara="1" vert="horz" lIns="91440" tIns="45720" rIns="91440" bIns="45720" rtlCol="0" anchor="ctr" anchorCtr="0">
            <a:normAutofit/>
          </a:bodyPr>
          <a:lstStyle/>
          <a:p>
            <a:pPr marL="0" lvl="0" indent="0">
              <a:spcBef>
                <a:spcPct val="0"/>
              </a:spcBef>
              <a:spcAft>
                <a:spcPts val="0"/>
              </a:spcAft>
              <a:buClr>
                <a:schemeClr val="dk1"/>
              </a:buClr>
              <a:buSzPts val="2300"/>
            </a:pPr>
            <a:r>
              <a:rPr lang="en-US" sz="4400" b="1" kern="1200" dirty="0">
                <a:solidFill>
                  <a:srgbClr val="002060"/>
                </a:solidFill>
                <a:latin typeface="Algerian" panose="04020705040A02060702" pitchFamily="82" charset="0"/>
                <a:ea typeface="+mj-ea"/>
                <a:cs typeface="+mj-cs"/>
                <a:sym typeface="Times New Roman"/>
              </a:rPr>
              <a:t>Data Dictionary </a:t>
            </a:r>
          </a:p>
        </p:txBody>
      </p:sp>
      <p:pic>
        <p:nvPicPr>
          <p:cNvPr id="228" name="Google Shape;228;p15"/>
          <p:cNvPicPr preferRelativeResize="0"/>
          <p:nvPr/>
        </p:nvPicPr>
        <p:blipFill rotWithShape="1">
          <a:blip r:embed="rId3">
            <a:alphaModFix/>
          </a:blip>
          <a:srcRect/>
          <a:stretch/>
        </p:blipFill>
        <p:spPr>
          <a:xfrm>
            <a:off x="10411501" y="6277844"/>
            <a:ext cx="1570097" cy="487851"/>
          </a:xfrm>
          <a:prstGeom prst="rect">
            <a:avLst/>
          </a:prstGeom>
          <a:noFill/>
          <a:ln>
            <a:noFill/>
          </a:ln>
        </p:spPr>
      </p:pic>
      <p:graphicFrame>
        <p:nvGraphicFramePr>
          <p:cNvPr id="3" name="Table 2">
            <a:extLst>
              <a:ext uri="{FF2B5EF4-FFF2-40B4-BE49-F238E27FC236}">
                <a16:creationId xmlns:a16="http://schemas.microsoft.com/office/drawing/2014/main" id="{1F9B5D1F-A64D-D2E3-60B0-837CB99EF6D0}"/>
              </a:ext>
            </a:extLst>
          </p:cNvPr>
          <p:cNvGraphicFramePr>
            <a:graphicFrameLocks noGrp="1"/>
          </p:cNvGraphicFramePr>
          <p:nvPr>
            <p:extLst>
              <p:ext uri="{D42A27DB-BD31-4B8C-83A1-F6EECF244321}">
                <p14:modId xmlns:p14="http://schemas.microsoft.com/office/powerpoint/2010/main" val="1683128449"/>
              </p:ext>
            </p:extLst>
          </p:nvPr>
        </p:nvGraphicFramePr>
        <p:xfrm>
          <a:off x="5295901" y="92305"/>
          <a:ext cx="6802520" cy="6673388"/>
        </p:xfrm>
        <a:graphic>
          <a:graphicData uri="http://schemas.openxmlformats.org/drawingml/2006/table">
            <a:tbl>
              <a:tblPr firstRow="1" bandRow="1">
                <a:tableStyleId>{2C2D7396-3E8A-4C48-A43C-EBEA59809495}</a:tableStyleId>
              </a:tblPr>
              <a:tblGrid>
                <a:gridCol w="1609198">
                  <a:extLst>
                    <a:ext uri="{9D8B030D-6E8A-4147-A177-3AD203B41FA5}">
                      <a16:colId xmlns:a16="http://schemas.microsoft.com/office/drawing/2014/main" val="282767359"/>
                    </a:ext>
                  </a:extLst>
                </a:gridCol>
                <a:gridCol w="5193322">
                  <a:extLst>
                    <a:ext uri="{9D8B030D-6E8A-4147-A177-3AD203B41FA5}">
                      <a16:colId xmlns:a16="http://schemas.microsoft.com/office/drawing/2014/main" val="2856092167"/>
                    </a:ext>
                  </a:extLst>
                </a:gridCol>
              </a:tblGrid>
              <a:tr h="226317">
                <a:tc>
                  <a:txBody>
                    <a:bodyPr/>
                    <a:lstStyle/>
                    <a:p>
                      <a:pPr fontAlgn="b"/>
                      <a:r>
                        <a:rPr lang="en-US" sz="1100" b="1">
                          <a:solidFill>
                            <a:srgbClr val="242424"/>
                          </a:solidFill>
                          <a:effectLst/>
                          <a:latin typeface="Calibri" panose="020F0502020204030204" pitchFamily="34" charset="0"/>
                        </a:rPr>
                        <a:t>variables </a:t>
                      </a:r>
                    </a:p>
                  </a:txBody>
                  <a:tcPr marL="9525" marR="9525" marT="9525" anchor="b">
                    <a:lnL>
                      <a:noFill/>
                    </a:lnL>
                    <a:lnR>
                      <a:noFill/>
                    </a:lnR>
                    <a:lnT>
                      <a:noFill/>
                    </a:lnT>
                    <a:lnB>
                      <a:noFill/>
                    </a:lnB>
                    <a:solidFill>
                      <a:srgbClr val="4472C4"/>
                    </a:solidFill>
                  </a:tcPr>
                </a:tc>
                <a:tc>
                  <a:txBody>
                    <a:bodyPr/>
                    <a:lstStyle/>
                    <a:p>
                      <a:pPr fontAlgn="b"/>
                      <a:r>
                        <a:rPr lang="en-US" sz="1100" b="1">
                          <a:solidFill>
                            <a:srgbClr val="242424"/>
                          </a:solidFill>
                          <a:effectLst/>
                          <a:latin typeface="Calibri" panose="020F0502020204030204" pitchFamily="34" charset="0"/>
                        </a:rPr>
                        <a:t>description </a:t>
                      </a:r>
                    </a:p>
                  </a:txBody>
                  <a:tcPr marL="9525" marR="9525" marT="9525" anchor="b">
                    <a:lnL>
                      <a:noFill/>
                    </a:lnL>
                    <a:lnR>
                      <a:noFill/>
                    </a:lnR>
                    <a:lnT>
                      <a:noFill/>
                    </a:lnT>
                    <a:lnB>
                      <a:noFill/>
                    </a:lnB>
                    <a:solidFill>
                      <a:srgbClr val="4472C4"/>
                    </a:solidFill>
                  </a:tcPr>
                </a:tc>
                <a:extLst>
                  <a:ext uri="{0D108BD9-81ED-4DB2-BD59-A6C34878D82A}">
                    <a16:rowId xmlns:a16="http://schemas.microsoft.com/office/drawing/2014/main" val="4207973920"/>
                  </a:ext>
                </a:extLst>
              </a:tr>
              <a:tr h="226317">
                <a:tc>
                  <a:txBody>
                    <a:bodyPr/>
                    <a:lstStyle/>
                    <a:p>
                      <a:pPr fontAlgn="b"/>
                      <a:r>
                        <a:rPr lang="en-US" sz="1100">
                          <a:solidFill>
                            <a:srgbClr val="242424"/>
                          </a:solidFill>
                          <a:effectLst/>
                          <a:latin typeface="Calibri" panose="020F0502020204030204" pitchFamily="34" charset="0"/>
                        </a:rPr>
                        <a:t>Date &amp; Time</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date and time of the recorded data.</a:t>
                      </a:r>
                    </a:p>
                  </a:txBody>
                  <a:tcPr marL="9525" marR="9525" marT="9525" anchor="b">
                    <a:lnL>
                      <a:noFill/>
                    </a:lnL>
                    <a:lnR>
                      <a:noFill/>
                    </a:lnR>
                    <a:lnT>
                      <a:noFill/>
                    </a:lnT>
                    <a:lnB>
                      <a:noFill/>
                    </a:lnB>
                  </a:tcPr>
                </a:tc>
                <a:extLst>
                  <a:ext uri="{0D108BD9-81ED-4DB2-BD59-A6C34878D82A}">
                    <a16:rowId xmlns:a16="http://schemas.microsoft.com/office/drawing/2014/main" val="3346745362"/>
                  </a:ext>
                </a:extLst>
              </a:tr>
              <a:tr h="226317">
                <a:tc>
                  <a:txBody>
                    <a:bodyPr/>
                    <a:lstStyle/>
                    <a:p>
                      <a:pPr fontAlgn="b"/>
                      <a:r>
                        <a:rPr lang="en-US" sz="1100">
                          <a:solidFill>
                            <a:srgbClr val="242424"/>
                          </a:solidFill>
                          <a:effectLst/>
                          <a:latin typeface="Calibri" panose="020F0502020204030204" pitchFamily="34" charset="0"/>
                        </a:rPr>
                        <a:t>Mill TPH</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throughput of the mill in tons per hour.</a:t>
                      </a:r>
                    </a:p>
                  </a:txBody>
                  <a:tcPr marL="9525" marR="9525" marT="9525" anchor="b">
                    <a:lnL>
                      <a:noFill/>
                    </a:lnL>
                    <a:lnR>
                      <a:noFill/>
                    </a:lnR>
                    <a:lnT>
                      <a:noFill/>
                    </a:lnT>
                    <a:lnB>
                      <a:noFill/>
                    </a:lnB>
                  </a:tcPr>
                </a:tc>
                <a:extLst>
                  <a:ext uri="{0D108BD9-81ED-4DB2-BD59-A6C34878D82A}">
                    <a16:rowId xmlns:a16="http://schemas.microsoft.com/office/drawing/2014/main" val="2302690747"/>
                  </a:ext>
                </a:extLst>
              </a:tr>
              <a:tr h="226317">
                <a:tc>
                  <a:txBody>
                    <a:bodyPr/>
                    <a:lstStyle/>
                    <a:p>
                      <a:pPr fontAlgn="b"/>
                      <a:r>
                        <a:rPr lang="en-US" sz="1100">
                          <a:solidFill>
                            <a:srgbClr val="242424"/>
                          </a:solidFill>
                          <a:effectLst/>
                          <a:latin typeface="Calibri" panose="020F0502020204030204" pitchFamily="34" charset="0"/>
                        </a:rPr>
                        <a:t>Clinker TPH</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throughput of clinker in tons per hour.</a:t>
                      </a:r>
                    </a:p>
                  </a:txBody>
                  <a:tcPr marL="9525" marR="9525" marT="9525" anchor="b">
                    <a:lnL>
                      <a:noFill/>
                    </a:lnL>
                    <a:lnR>
                      <a:noFill/>
                    </a:lnR>
                    <a:lnT>
                      <a:noFill/>
                    </a:lnT>
                    <a:lnB>
                      <a:noFill/>
                    </a:lnB>
                  </a:tcPr>
                </a:tc>
                <a:extLst>
                  <a:ext uri="{0D108BD9-81ED-4DB2-BD59-A6C34878D82A}">
                    <a16:rowId xmlns:a16="http://schemas.microsoft.com/office/drawing/2014/main" val="1671198827"/>
                  </a:ext>
                </a:extLst>
              </a:tr>
              <a:tr h="226317">
                <a:tc>
                  <a:txBody>
                    <a:bodyPr/>
                    <a:lstStyle/>
                    <a:p>
                      <a:pPr fontAlgn="b"/>
                      <a:r>
                        <a:rPr lang="en-US" sz="1100">
                          <a:solidFill>
                            <a:srgbClr val="242424"/>
                          </a:solidFill>
                          <a:effectLst/>
                          <a:latin typeface="Calibri" panose="020F0502020204030204" pitchFamily="34" charset="0"/>
                        </a:rPr>
                        <a:t>Gypsum TPH</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throughput of gypsum in tons per hour.</a:t>
                      </a:r>
                    </a:p>
                  </a:txBody>
                  <a:tcPr marL="9525" marR="9525" marT="9525" anchor="b">
                    <a:lnL>
                      <a:noFill/>
                    </a:lnL>
                    <a:lnR>
                      <a:noFill/>
                    </a:lnR>
                    <a:lnT>
                      <a:noFill/>
                    </a:lnT>
                    <a:lnB>
                      <a:noFill/>
                    </a:lnB>
                  </a:tcPr>
                </a:tc>
                <a:extLst>
                  <a:ext uri="{0D108BD9-81ED-4DB2-BD59-A6C34878D82A}">
                    <a16:rowId xmlns:a16="http://schemas.microsoft.com/office/drawing/2014/main" val="534239776"/>
                  </a:ext>
                </a:extLst>
              </a:tr>
              <a:tr h="226317">
                <a:tc>
                  <a:txBody>
                    <a:bodyPr/>
                    <a:lstStyle/>
                    <a:p>
                      <a:pPr fontAlgn="b"/>
                      <a:r>
                        <a:rPr lang="en-US" sz="1100">
                          <a:solidFill>
                            <a:srgbClr val="242424"/>
                          </a:solidFill>
                          <a:effectLst/>
                          <a:latin typeface="Calibri" panose="020F0502020204030204" pitchFamily="34" charset="0"/>
                        </a:rPr>
                        <a:t>DFA TPH</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throughput of DFA (Dried Fine Aggregates) in tons per hour.</a:t>
                      </a:r>
                    </a:p>
                  </a:txBody>
                  <a:tcPr marL="9525" marR="9525" marT="9525" anchor="b">
                    <a:lnL>
                      <a:noFill/>
                    </a:lnL>
                    <a:lnR>
                      <a:noFill/>
                    </a:lnR>
                    <a:lnT>
                      <a:noFill/>
                    </a:lnT>
                    <a:lnB>
                      <a:noFill/>
                    </a:lnB>
                  </a:tcPr>
                </a:tc>
                <a:extLst>
                  <a:ext uri="{0D108BD9-81ED-4DB2-BD59-A6C34878D82A}">
                    <a16:rowId xmlns:a16="http://schemas.microsoft.com/office/drawing/2014/main" val="2145077048"/>
                  </a:ext>
                </a:extLst>
              </a:tr>
              <a:tr h="226317">
                <a:tc>
                  <a:txBody>
                    <a:bodyPr/>
                    <a:lstStyle/>
                    <a:p>
                      <a:pPr fontAlgn="b"/>
                      <a:r>
                        <a:rPr lang="en-US" sz="1100">
                          <a:solidFill>
                            <a:srgbClr val="242424"/>
                          </a:solidFill>
                          <a:effectLst/>
                          <a:latin typeface="Calibri" panose="020F0502020204030204" pitchFamily="34" charset="0"/>
                        </a:rPr>
                        <a:t>WFA TPH</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throughput of WFA (Wet Fine Aggregates) in tons per hour.</a:t>
                      </a:r>
                    </a:p>
                  </a:txBody>
                  <a:tcPr marL="9525" marR="9525" marT="9525" anchor="b">
                    <a:lnL>
                      <a:noFill/>
                    </a:lnL>
                    <a:lnR>
                      <a:noFill/>
                    </a:lnR>
                    <a:lnT>
                      <a:noFill/>
                    </a:lnT>
                    <a:lnB>
                      <a:noFill/>
                    </a:lnB>
                  </a:tcPr>
                </a:tc>
                <a:extLst>
                  <a:ext uri="{0D108BD9-81ED-4DB2-BD59-A6C34878D82A}">
                    <a16:rowId xmlns:a16="http://schemas.microsoft.com/office/drawing/2014/main" val="3029583292"/>
                  </a:ext>
                </a:extLst>
              </a:tr>
              <a:tr h="226317">
                <a:tc>
                  <a:txBody>
                    <a:bodyPr/>
                    <a:lstStyle/>
                    <a:p>
                      <a:pPr fontAlgn="b"/>
                      <a:r>
                        <a:rPr lang="en-US" sz="1100">
                          <a:solidFill>
                            <a:srgbClr val="242424"/>
                          </a:solidFill>
                          <a:effectLst/>
                          <a:latin typeface="Calibri" panose="020F0502020204030204" pitchFamily="34" charset="0"/>
                        </a:rPr>
                        <a:t>Mill KW</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power consumption of the mill in kilowatts.</a:t>
                      </a:r>
                    </a:p>
                  </a:txBody>
                  <a:tcPr marL="9525" marR="9525" marT="9525" anchor="b">
                    <a:lnL>
                      <a:noFill/>
                    </a:lnL>
                    <a:lnR>
                      <a:noFill/>
                    </a:lnR>
                    <a:lnT>
                      <a:noFill/>
                    </a:lnT>
                    <a:lnB>
                      <a:noFill/>
                    </a:lnB>
                  </a:tcPr>
                </a:tc>
                <a:extLst>
                  <a:ext uri="{0D108BD9-81ED-4DB2-BD59-A6C34878D82A}">
                    <a16:rowId xmlns:a16="http://schemas.microsoft.com/office/drawing/2014/main" val="4236690188"/>
                  </a:ext>
                </a:extLst>
              </a:tr>
              <a:tr h="226317">
                <a:tc>
                  <a:txBody>
                    <a:bodyPr/>
                    <a:lstStyle/>
                    <a:p>
                      <a:pPr fontAlgn="b"/>
                      <a:r>
                        <a:rPr lang="en-US" sz="1100">
                          <a:solidFill>
                            <a:srgbClr val="242424"/>
                          </a:solidFill>
                          <a:effectLst/>
                          <a:latin typeface="Calibri" panose="020F0502020204030204" pitchFamily="34" charset="0"/>
                        </a:rPr>
                        <a:t>Mill I/L Temp</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temperature of the mill's inlet.</a:t>
                      </a:r>
                    </a:p>
                  </a:txBody>
                  <a:tcPr marL="9525" marR="9525" marT="9525" anchor="b">
                    <a:lnL>
                      <a:noFill/>
                    </a:lnL>
                    <a:lnR>
                      <a:noFill/>
                    </a:lnR>
                    <a:lnT>
                      <a:noFill/>
                    </a:lnT>
                    <a:lnB>
                      <a:noFill/>
                    </a:lnB>
                  </a:tcPr>
                </a:tc>
                <a:extLst>
                  <a:ext uri="{0D108BD9-81ED-4DB2-BD59-A6C34878D82A}">
                    <a16:rowId xmlns:a16="http://schemas.microsoft.com/office/drawing/2014/main" val="1616541525"/>
                  </a:ext>
                </a:extLst>
              </a:tr>
              <a:tr h="226317">
                <a:tc>
                  <a:txBody>
                    <a:bodyPr/>
                    <a:lstStyle/>
                    <a:p>
                      <a:pPr fontAlgn="b"/>
                      <a:r>
                        <a:rPr lang="en-US" sz="1100">
                          <a:solidFill>
                            <a:srgbClr val="242424"/>
                          </a:solidFill>
                          <a:effectLst/>
                          <a:latin typeface="Calibri" panose="020F0502020204030204" pitchFamily="34" charset="0"/>
                        </a:rPr>
                        <a:t>Mill O/L Temp</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temperature of the mill's outlet.</a:t>
                      </a:r>
                    </a:p>
                  </a:txBody>
                  <a:tcPr marL="9525" marR="9525" marT="9525" anchor="b">
                    <a:lnL>
                      <a:noFill/>
                    </a:lnL>
                    <a:lnR>
                      <a:noFill/>
                    </a:lnR>
                    <a:lnT>
                      <a:noFill/>
                    </a:lnT>
                    <a:lnB>
                      <a:noFill/>
                    </a:lnB>
                  </a:tcPr>
                </a:tc>
                <a:extLst>
                  <a:ext uri="{0D108BD9-81ED-4DB2-BD59-A6C34878D82A}">
                    <a16:rowId xmlns:a16="http://schemas.microsoft.com/office/drawing/2014/main" val="2002217471"/>
                  </a:ext>
                </a:extLst>
              </a:tr>
              <a:tr h="226317">
                <a:tc>
                  <a:txBody>
                    <a:bodyPr/>
                    <a:lstStyle/>
                    <a:p>
                      <a:pPr fontAlgn="b"/>
                      <a:r>
                        <a:rPr lang="en-US" sz="1100">
                          <a:solidFill>
                            <a:srgbClr val="242424"/>
                          </a:solidFill>
                          <a:effectLst/>
                          <a:latin typeface="Calibri" panose="020F0502020204030204" pitchFamily="34" charset="0"/>
                        </a:rPr>
                        <a:t>Mill O/L BE Amp</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mill's outlet belt ampere reading.</a:t>
                      </a:r>
                    </a:p>
                  </a:txBody>
                  <a:tcPr marL="9525" marR="9525" marT="9525" anchor="b">
                    <a:lnL>
                      <a:noFill/>
                    </a:lnL>
                    <a:lnR>
                      <a:noFill/>
                    </a:lnR>
                    <a:lnT>
                      <a:noFill/>
                    </a:lnT>
                    <a:lnB>
                      <a:noFill/>
                    </a:lnB>
                  </a:tcPr>
                </a:tc>
                <a:extLst>
                  <a:ext uri="{0D108BD9-81ED-4DB2-BD59-A6C34878D82A}">
                    <a16:rowId xmlns:a16="http://schemas.microsoft.com/office/drawing/2014/main" val="1427392367"/>
                  </a:ext>
                </a:extLst>
              </a:tr>
              <a:tr h="226317">
                <a:tc>
                  <a:txBody>
                    <a:bodyPr/>
                    <a:lstStyle/>
                    <a:p>
                      <a:pPr fontAlgn="b"/>
                      <a:r>
                        <a:rPr lang="en-US" sz="1100">
                          <a:solidFill>
                            <a:srgbClr val="242424"/>
                          </a:solidFill>
                          <a:effectLst/>
                          <a:latin typeface="Calibri" panose="020F0502020204030204" pitchFamily="34" charset="0"/>
                        </a:rPr>
                        <a:t>Mill Vent Fan RPM</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speed of the mill's ventilation fan in revolutions per minute.</a:t>
                      </a:r>
                    </a:p>
                  </a:txBody>
                  <a:tcPr marL="9525" marR="9525" marT="9525" anchor="b">
                    <a:lnL>
                      <a:noFill/>
                    </a:lnL>
                    <a:lnR>
                      <a:noFill/>
                    </a:lnR>
                    <a:lnT>
                      <a:noFill/>
                    </a:lnT>
                    <a:lnB>
                      <a:noFill/>
                    </a:lnB>
                  </a:tcPr>
                </a:tc>
                <a:extLst>
                  <a:ext uri="{0D108BD9-81ED-4DB2-BD59-A6C34878D82A}">
                    <a16:rowId xmlns:a16="http://schemas.microsoft.com/office/drawing/2014/main" val="3949539304"/>
                  </a:ext>
                </a:extLst>
              </a:tr>
              <a:tr h="226317">
                <a:tc>
                  <a:txBody>
                    <a:bodyPr/>
                    <a:lstStyle/>
                    <a:p>
                      <a:pPr fontAlgn="b"/>
                      <a:r>
                        <a:rPr lang="en-US" sz="1100">
                          <a:solidFill>
                            <a:srgbClr val="242424"/>
                          </a:solidFill>
                          <a:effectLst/>
                          <a:latin typeface="Calibri" panose="020F0502020204030204" pitchFamily="34" charset="0"/>
                        </a:rPr>
                        <a:t>Mill Vent Fan KW</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power consumption of the mill's ventilation fan in kilowatts.</a:t>
                      </a:r>
                    </a:p>
                  </a:txBody>
                  <a:tcPr marL="9525" marR="9525" marT="9525" anchor="b">
                    <a:lnL>
                      <a:noFill/>
                    </a:lnL>
                    <a:lnR>
                      <a:noFill/>
                    </a:lnR>
                    <a:lnT>
                      <a:noFill/>
                    </a:lnT>
                    <a:lnB>
                      <a:noFill/>
                    </a:lnB>
                  </a:tcPr>
                </a:tc>
                <a:extLst>
                  <a:ext uri="{0D108BD9-81ED-4DB2-BD59-A6C34878D82A}">
                    <a16:rowId xmlns:a16="http://schemas.microsoft.com/office/drawing/2014/main" val="1903014460"/>
                  </a:ext>
                </a:extLst>
              </a:tr>
              <a:tr h="226317">
                <a:tc>
                  <a:txBody>
                    <a:bodyPr/>
                    <a:lstStyle/>
                    <a:p>
                      <a:pPr fontAlgn="b"/>
                      <a:r>
                        <a:rPr lang="en-US" sz="1100">
                          <a:solidFill>
                            <a:srgbClr val="242424"/>
                          </a:solidFill>
                          <a:effectLst/>
                          <a:latin typeface="Calibri" panose="020F0502020204030204" pitchFamily="34" charset="0"/>
                        </a:rPr>
                        <a:t>Mill Vent BF I/L Draft</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draft pressure at the mill's ventilation fan's inlet.</a:t>
                      </a:r>
                    </a:p>
                  </a:txBody>
                  <a:tcPr marL="9525" marR="9525" marT="9525" anchor="b">
                    <a:lnL>
                      <a:noFill/>
                    </a:lnL>
                    <a:lnR>
                      <a:noFill/>
                    </a:lnR>
                    <a:lnT>
                      <a:noFill/>
                    </a:lnT>
                    <a:lnB>
                      <a:noFill/>
                    </a:lnB>
                  </a:tcPr>
                </a:tc>
                <a:extLst>
                  <a:ext uri="{0D108BD9-81ED-4DB2-BD59-A6C34878D82A}">
                    <a16:rowId xmlns:a16="http://schemas.microsoft.com/office/drawing/2014/main" val="629271988"/>
                  </a:ext>
                </a:extLst>
              </a:tr>
              <a:tr h="226317">
                <a:tc>
                  <a:txBody>
                    <a:bodyPr/>
                    <a:lstStyle/>
                    <a:p>
                      <a:pPr fontAlgn="b"/>
                      <a:r>
                        <a:rPr lang="en-US" sz="1100">
                          <a:solidFill>
                            <a:srgbClr val="242424"/>
                          </a:solidFill>
                          <a:effectLst/>
                          <a:latin typeface="Calibri" panose="020F0502020204030204" pitchFamily="34" charset="0"/>
                        </a:rPr>
                        <a:t>Mill Vent BF O/L Draft</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draft pressure at the mill's ventilation fan's outlet.</a:t>
                      </a:r>
                    </a:p>
                  </a:txBody>
                  <a:tcPr marL="9525" marR="9525" marT="9525" anchor="b">
                    <a:lnL>
                      <a:noFill/>
                    </a:lnL>
                    <a:lnR>
                      <a:noFill/>
                    </a:lnR>
                    <a:lnT>
                      <a:noFill/>
                    </a:lnT>
                    <a:lnB>
                      <a:noFill/>
                    </a:lnB>
                  </a:tcPr>
                </a:tc>
                <a:extLst>
                  <a:ext uri="{0D108BD9-81ED-4DB2-BD59-A6C34878D82A}">
                    <a16:rowId xmlns:a16="http://schemas.microsoft.com/office/drawing/2014/main" val="4294715745"/>
                  </a:ext>
                </a:extLst>
              </a:tr>
              <a:tr h="226317">
                <a:tc>
                  <a:txBody>
                    <a:bodyPr/>
                    <a:lstStyle/>
                    <a:p>
                      <a:pPr fontAlgn="b"/>
                      <a:r>
                        <a:rPr lang="en-US" sz="1100">
                          <a:solidFill>
                            <a:srgbClr val="242424"/>
                          </a:solidFill>
                          <a:effectLst/>
                          <a:latin typeface="Calibri" panose="020F0502020204030204" pitchFamily="34" charset="0"/>
                        </a:rPr>
                        <a:t>Reject</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amount of material rejected by the mill.</a:t>
                      </a:r>
                    </a:p>
                  </a:txBody>
                  <a:tcPr marL="9525" marR="9525" marT="9525" anchor="b">
                    <a:lnL>
                      <a:noFill/>
                    </a:lnL>
                    <a:lnR>
                      <a:noFill/>
                    </a:lnR>
                    <a:lnT>
                      <a:noFill/>
                    </a:lnT>
                    <a:lnB>
                      <a:noFill/>
                    </a:lnB>
                  </a:tcPr>
                </a:tc>
                <a:extLst>
                  <a:ext uri="{0D108BD9-81ED-4DB2-BD59-A6C34878D82A}">
                    <a16:rowId xmlns:a16="http://schemas.microsoft.com/office/drawing/2014/main" val="3783092038"/>
                  </a:ext>
                </a:extLst>
              </a:tr>
              <a:tr h="226317">
                <a:tc>
                  <a:txBody>
                    <a:bodyPr/>
                    <a:lstStyle/>
                    <a:p>
                      <a:pPr fontAlgn="b"/>
                      <a:r>
                        <a:rPr lang="en-US" sz="1100">
                          <a:solidFill>
                            <a:srgbClr val="242424"/>
                          </a:solidFill>
                          <a:effectLst/>
                          <a:latin typeface="Calibri" panose="020F0502020204030204" pitchFamily="34" charset="0"/>
                        </a:rPr>
                        <a:t>Sep RPM</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speed of the separator in revolutions per minute.</a:t>
                      </a:r>
                    </a:p>
                  </a:txBody>
                  <a:tcPr marL="9525" marR="9525" marT="9525" anchor="b">
                    <a:lnL>
                      <a:noFill/>
                    </a:lnL>
                    <a:lnR>
                      <a:noFill/>
                    </a:lnR>
                    <a:lnT>
                      <a:noFill/>
                    </a:lnT>
                    <a:lnB>
                      <a:noFill/>
                    </a:lnB>
                  </a:tcPr>
                </a:tc>
                <a:extLst>
                  <a:ext uri="{0D108BD9-81ED-4DB2-BD59-A6C34878D82A}">
                    <a16:rowId xmlns:a16="http://schemas.microsoft.com/office/drawing/2014/main" val="3882121331"/>
                  </a:ext>
                </a:extLst>
              </a:tr>
              <a:tr h="226317">
                <a:tc>
                  <a:txBody>
                    <a:bodyPr/>
                    <a:lstStyle/>
                    <a:p>
                      <a:pPr fontAlgn="b"/>
                      <a:r>
                        <a:rPr lang="en-US" sz="1100">
                          <a:solidFill>
                            <a:srgbClr val="242424"/>
                          </a:solidFill>
                          <a:effectLst/>
                          <a:latin typeface="Calibri" panose="020F0502020204030204" pitchFamily="34" charset="0"/>
                        </a:rPr>
                        <a:t>Sep KW</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power consumption of the separator in kilowatts.</a:t>
                      </a:r>
                    </a:p>
                  </a:txBody>
                  <a:tcPr marL="9525" marR="9525" marT="9525" anchor="b">
                    <a:lnL>
                      <a:noFill/>
                    </a:lnL>
                    <a:lnR>
                      <a:noFill/>
                    </a:lnR>
                    <a:lnT>
                      <a:noFill/>
                    </a:lnT>
                    <a:lnB>
                      <a:noFill/>
                    </a:lnB>
                  </a:tcPr>
                </a:tc>
                <a:extLst>
                  <a:ext uri="{0D108BD9-81ED-4DB2-BD59-A6C34878D82A}">
                    <a16:rowId xmlns:a16="http://schemas.microsoft.com/office/drawing/2014/main" val="2761131407"/>
                  </a:ext>
                </a:extLst>
              </a:tr>
              <a:tr h="226317">
                <a:tc>
                  <a:txBody>
                    <a:bodyPr/>
                    <a:lstStyle/>
                    <a:p>
                      <a:pPr fontAlgn="b"/>
                      <a:r>
                        <a:rPr lang="en-US" sz="1100">
                          <a:solidFill>
                            <a:srgbClr val="242424"/>
                          </a:solidFill>
                          <a:effectLst/>
                          <a:latin typeface="Calibri" panose="020F0502020204030204" pitchFamily="34" charset="0"/>
                        </a:rPr>
                        <a:t>Sep Amp</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separator's ampere reading.</a:t>
                      </a:r>
                    </a:p>
                  </a:txBody>
                  <a:tcPr marL="9525" marR="9525" marT="9525" anchor="b">
                    <a:lnL>
                      <a:noFill/>
                    </a:lnL>
                    <a:lnR>
                      <a:noFill/>
                    </a:lnR>
                    <a:lnT>
                      <a:noFill/>
                    </a:lnT>
                    <a:lnB>
                      <a:noFill/>
                    </a:lnB>
                  </a:tcPr>
                </a:tc>
                <a:extLst>
                  <a:ext uri="{0D108BD9-81ED-4DB2-BD59-A6C34878D82A}">
                    <a16:rowId xmlns:a16="http://schemas.microsoft.com/office/drawing/2014/main" val="290638125"/>
                  </a:ext>
                </a:extLst>
              </a:tr>
              <a:tr h="226317">
                <a:tc>
                  <a:txBody>
                    <a:bodyPr/>
                    <a:lstStyle/>
                    <a:p>
                      <a:pPr fontAlgn="b"/>
                      <a:r>
                        <a:rPr lang="en-US" sz="1100">
                          <a:solidFill>
                            <a:srgbClr val="242424"/>
                          </a:solidFill>
                          <a:effectLst/>
                          <a:latin typeface="Calibri" panose="020F0502020204030204" pitchFamily="34" charset="0"/>
                        </a:rPr>
                        <a:t>CA Fan RPM</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speed of the cooler air (CA) fan in revolutions per minute.</a:t>
                      </a:r>
                    </a:p>
                  </a:txBody>
                  <a:tcPr marL="9525" marR="9525" marT="9525" anchor="b">
                    <a:lnL>
                      <a:noFill/>
                    </a:lnL>
                    <a:lnR>
                      <a:noFill/>
                    </a:lnR>
                    <a:lnT>
                      <a:noFill/>
                    </a:lnT>
                    <a:lnB>
                      <a:noFill/>
                    </a:lnB>
                  </a:tcPr>
                </a:tc>
                <a:extLst>
                  <a:ext uri="{0D108BD9-81ED-4DB2-BD59-A6C34878D82A}">
                    <a16:rowId xmlns:a16="http://schemas.microsoft.com/office/drawing/2014/main" val="3181771920"/>
                  </a:ext>
                </a:extLst>
              </a:tr>
              <a:tr h="226317">
                <a:tc>
                  <a:txBody>
                    <a:bodyPr/>
                    <a:lstStyle/>
                    <a:p>
                      <a:pPr fontAlgn="b"/>
                      <a:r>
                        <a:rPr lang="en-US" sz="1100">
                          <a:solidFill>
                            <a:srgbClr val="242424"/>
                          </a:solidFill>
                          <a:effectLst/>
                          <a:latin typeface="Calibri" panose="020F0502020204030204" pitchFamily="34" charset="0"/>
                        </a:rPr>
                        <a:t>CA Fan KW</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power consumption of the cooler air (CA) fan in kilowatts.</a:t>
                      </a:r>
                    </a:p>
                  </a:txBody>
                  <a:tcPr marL="9525" marR="9525" marT="9525" anchor="b">
                    <a:lnL>
                      <a:noFill/>
                    </a:lnL>
                    <a:lnR>
                      <a:noFill/>
                    </a:lnR>
                    <a:lnT>
                      <a:noFill/>
                    </a:lnT>
                    <a:lnB>
                      <a:noFill/>
                    </a:lnB>
                  </a:tcPr>
                </a:tc>
                <a:extLst>
                  <a:ext uri="{0D108BD9-81ED-4DB2-BD59-A6C34878D82A}">
                    <a16:rowId xmlns:a16="http://schemas.microsoft.com/office/drawing/2014/main" val="2269020376"/>
                  </a:ext>
                </a:extLst>
              </a:tr>
              <a:tr h="226317">
                <a:tc>
                  <a:txBody>
                    <a:bodyPr/>
                    <a:lstStyle/>
                    <a:p>
                      <a:pPr fontAlgn="b"/>
                      <a:r>
                        <a:rPr lang="en-US" sz="1100">
                          <a:solidFill>
                            <a:srgbClr val="242424"/>
                          </a:solidFill>
                          <a:effectLst/>
                          <a:latin typeface="Calibri" panose="020F0502020204030204" pitchFamily="34" charset="0"/>
                        </a:rPr>
                        <a:t>Mill Folaphone</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mill's Folaphone reading.</a:t>
                      </a:r>
                    </a:p>
                  </a:txBody>
                  <a:tcPr marL="9525" marR="9525" marT="9525" anchor="b">
                    <a:lnL>
                      <a:noFill/>
                    </a:lnL>
                    <a:lnR>
                      <a:noFill/>
                    </a:lnR>
                    <a:lnT>
                      <a:noFill/>
                    </a:lnT>
                    <a:lnB>
                      <a:noFill/>
                    </a:lnB>
                  </a:tcPr>
                </a:tc>
                <a:extLst>
                  <a:ext uri="{0D108BD9-81ED-4DB2-BD59-A6C34878D82A}">
                    <a16:rowId xmlns:a16="http://schemas.microsoft.com/office/drawing/2014/main" val="1433590173"/>
                  </a:ext>
                </a:extLst>
              </a:tr>
              <a:tr h="226317">
                <a:tc>
                  <a:txBody>
                    <a:bodyPr/>
                    <a:lstStyle/>
                    <a:p>
                      <a:pPr fontAlgn="b"/>
                      <a:r>
                        <a:rPr lang="en-US" sz="1100">
                          <a:solidFill>
                            <a:srgbClr val="242424"/>
                          </a:solidFill>
                          <a:effectLst/>
                          <a:latin typeface="Calibri" panose="020F0502020204030204" pitchFamily="34" charset="0"/>
                        </a:rPr>
                        <a:t>Mill I/L Draft</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draft pressure at the mill's inlet.</a:t>
                      </a:r>
                    </a:p>
                  </a:txBody>
                  <a:tcPr marL="9525" marR="9525" marT="9525" anchor="b">
                    <a:lnL>
                      <a:noFill/>
                    </a:lnL>
                    <a:lnR>
                      <a:noFill/>
                    </a:lnR>
                    <a:lnT>
                      <a:noFill/>
                    </a:lnT>
                    <a:lnB>
                      <a:noFill/>
                    </a:lnB>
                  </a:tcPr>
                </a:tc>
                <a:extLst>
                  <a:ext uri="{0D108BD9-81ED-4DB2-BD59-A6C34878D82A}">
                    <a16:rowId xmlns:a16="http://schemas.microsoft.com/office/drawing/2014/main" val="3738767291"/>
                  </a:ext>
                </a:extLst>
              </a:tr>
              <a:tr h="226317">
                <a:tc>
                  <a:txBody>
                    <a:bodyPr/>
                    <a:lstStyle/>
                    <a:p>
                      <a:pPr fontAlgn="b"/>
                      <a:r>
                        <a:rPr lang="en-US" sz="1100">
                          <a:solidFill>
                            <a:srgbClr val="242424"/>
                          </a:solidFill>
                          <a:effectLst/>
                          <a:latin typeface="Calibri" panose="020F0502020204030204" pitchFamily="34" charset="0"/>
                        </a:rPr>
                        <a:t>Mill O/L Draft</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draft pressure at the mill's outlet.</a:t>
                      </a:r>
                    </a:p>
                  </a:txBody>
                  <a:tcPr marL="9525" marR="9525" marT="9525" anchor="b">
                    <a:lnL>
                      <a:noFill/>
                    </a:lnL>
                    <a:lnR>
                      <a:noFill/>
                    </a:lnR>
                    <a:lnT>
                      <a:noFill/>
                    </a:lnT>
                    <a:lnB>
                      <a:noFill/>
                    </a:lnB>
                  </a:tcPr>
                </a:tc>
                <a:extLst>
                  <a:ext uri="{0D108BD9-81ED-4DB2-BD59-A6C34878D82A}">
                    <a16:rowId xmlns:a16="http://schemas.microsoft.com/office/drawing/2014/main" val="3646793106"/>
                  </a:ext>
                </a:extLst>
              </a:tr>
              <a:tr h="226317">
                <a:tc>
                  <a:txBody>
                    <a:bodyPr/>
                    <a:lstStyle/>
                    <a:p>
                      <a:pPr fontAlgn="b"/>
                      <a:r>
                        <a:rPr lang="en-US" sz="1100">
                          <a:solidFill>
                            <a:srgbClr val="242424"/>
                          </a:solidFill>
                          <a:effectLst/>
                          <a:latin typeface="Calibri" panose="020F0502020204030204" pitchFamily="34" charset="0"/>
                        </a:rPr>
                        <a:t>Sep. Vent I/L Draft</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draft pressure at the separator's ventilation system's inlet.</a:t>
                      </a:r>
                    </a:p>
                  </a:txBody>
                  <a:tcPr marL="9525" marR="9525" marT="9525" anchor="b">
                    <a:lnL>
                      <a:noFill/>
                    </a:lnL>
                    <a:lnR>
                      <a:noFill/>
                    </a:lnR>
                    <a:lnT>
                      <a:noFill/>
                    </a:lnT>
                    <a:lnB>
                      <a:noFill/>
                    </a:lnB>
                  </a:tcPr>
                </a:tc>
                <a:extLst>
                  <a:ext uri="{0D108BD9-81ED-4DB2-BD59-A6C34878D82A}">
                    <a16:rowId xmlns:a16="http://schemas.microsoft.com/office/drawing/2014/main" val="3720184271"/>
                  </a:ext>
                </a:extLst>
              </a:tr>
              <a:tr h="226317">
                <a:tc>
                  <a:txBody>
                    <a:bodyPr/>
                    <a:lstStyle/>
                    <a:p>
                      <a:pPr fontAlgn="b"/>
                      <a:r>
                        <a:rPr lang="en-US" sz="1100">
                          <a:solidFill>
                            <a:srgbClr val="242424"/>
                          </a:solidFill>
                          <a:effectLst/>
                          <a:latin typeface="Calibri" panose="020F0502020204030204" pitchFamily="34" charset="0"/>
                        </a:rPr>
                        <a:t>Sep. Vent O/L Draft</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draft pressure at the separator's ventilation system's outlet.</a:t>
                      </a:r>
                    </a:p>
                  </a:txBody>
                  <a:tcPr marL="9525" marR="9525" marT="9525" anchor="b">
                    <a:lnL>
                      <a:noFill/>
                    </a:lnL>
                    <a:lnR>
                      <a:noFill/>
                    </a:lnR>
                    <a:lnT>
                      <a:noFill/>
                    </a:lnT>
                    <a:lnB>
                      <a:noFill/>
                    </a:lnB>
                  </a:tcPr>
                </a:tc>
                <a:extLst>
                  <a:ext uri="{0D108BD9-81ED-4DB2-BD59-A6C34878D82A}">
                    <a16:rowId xmlns:a16="http://schemas.microsoft.com/office/drawing/2014/main" val="152833740"/>
                  </a:ext>
                </a:extLst>
              </a:tr>
              <a:tr h="394573">
                <a:tc>
                  <a:txBody>
                    <a:bodyPr/>
                    <a:lstStyle/>
                    <a:p>
                      <a:pPr fontAlgn="b"/>
                      <a:r>
                        <a:rPr lang="en-US" sz="1100">
                          <a:solidFill>
                            <a:srgbClr val="242424"/>
                          </a:solidFill>
                          <a:effectLst/>
                          <a:latin typeface="Calibri" panose="020F0502020204030204" pitchFamily="34" charset="0"/>
                        </a:rPr>
                        <a:t>Sep.Vent bag filter fan kw</a:t>
                      </a:r>
                    </a:p>
                  </a:txBody>
                  <a:tcPr marL="9525" marR="9525" marT="9525" anchor="b">
                    <a:lnL>
                      <a:noFill/>
                    </a:lnL>
                    <a:lnR>
                      <a:noFill/>
                    </a:lnR>
                    <a:lnT>
                      <a:noFill/>
                    </a:lnT>
                    <a:lnB>
                      <a:noFill/>
                    </a:lnB>
                  </a:tcPr>
                </a:tc>
                <a:tc>
                  <a:txBody>
                    <a:bodyPr/>
                    <a:lstStyle/>
                    <a:p>
                      <a:pPr fontAlgn="b"/>
                      <a:r>
                        <a:rPr lang="en-US" sz="1100">
                          <a:solidFill>
                            <a:srgbClr val="242424"/>
                          </a:solidFill>
                          <a:effectLst/>
                          <a:latin typeface="Calibri" panose="020F0502020204030204" pitchFamily="34" charset="0"/>
                        </a:rPr>
                        <a:t>The power consumption of the separator's ventilation system's bag filter fan in kilowatts.</a:t>
                      </a:r>
                    </a:p>
                  </a:txBody>
                  <a:tcPr marL="9525" marR="9525" marT="9525" anchor="b">
                    <a:lnL>
                      <a:noFill/>
                    </a:lnL>
                    <a:lnR>
                      <a:noFill/>
                    </a:lnR>
                    <a:lnT>
                      <a:noFill/>
                    </a:lnT>
                    <a:lnB>
                      <a:noFill/>
                    </a:lnB>
                  </a:tcPr>
                </a:tc>
                <a:extLst>
                  <a:ext uri="{0D108BD9-81ED-4DB2-BD59-A6C34878D82A}">
                    <a16:rowId xmlns:a16="http://schemas.microsoft.com/office/drawing/2014/main" val="3385498592"/>
                  </a:ext>
                </a:extLst>
              </a:tr>
              <a:tr h="394573">
                <a:tc>
                  <a:txBody>
                    <a:bodyPr/>
                    <a:lstStyle/>
                    <a:p>
                      <a:pPr fontAlgn="b"/>
                      <a:r>
                        <a:rPr lang="en-US" sz="1100">
                          <a:solidFill>
                            <a:srgbClr val="242424"/>
                          </a:solidFill>
                          <a:effectLst/>
                          <a:latin typeface="Calibri" panose="020F0502020204030204" pitchFamily="34" charset="0"/>
                        </a:rPr>
                        <a:t>Sep.Vent bag filter fan rpm</a:t>
                      </a:r>
                    </a:p>
                  </a:txBody>
                  <a:tcPr marL="9525" marR="9525" marT="9525" anchor="b">
                    <a:lnL>
                      <a:noFill/>
                    </a:lnL>
                    <a:lnR>
                      <a:noFill/>
                    </a:lnR>
                    <a:lnT>
                      <a:noFill/>
                    </a:lnT>
                    <a:lnB>
                      <a:noFill/>
                    </a:lnB>
                  </a:tcPr>
                </a:tc>
                <a:tc>
                  <a:txBody>
                    <a:bodyPr/>
                    <a:lstStyle/>
                    <a:p>
                      <a:pPr fontAlgn="b"/>
                      <a:r>
                        <a:rPr lang="en-US" sz="1100" dirty="0">
                          <a:solidFill>
                            <a:srgbClr val="242424"/>
                          </a:solidFill>
                          <a:effectLst/>
                          <a:latin typeface="Calibri" panose="020F0502020204030204" pitchFamily="34" charset="0"/>
                        </a:rPr>
                        <a:t>The speed of the separator's ventilation system's bag filter fan in revolutions per minute.</a:t>
                      </a:r>
                    </a:p>
                  </a:txBody>
                  <a:tcPr marL="9525" marR="9525" marT="9525" anchor="b">
                    <a:lnL>
                      <a:noFill/>
                    </a:lnL>
                    <a:lnR>
                      <a:noFill/>
                    </a:lnR>
                    <a:lnT>
                      <a:noFill/>
                    </a:lnT>
                    <a:lnB>
                      <a:noFill/>
                    </a:lnB>
                  </a:tcPr>
                </a:tc>
                <a:extLst>
                  <a:ext uri="{0D108BD9-81ED-4DB2-BD59-A6C34878D82A}">
                    <a16:rowId xmlns:a16="http://schemas.microsoft.com/office/drawing/2014/main" val="206041813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2"/>
        <p:cNvGrpSpPr/>
        <p:nvPr/>
      </p:nvGrpSpPr>
      <p:grpSpPr>
        <a:xfrm>
          <a:off x="0" y="0"/>
          <a:ext cx="0" cy="0"/>
          <a:chOff x="0" y="0"/>
          <a:chExt cx="0" cy="0"/>
        </a:xfrm>
      </p:grpSpPr>
      <p:sp useBgFill="1">
        <p:nvSpPr>
          <p:cNvPr id="275" name="Rectangle 274">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Google Shape;263;p25"/>
          <p:cNvSpPr txBox="1">
            <a:spLocks noGrp="1"/>
          </p:cNvSpPr>
          <p:nvPr>
            <p:ph type="title"/>
          </p:nvPr>
        </p:nvSpPr>
        <p:spPr>
          <a:xfrm>
            <a:off x="2019300" y="533003"/>
            <a:ext cx="8985250" cy="1118394"/>
          </a:xfrm>
          <a:prstGeom prst="rect">
            <a:avLst/>
          </a:prstGeom>
        </p:spPr>
        <p:txBody>
          <a:bodyPr spcFirstLastPara="1" vert="horz" lIns="91440" tIns="45720" rIns="91440" bIns="45720" rtlCol="0" anchor="t" anchorCtr="0">
            <a:normAutofit/>
          </a:bodyPr>
          <a:lstStyle/>
          <a:p>
            <a:pPr marL="0" lvl="0" indent="0">
              <a:spcBef>
                <a:spcPct val="0"/>
              </a:spcBef>
              <a:spcAft>
                <a:spcPts val="0"/>
              </a:spcAft>
              <a:buClr>
                <a:schemeClr val="dk1"/>
              </a:buClr>
              <a:buSzPts val="2300"/>
            </a:pPr>
            <a:r>
              <a:rPr lang="en-US" sz="4000" b="1" kern="1200" dirty="0">
                <a:solidFill>
                  <a:srgbClr val="002060"/>
                </a:solidFill>
                <a:latin typeface="Imprint MT Shadow" panose="04020605060303030202" pitchFamily="82" charset="0"/>
                <a:ea typeface="+mj-ea"/>
                <a:cs typeface="+mj-cs"/>
                <a:sym typeface="Times New Roman"/>
              </a:rPr>
              <a:t>Exploratory Data Analysis [EDA]</a:t>
            </a:r>
            <a:endParaRPr lang="en-US" sz="4000" kern="1200" dirty="0">
              <a:solidFill>
                <a:srgbClr val="002060"/>
              </a:solidFill>
              <a:latin typeface="Imprint MT Shadow" panose="04020605060303030202" pitchFamily="82" charset="0"/>
              <a:ea typeface="+mj-ea"/>
              <a:cs typeface="+mj-cs"/>
              <a:sym typeface="Times New Roman"/>
            </a:endParaRPr>
          </a:p>
        </p:txBody>
      </p:sp>
      <p:pic>
        <p:nvPicPr>
          <p:cNvPr id="265" name="Google Shape;265;p25"/>
          <p:cNvPicPr preferRelativeResize="0"/>
          <p:nvPr/>
        </p:nvPicPr>
        <p:blipFill rotWithShape="1">
          <a:blip r:embed="rId3"/>
          <a:stretch/>
        </p:blipFill>
        <p:spPr>
          <a:xfrm>
            <a:off x="9540562" y="6217057"/>
            <a:ext cx="1457638" cy="436733"/>
          </a:xfrm>
          <a:prstGeom prst="rect">
            <a:avLst/>
          </a:prstGeom>
          <a:noFill/>
        </p:spPr>
      </p:pic>
      <p:sp>
        <p:nvSpPr>
          <p:cNvPr id="266" name="Google Shape;266;p25"/>
          <p:cNvSpPr txBox="1"/>
          <p:nvPr/>
        </p:nvSpPr>
        <p:spPr>
          <a:xfrm>
            <a:off x="1009650" y="1847849"/>
            <a:ext cx="9994900" cy="4254501"/>
          </a:xfrm>
          <a:prstGeom prst="rect">
            <a:avLst/>
          </a:prstGeom>
        </p:spPr>
        <p:txBody>
          <a:bodyPr spcFirstLastPara="1" vert="horz" lIns="91440" tIns="45720" rIns="91440" bIns="45720" rtlCol="0" anchor="t" anchorCtr="0">
            <a:normAutofit/>
          </a:bodyPr>
          <a:lstStyle/>
          <a:p>
            <a:pPr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Exploratory Data Analysis (EDA) is an analysis approach that identifies general patterns in the data . These patterns include outliers and features of the data that might be unexpected. EDA is an important first step in any data analysis.</a:t>
            </a:r>
            <a:endParaRPr lang="en-US" sz="2400" kern="1200">
              <a:solidFill>
                <a:schemeClr val="tx1"/>
              </a:solidFill>
              <a:latin typeface="+mn-lt"/>
              <a:ea typeface="+mn-ea"/>
            </a:endParaRPr>
          </a:p>
          <a:p>
            <a:pPr marL="0" lvl="0" indent="-228600">
              <a:lnSpc>
                <a:spcPct val="90000"/>
              </a:lnSpc>
              <a:spcBef>
                <a:spcPts val="0"/>
              </a:spcBef>
              <a:spcAft>
                <a:spcPts val="600"/>
              </a:spcAft>
              <a:buFont typeface="Arial" panose="020B0604020202020204" pitchFamily="34" charset="0"/>
              <a:buChar char="•"/>
            </a:pPr>
            <a:endParaRPr lang="en-US" sz="2000" kern="1200">
              <a:solidFill>
                <a:schemeClr val="tx1"/>
              </a:solidFill>
              <a:latin typeface="+mn-lt"/>
              <a:ea typeface="+mn-ea"/>
              <a:cs typeface="+mn-cs"/>
              <a:sym typeface="Calibri"/>
            </a:endParaRPr>
          </a:p>
        </p:txBody>
      </p:sp>
      <p:sp>
        <p:nvSpPr>
          <p:cNvPr id="264" name="Google Shape;264;p25"/>
          <p:cNvSpPr txBox="1">
            <a:spLocks noGrp="1"/>
          </p:cNvSpPr>
          <p:nvPr>
            <p:ph type="sldNum" idx="12"/>
          </p:nvPr>
        </p:nvSpPr>
        <p:spPr>
          <a:xfrm>
            <a:off x="8610600" y="6356350"/>
            <a:ext cx="2743200"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SzPts val="1200"/>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SzPts val="1200"/>
                <a:buNone/>
              </a:pPr>
              <a:t>12</a:t>
            </a:fld>
            <a:endParaRPr lang="en-US" kern="1200">
              <a:solidFill>
                <a:schemeClr val="tx1">
                  <a:tint val="75000"/>
                </a:schemeClr>
              </a:solidFill>
              <a:latin typeface="+mn-lt"/>
              <a:ea typeface="+mn-ea"/>
              <a:cs typeface="+mn-cs"/>
            </a:endParaRPr>
          </a:p>
        </p:txBody>
      </p:sp>
      <p:sp>
        <p:nvSpPr>
          <p:cNvPr id="267" name="Google Shape;267;p25"/>
          <p:cNvSpPr txBox="1"/>
          <p:nvPr/>
        </p:nvSpPr>
        <p:spPr>
          <a:xfrm>
            <a:off x="3238500" y="2076450"/>
            <a:ext cx="899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268" name="Google Shape;268;p25"/>
          <p:cNvSpPr txBox="1"/>
          <p:nvPr/>
        </p:nvSpPr>
        <p:spPr>
          <a:xfrm>
            <a:off x="6267450" y="1428750"/>
            <a:ext cx="5962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B09321-A8F2-98DE-78F3-4D4C9D6F680C}"/>
              </a:ext>
            </a:extLst>
          </p:cNvPr>
          <p:cNvSpPr>
            <a:spLocks noGrp="1"/>
          </p:cNvSpPr>
          <p:nvPr>
            <p:ph type="title"/>
          </p:nvPr>
        </p:nvSpPr>
        <p:spPr>
          <a:xfrm>
            <a:off x="838200" y="184805"/>
            <a:ext cx="10515600" cy="907169"/>
          </a:xfrm>
        </p:spPr>
        <p:txBody>
          <a:bodyPr vert="horz" lIns="91440" tIns="45720" rIns="91440" bIns="45720" rtlCol="0" anchor="ctr">
            <a:normAutofit/>
          </a:bodyPr>
          <a:lstStyle/>
          <a:p>
            <a:pPr>
              <a:spcBef>
                <a:spcPct val="0"/>
              </a:spcBef>
            </a:pPr>
            <a:r>
              <a:rPr lang="en-US" sz="5200" kern="1200" dirty="0">
                <a:solidFill>
                  <a:srgbClr val="002060"/>
                </a:solidFill>
                <a:latin typeface="Algerian" panose="04020705040A02060702" pitchFamily="82" charset="0"/>
                <a:ea typeface="+mj-ea"/>
                <a:cs typeface="+mj-cs"/>
              </a:rPr>
              <a:t>EDA</a:t>
            </a:r>
          </a:p>
        </p:txBody>
      </p:sp>
      <p:pic>
        <p:nvPicPr>
          <p:cNvPr id="4" name="Picture 3" descr="A screenshot of a table&#10;&#10;Description automatically generated">
            <a:extLst>
              <a:ext uri="{FF2B5EF4-FFF2-40B4-BE49-F238E27FC236}">
                <a16:creationId xmlns:a16="http://schemas.microsoft.com/office/drawing/2014/main" id="{FA633AF8-60BF-9613-D7B7-152A2AECB7D7}"/>
              </a:ext>
            </a:extLst>
          </p:cNvPr>
          <p:cNvPicPr>
            <a:picLocks noChangeAspect="1"/>
          </p:cNvPicPr>
          <p:nvPr/>
        </p:nvPicPr>
        <p:blipFill>
          <a:blip r:embed="rId2"/>
          <a:stretch>
            <a:fillRect/>
          </a:stretch>
        </p:blipFill>
        <p:spPr>
          <a:xfrm>
            <a:off x="235173" y="1022015"/>
            <a:ext cx="11829718" cy="5599166"/>
          </a:xfrm>
          <a:prstGeom prst="rect">
            <a:avLst/>
          </a:prstGeom>
        </p:spPr>
      </p:pic>
    </p:spTree>
    <p:extLst>
      <p:ext uri="{BB962C8B-B14F-4D97-AF65-F5344CB8AC3E}">
        <p14:creationId xmlns:p14="http://schemas.microsoft.com/office/powerpoint/2010/main" val="4057444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8"/>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r>
              <a:rPr lang="en-US" sz="3200" b="1" dirty="0">
                <a:solidFill>
                  <a:srgbClr val="002060"/>
                </a:solidFill>
                <a:latin typeface="Times New Roman" panose="02020603050405020304" pitchFamily="18" charset="0"/>
                <a:ea typeface="Times New Roman"/>
                <a:cs typeface="Times New Roman" panose="02020603050405020304" pitchFamily="18" charset="0"/>
                <a:sym typeface="Times New Roman"/>
              </a:rPr>
              <a:t>Missing Values Observation and Duplicates</a:t>
            </a:r>
            <a:endParaRPr dirty="0">
              <a:solidFill>
                <a:srgbClr val="002060"/>
              </a:solidFill>
              <a:latin typeface="Times New Roman" panose="02020603050405020304" pitchFamily="18" charset="0"/>
              <a:cs typeface="Times New Roman" panose="02020603050405020304" pitchFamily="18" charset="0"/>
            </a:endParaRPr>
          </a:p>
        </p:txBody>
      </p:sp>
      <p:sp>
        <p:nvSpPr>
          <p:cNvPr id="292" name="Google Shape;292;p28" descr="data:image/png;base64,iVBORw0KGgoAAAANSUhEUgAABc0AAAL5CAYAAABinwy5AAAAOXRFWHRTb2Z0d2FyZQBNYXRwbG90bGliIHZlcnNpb24zLjQuMywgaHR0cHM6Ly9tYXRwbG90bGliLm9yZy/MnkTPAAAACXBIWXMAAAsTAAALEwEAmpwYAAEAAElEQVR4nOyddZxuVfXGv+t20t3dSEojYVBKdyOCKN1dIilSgiAh3Yg0IqF0S4ogKd3dMev3x7MO755z517Q353zzty7ns9nf2beEzPr3WefHc9e61nm7iQSiUQikUgkEolEIpFIJBKJRCKRgD7tNiCRSCQSiUQikUgkEolEIpFIJBKJnoIkzROJRCKRSCQSiUQikUgkEolEIpEIJGmeSCQSiUQikUgkEolEIpFIJBKJRCBJ80QikUgkEolEIpFIJBKJRCKRSCQCSZonEolEIpFIJBKJRCKRSCQSiUQiEUjSPJFIJBKJRCKRSCQSiUQikUgkEolAkuaJRCKRSCQSiUQikUgkEolEIpFIBJI0TyQSiUQikUgkEolEIpFIJBKJRCKQpHkikUgkEolEIpFIJBKJRCKRSCQSgSTNE4lEIpFIJBKJRCKRSIwSZta33TYkEolEItEU+rXbgEQikUgkEolEIpFIJBI9F2bW192/MrOhwFbAVMCNwEPu/kJ7rUskEolEYvTD3L3dNiQSiUQikUgkEolEIpHowTCzYcDdwPhAf2BC4GLgN+5+XzttSyQSiURidCPlWRKJRCKRSCQSiUQikUiMgJoky8+A54EfApMC28bvB5rZwm0wL5FIJBKJbkOS5olEIpFIJBKJRCKRSCRGQEiyDDGz/YD5gb8Aj7l7h7ufAOwOLAzsl8R5IpFIJMYkJGmeSCQSiUQikUgkEolEYmTYBdgTWA541N3dzAYBuPspcW4hYB8zW7J9ZiYSiUQiMfqQpHkikUgkEolEIpFIJBKJkeEo4AxgYmBPMxvi7p+a2QDoRJyvBKzSNisTiUQikRiNyESgiUQikUgkEolEIpFIJDCzvu7+VRfHhwK/BdYELge2dfePzWyAu38e16wMXN3V/YlEIpFI9DYkaZ5IJBKJRCKRSCQSicRYDjPr5+5fmtlAJLcyHfAo8Ja7P29mw4BjgBWBa4Ft3P0TMxvo7p/V/07z3yCRSCQSidGHJM0TiUQikUgkEolEIpEYi1F5mJvZcOB6RJhPAjhwK/Ard7+pIM5XAK4BdnD3j9pjdSKRSCQS3YfUNE8kEolEIpFIJBKJRGI0wsz61D5bu2z5NgjCfBDwd+AjYFNgSmAPRJ6fbmbLuPuHwPbAVcDmwHZtMTiRSCQSiW5GeponEolEIpFIJBKJRCIxmlDInAwAZnP3h9ttUx1m1sfdO2rHVgROATYEbqm0yc1sDeDXwMvAJu7+Ynicbw0cmRrmiUQikRgTkZ7miUQikUgkEolEIpFIjAYUhPkwlDBzbzNbrt12lTCzxYHtwrO8xHTA5MB94Xk+AMDd/wScAXwPGC+Ofejuh8d1fZuyPTH6kc8vkUgkukaS5olEIpFIJBKJRCKRSPw/YWZWEOZ3A4OAs4Gb69e1w74CewHTufunteMvAh3AmvFdPq+Ic+B8oC8wR/2Ppad570Vs8nxlZkPMbGMz+5WZbWBmC7bbtkQikWg3+rXbgEQikUgkEolEIpFIJHo73N3NrB9wDvA20gV/wd07zGwCoI+7vxnXmbdJK9XdVwIwsyHAasDV7v4ucD/wKrAl8JiZ3RPEeV9gHuA14Pl22JwY/QiJni8j+eudwGBgIDAE+MjMfuXup7TVyEQikWgj0tM8kUgkEolEIpFIJBKJ/xE1eYuJgOmBU9z9P0GYrw1cCzxgZreb2bgVcd4GW0sO4AjkCb+pmU3g7i8B6wNzA8cAm5nZ+MCyKCHoE8A9zVqc6C5E2xyAZIReAdZw96mARYD3gD+Y2azttDGRSCTaiSTNE4lEIpFIJBKJRCKR+C9gZoPNbEB4634VnycDPgWGASuY2fJmdiZwAfBPJHEyM3AsyDO9abvL5J/uvg1wDXAIIs7Hd/dbgBWAKYGTgLeA0+OWHwbRmhrYYw5mAqZFz/pfcWxu1E53d/cnInoikUgkxjpk55dIJBKJRCKRSCQSicS3hJkNBrYFzN0PDw3zZ4HfIA/tI4F9gaWBp4AV3P06MxsKfBf4og029ykJ8wru/mMzuw44GHAzO8PdbzWzRZAky5TAf4CbYnOgn7t/2az1iW7EjCgy4h53/8zMNkDRB3u7+2+ibe9iZue7+xNttTSRSCQaRpLmiUQikUgkEolEIpFIfHt8CThwmJlNDKwOPAqcGxrgf0Qe3MOAN939tfDWnQwYBxHsjaEius1sICLtJwUeA15x93fdfbkgzg/R5XaGu78MvFz7O32TMO+9iOdXT9r6HyTFsli00YowPzTO/whYCMkLJRKJxFgFa1PukUQikUgkEolEIpFIJHotzOwIYCdEPK7k7o+P5LqhwHzA4cAAYNGmyOeKKI1kjzcAUyDddQPOAs5397/FtdcCSwF7AWdEctDEGIBi42QIsCuKHLg1PMnvACZHGzq/cveDQ4JnBiTN8xKwXleRColEIjEmIzXNE4lEIpFIJBKJRCKR+O8xGfAuMB2wkZmNU52oknwGWX0AcALwObBYkJeN6IJXeuvA34GPgE2RZvXPouxmZtPFtSsAfwOOApZrwr5E96OKEIi2eAfwE+AnZjbQ3T8E1gI+BD4GXjKzKYE10abKUGCD0LJP/iiRSIxVSE/zRCKRSCQSiUQikUgkvgFmZlXyziAQp0Ee25sC+yBP8iNKD20zmxxYG+gAft+kLnhlr5mtiYj7zYF7gwBdFnmeb+PuvzezAe7+edz3W5QEMqVYxhCY2SC0cfIpsAXwnLt/UUQizAZcBIwHTAU8gmSE1iqva4/1iUQi0R6kpnkikUgkEolEIpFIJBKjQCFv0Q9533a4+3Nx7mhEnu8dnw9x9w8Lj93Li2u7XRe8SvrpLQ+5mYFJgKeCMK+SPe4ThPm4wJJmdltonO9cfufutDXRGJZDkRGbuvuT8PWmylfRJh83s8XQRtDUwOPAC9Fesh0kEomxEkmaJxKJRCKRSCQSiUQiMRIU8hbDgD8CcwBvmtnl7n60u78bxDnAnsB4ZnY7sA3y2v1d9be6y1s3knx+hcj8jvAsHu7ub6Ckpe7ub5nZOogw38vdDwsZmY2BZYAHkNxMZWsSpb0MZrYgMIO7X1Q7NTvyIn8grquiECrifHBItTwWpfp7fbIdJBKJsRWpSZVIJBKJRCKRSCQSicRIUOiC3wZMC9yOHNAON7Pj4pp3gGOAfYGtgCOBLxGB2a160JFodDtg4/hfw4CngVXjkouA4WZ2G3AusGdBmM+GvOFfB17uLhsT3Y947icCs3Zx+m1gGNLfr66viPNBwMFmtnj9pkz+mUgkxmakp3kikUgkEolEIpFIJBI1VDInQS5/B5HKO7j7v0N6ZQdg57huG3d/GzjMzK4GJgRuaUjeogPJrxxuZhMCP0ek+VVh+wvArxGx/jDwezMbP77TEciZbpvC8zgTn/UymNn3kETQGu7+fGzyLOnuf41L/gW8AhxgZtu7+/PF7dMBSwOvoQ2hRCKRSJCJQBOJRCKRSCQSiUQikegS4YV7AyIcP3L3TYtzUwDbA7sCJ7j7tl3c30gCRTMbAJwKrIsI85Xc/Zni/FTAJkh3/SVgMPAGkmP5USZ77L0ws4WAu1Ci2W1io+Q8pGO+VSXVYma/Qclgb0GJYV8E5gUORhI+i+fzTyQSiRbS0zyRSCQSiUQikUgkAqXWL0gIut02JdqKqZFW+BrA5aEd/kUk2nzZzI5FhONuZjauu29c3twgCfkl8m7/DJgRWNHMTnX3T8OOF4M0vQBYBXmnPwbckMkeey9CmucQlGx2m/AwnwD4PTADsL+Z9Xf3c919VzNzYB3gH8CHwHvAs8D3i6SgSZwnEokE6WmeSCQSiUQikUgkEo15BCd6H8xsAWAPYGVgA3e/pHZ+CqRlPg+wRFM60KWUSniaz4LI8J1Qcs+dgdPc/eP69bW/k22/F8LM+gIDgHtRgs/9geuAa9x9ezP7PnA4MAQ4xN3PifsWQVr24wFPAdcGYZ4bJ4lEIlEgSfNEIpFIJBKJRCIxVqMii8xsCLAtMCXSB/4D8LS7f9JWAxONoE4eh4fuF/H7vMijd2lgXXe/onbvRMBbEaXQp7uJ86LN9kWe7uO4+7txbjzgKGBDYBfgJHf/PMj9VYGL3f2N7rQv0b0ws+8CC7j7SWa2K3Ao8BaS5lmler4jI867+Hu5cZJIJBI1JGmeSCQSiUQPRROL7kQikRjbUSR7HA7cA3wRp4ag5IrHAH9w95faZGKiARQk9FBgL+SJ+xFwq7ufEtfMhRJnLk0Q53Xv7SYSaVYEp5kNA04AZkdew39BBPljZjYO8FtgI0SoPhDfayJglpxf9F4EYX438Gt33y/awTtoo+8o4DflpkhBnA8GfuXuF7bB7EQikeh1SNI8kUgkEokeiNLjx8yWQHqqb7j7U+21LJFIJMY8mFl/4HJgKLAl8LK7f2Bm9wGTA6u7+93ttDHRfSh07IcjqYtPgNeBQcCiwMXArqFh/h3kcf49YIumCcjC1mHAfci7+H7gU5Tk8XVgb3e/1MwmRrIx26Ckn08DS0XSz24n9xOjH/HcL0dzwnUjqmBvpL3/MUr2uj9wsru/Xty3LNo8mQlYx91vaNr2RCKR6G3IRKCJRCKRSPRAFIT5WcCyiLR5xMzOdPej22pcIpFIjHmYHpFJv3L3JwDMbE1gPmBPd7875QvGXAQJ3Q84DXgF2KpoB2chmZNT0WbKw2a2N5Lu2RLoVtK8TEzrATPrAxwGvA1s5u7/jmvfjOPV93oD2M7MLkWRE9eldnWvRyUVNZGZTYoiCG5CGyYfAx8AB6Kmc1Llce7uN5nZgSih7d+aNzuRSCR6H5I0TyQSiUSiB6HmYX44sDgKp/4K+Cmwp5mN5+77t9HMRCKRGNMwGfLUfBHAzNYHzgH2cvcjQupidzM7xd2fa5+ZiW7EYGAu4AzgGQAzWwdYD9jD3f9mZkPc/WN3f8jMNqyu62aMC7xbHgg5ofmARwrCfEPkAV95mQ8F+rj7B+7+9+remGckYd570R+4Gfg58C/gEeAXwCexobJTXHcAQI04vwa4Jo7nJmAikUh8A/q024BEIpFIJBItFIT5JCiU+gDgHHc/F4VXX4e8xg5sm5GJRCLRixGJEzGhciJ6GW1Ozm5mP0SE+T7uXnntLgj8CJi1aXsT3Q8zM2AqpGP+SMiXbAicD+wXGyeDgZPMbDkAd38qyOtuW1Ob2UzAq2a2QeVtbmb9IunoZEiKBTPbCDgLtdlDzWwg0rZeq/43kyjtvYhog0+Bk4GJgYHAS8BX0Rb7xfPdETge2A/YMjzSOyHbQSKRSHwz0tM8kUgkEokehiDE9wVeAzapFuXu/i8zOygu287MOtw9yfNEIpH4lqgle9wNeNHM/oS0ns8CjgP6Ar9w9z/EPbMiuYMXgevbY3lidKLU8y7kT54CHgU2iI3r04F93f3QuO27wLTA+OXf6uaEmsNRwsczzexzd78Y+BJ408zuBjY0s+eQVMx+xSbPHMCcwGPdaFuiYRTSPMsjPfv/AMsAx5rZju7+YZEkdkegAzgIEetntMvuRCKR6K1IT/NEIpFIJHoe7gduACYEpoxjfWJh/2+0ALoc2N/M9myTjYlEItGrEJuPX0ayxzuBHyKC/MMgUM9Gfe9nwBAzm8fMNkVe58OAtbrbszjR/YiNE+/iOTrwF+DHwB+BA9z9YDPra2azoCSKH6CkoI3A3R9AXsN/AS40s9Jz/Cy0nj8FafH/GsDM5gJOAD5H3saJXo6yrbp7h7uf4e6LIdm+a1CbPdrMhgZh3jc2c3YGdkJ9WFO2WlP/K5FIJLoblgmzE4lEIpFoH0pvt9rxFVBY7XeApd393pAR+CoW+7MDOwBHVcnKEolEIjFqhGzFDchbdyvgqVKmwMwWQ0kfN4pr/gM8DmwYhHsmUOzFKLxwhwFHoiTbjwKXxTg7DDgXWBL4KyKfFwNWAwYBC0Y76NPNHuZ1b/gFULTDisC67n5RtOUdkLZ13/g+cwILxOeFQ2Ymtat7MYromAHAdMCkSMf8M3f/JKJmfgesAFwF7ODuH9WfexN9V/F+9QMmcfeXu/P/JRKJRHcjSfNEIpFIJNqEWtLPcVESss/c/Z04thxK6jUrsEwXxHl/d/+iXfYnEolEb4OZLYE8dHcGrgiCx0DSB8V1M6Bon1eAl6LPTcJ8DICZDUGRBn2Bj4AZgHcQ2XhNEOcHINmLORBB+RCS7GnbxomZLRh2rQis7+4XBHG+LLAxMA/wPJLtOCA3eXo/ChJ6OHAp0tyfEuVgOBU4392fiDZdEedXAju7+4cN21qR+8NQ9MPbwEnu/kiTdiQSicToRJLmiUQikUi0ATXC/ChgYWAu5NF4gbsfHed+hIjz2YCl3P3+9BpL9CSMLFoikeiJMLNNkFb19O7+n0LPuvo5BBjk7m/X7ut2z+JE96HcGDGz1VCUwdbu/pSZrY707acFtnD3q4oEsdOjaIMvmto4Kf9Hvd2Z2cIo58nXxHlxbjx3f7f4nHOFMQDRJ90DvIV0yd8F1gTWBS5A0jxPmBLVHgv8DNjT3Q9v0MY+IV01HLgDbUL9HkVwfNqUHYlEIjG6kYlAE4lEIpFoAwrC/CIU+n0RcBPyGPutmc3o7tu4+19jsX8gcK+ZLRAap4lE4yi83r4mykvCsd32JRLfAp8h7ep5zOz5GmHeH9gM+NjMzioJxyTMey8KD9g+6NkPAR5y96cA3P1SM/sMSaKdYmabu/s1ce8zxXhtDclbVN66BwAzmtkLwCPufoq7321KFg5wnpl9FclBAT4s/o4lYd67UYyrPwMGANu7+4Nx+s9m9jSwN/C4mR0RUi07AM8gqZ7GEIT5AOAK4A1gc+D5mC8MimuSPE8kEr0OSZonEolEItEmmNk6wPeQt9BtsVD+I7ApsK+ZvebuB7n7dWbWF9gV+KR9FifGZhSE+VDgCDObAHgf2Nvd32yzeYlEJ4zCy/YK5Dm8I3C3mb0ehHlfYGZgE+QdmYTjGABrJX8dBpwUXrvfAW43swHu/jmAu18dzuj7ACeb2dbufnlt46TbNwYLvfX7kIb6S0ij/Bdmtqy7rxdSbQehDYALzGyQu59dEvq5idn7UTzDGVBb+BdA1W7dfT8zmxnYAnmYf+buHwOHxXXdHmlQi4SYGZgC+KW7Pxvnf4LmtNOb2VXuvl932pNIJBKjG5n5PZFIJBKJboaZDQkt0jqmj5+PVYvdWGicAvwJLZJniuPXACu5++NN2JxI1BFkzhDgfmApYBYUIn6HmS1WyR8kEu1GeBZ/ZWaDzWxNM9vczKYJEuljJMUxL3AhsGoQT2sg2RaAI9pjeWJ0Ijx1O8LT9V5gPpREsQNYGVg6vM8BEefAQSgaYfOGbe1b2YySjr4A/MjdFwe+C+wJrGJm54Wtd6MItLuBXxT3JsYQWAD4CuW8mTlI6s/DqxvgMmAqJOHXCQ0Q5v3i/RrXzOZH781MwAxmNo+ZnQBcHra/AuxjZlt0p02JRCIxupGkeSKRSCQS3YjQRb0a+Fm5OA8MACZAC6LqWtz9ReB8YLI4Txz/uAmbE4kSVbuMxfvGKPR7BZQkbyXkbX4esESSNol2o5LQKLR1T0YbkQ+ifngY8GdEik4NXAw8ARyO5C0Wj/v7tsP+xOhBbJBUEQSLIC/dHwLLAxsBT6F2sVSNOL8mzq/WpL3FpuTvgHWAfwJPxrnXwtYDgLXMbLM4fh+SE1oiPqd3+RgEDwBnA+MiHf6+0cd9HpeNi5K/vtEG+6oIjjtQhE4HcBLwB5SMdBlgdXdfEfglmjtM2rSdiUQi8f9BkuaJRCKRSHQjwoP8CGCX8MiZqTh9JyJpDjOzoYXmaoVXgY8aNDeRGAHRLocC+wMLAg+4+wvu/j5KTrYpWrCfTRLniTaiIEr7oH73VeDHiFS8ChGSWwND3f1SYE5EUK4PbAD80N2/qDzV2/IlEqMFVaQBcA7y0v7S3V929w+Q1/lmwOvAmYxInN8R9ze9cbI+Ih8XAV6sdPaDJH0POCtsnquw9YmYW+S6fgxEPPsH0YbJL4BjgDmLCMbNgUeQ5FRTNpXvxbooQekx7v5M2PkD9H6t6O6XxZxgKPAp8GJTdiYSicTogOWGdCKRSCQS3YOa1iNmdiiwNrCJu98W4bV/BH6EPHX3dfcPzGxS4Ci0MF7W3d9qg/mJxNcwsx8C18XHg9x9/9r5uVBbnhD4ubvf0LCJiQQAQZQuA/wUON/d/xTH+yHSfAuUPO90d3+9i/s79duJ3ovYpL4TGAZc6e5r185X/dZEyBP2unZ7a5vZ7khX/QNgGXd/wsz6u/sXcf5e4GlgvXbbmhg9sFai2q819ru4ZhJEkB8IvAt8jnLcvAcsGpt9jfVdERXxG5RU9zl3P3Ak1w0GZgeORxr838sNyUQi0ZuQO9KJRCKRSHQTuli8PAN8CRxuZkvF4mgL4BYke/GwmV2HwlpXADZOwjzRLlQe4+Hpdj3SAP4YWMPMFiivdfdHkWdZP0JfN5FoEy5FXuVzAndBi5RCxOgpSLd6EzObuH5zEuZjBoJAfAol234S6YH/vLym6Lf6AFs2SUKPzIvd3Q9H7bMf8Aczm7UiRM1sTmBK4OkkzMcMFHJS4wBHm9l8XV3n7q+7+6Eo2us04FzgSGDhIjqmyb5rQxRlti4hDWNmA8sLzGxcYF/gVESYL92mCI5EIpH4n5Ge5olEIpFIjEbEYmBZ4DV3fziOHQ1c4e5/M7NNgL2At4E93f3vsdDYCHlHTgo8Cpzo7k+05UskxmqExEWXnmBmtgaKivgLsI+7P1I7PwPwn/QkS7QLEalzIzAHkhQ6PBLn9QkZC0Nej78ANnL3c9tobmI04Rv6rbmAixA5foS7/7F2vtF+q7I1vHU3RrrUf0VJwT+La/YGdkA5T34HTAHMDYwDLFglD0/0XhR9Un8kGfQasI27Pzmq67s4PtK2310Iybadge2R3fO5+2elLbG5vi5KEHpAbA70y7abSCR6E5I0TyQSiURiNCIIm/NRks8tgUOBpYAlK4LRzDZFGqtvA3u4+83tsTaR6IwiTHwwsBYwOVrwnge8HefWRvrlXRLn8XcaX8T3RIQXYU62uwmjIJEmQl7mQxCxc2Gl+1wQ5zsjHd4kcHo5in5rKBpbpwMM+BNwq7u/YWbzoLG5L3CYu5/exd9prN+KBIp3oYTfQxChfxBwpisZOGa2G/LU/Ry4ARH/VwU5meRjL0Y1NoTTxETIa/wwd3/o297b7Ua2/l+X70W8bzsBuyEZpFXd/eMacT5O5D/JeUEikeiVSNI8kUgkEonRDDNbDLgWSVkA/Njd768tJDalRZzv4u63t8XYRCJQEIrDgVuRDvBEwGDgeeAwRD5+aGZroaR01wK/dvd/tMvunggzmxbo5+5Pt9uWMRWlDjAwPTAJ8CBK+PhJbGDejcjI3WkR552ImyQfezcK8nE48tb9HHm+TgGMh4jp7d39xfA4vwAR6ie6+/FttHcvYGEUeQaSidkJkacnuPt/4vq949yTwLbu/pSZDaw80hO9F+Fh/lcUFfMesIi7v91eqzqj6GcHoWjIGYB/o8iMfwdxvguK3HkYWCX630767LmBnEgkeitS0zyRSCQSidEMd78DeA5JrbxEjLcRjt0vfj8DeaGPA5xmZgu3xdhEIhCE4kBEhL+Pwqq/AywBvImS064Vi+iLgQ2AVVFy20QgdLJ/BzxgZqfUdZQT/38E8f1lEKV/Ba4HbgL+BewQOtCvAQsheYvDUNsdwdMxCfPejSCg+6HolzdRn/Qjd58TeAJYDpg7NgUfRf3apMDiVd6GJlDpOBfE4WTAPe7+zyi7AAcjAnJrM5smrj8YOBMlBj/OzGZLwnyMwUDUZ70fvwMj17tvGrV+9g6UNPd3KCn4tWa2ort/BPwWOBHJB11qZkO8ltA0CfNEItFbkaR5IpFIJBKjAeUiJzwfT0NajzMBvzGzhUAETbF4PgM4GvgIecYlEu3GQsC0wG/c/T53f97d70XJ9P6FoiPGA3D3S5F+/z5tsrVHwt3fALYC1kfe+oeY2e1mtnpoGCf+nyj0oG8HOhDRuCRwMSIe9zSzidz9ddSmv0Sk6jJtMjnRvZgYmBE4192fCSJ9FWBpYH93vxYYaGbDgjhfCNgwrut24rzQMB9qZrua2e7AhMB9cb4/gLvvS4s4/6WZTR/HDwJOQFJvB1fXJ3oX6m3N3T8E9kb91lQoCqLq39pOnIcdA5E00NvAesBQ4KfAq8BVZrZCfI8jURtdDrXhRCKRGCPQr90GJBKJRCLR21GTXfk58CmSAnjNzB4BLgOOMLPd3f3uWIgMA6Z291PN7KJK8zGRaAJmtgSwKbBFzQNsfGBKQlooFvl93P0LM9sBuBlYBzghwq3/HtelxAWdQtBfcferzOxWYBbgVJR88kIzO9Dd322nnb0ZRR1vCDiStHg4IiXGR5uVt7v7m2bWP/SsF0f1/7f2WZ7oRoyLNqg/ADCzdVEehr3d/beF9vItZnaruz8T1zWisVyM+fehTcdhSMd8FjO7193frmxx933NrANpmT9vZn+I44eZ2efAle7+RXfbnBi9KGRODHEwfYAOd3/HzH6DJIO2NLM/ufsaFXHeAzTAv4s20n8K3Bbj/Blm9jRwOHCsmT0ZskFHAS+iDcpEIpEYI5Ce5olEIpFI/D8QId8VYX4+Sog0HS1Jlr8DqwPzAoea2RJmNiHyMD+1TJKUSDSB8GBbEPioi5Dp1xERuWBxrKM49znhdFHem4R5ZxR183546n8XEbbrAMeY2bhtM66XovLSLOp2LpRw+V9BmG8IXI2S054SdbxQSAW86u5r9hQPzsT/jkrirIaPgQ+Bmc1sA4IwR6QeyLN8BWBcLxLHdjchWbN1J+BZ5Ik7NfAHREaeYGYTlG3T3fcHfg6cXDt+lLs/2Z02J0Y/CsJ8GHAKGgseQM9+fnd/B3lqnwIsbWaXwNebLY3yNV1EMcyA8kXc760cErj7rWgzeCbkJY+7f+zuZ2Q/m0gkxiQkaZ5IJBKJxP8D1QLczE4EFkPeOEe5+yvFNTcBqwHzAVegBdPaKDlZEuaJRhFE0R/cffuQC9i/0Nq/CyX4PNDMfuSBuHVS4A1SSqhLhFegm1l/M5savtZb7hv6rpsAfwZ+BGxXkQ+JkcPM+lmgqNvhcbofSvr5mZmtj9rtXu5+SBBN26Boik713AM8NxP/I6IdfGlmQ8zs92Y2E4C7P4+kIfZGXq57uvuhsZkyC3AQkpe4qkl7w9ahZrYb8i6/yt0fCpJ0e0TuL4XI0/G9c96TU+L+ftlmey+KNjsM+AewAEqk+QSwCnCTmX3P3d8CjgBOBpY0s79Ba47ZzTaOY2aTx//7wsyGm9lP4vRjSN7qp3H+82LsuiR+zlT/m9lmE4nEmIIkzROJRCKR+H8iFu5LAscBd7j7B8W5yjvyb8DitEjzhd39vjaYmxiLEfxjX3f/JA6tBuwPnFR4hp0E3AVcaWZ7mNmPzGw14FjkbX5x44b3cFTEVhAj5wH7mNn80NKnDW/87YH7gS1RktURdG4TgpmNg7Thvx+E+TDgQUQyAlwKzGlm56FEifu4+2Fxbja0OfEB8F6jhie6BfGOeWyIzIPaxr5mNmNccioiHB0Yz8xWMbOt0fs4FFg1SPSm17+rokS0uyDysfounwM7AxeinBHHm3T4O0XtZBRP70a0WaOVv2ZVd/+pu68GbI4I9MvD4/xt1FYuBj5poq2aNMvXBU40s9ni8EPA2uF1/hzqdzcx5QmoiPN+KILjtbgmkUgkxkjYiFG5iUQikUgk/huY9KFvAX7k7jcUXpGV9i6xGH4zFhqeXjiJJhGE41cVWW5KojgN8BSwNZIxuNDdN4nzCwM/Q566fZBO6ZPACuGJ1hO0VnsEQqKpIzyg7wTeQvrZV7r7p8V1A4JsGAo8Atzj7uu2x+qeD5M++cmI/N4ckUmvA2u4+ytR30cCGwM3uftKZjYISWEdE39miUpHuAspokQvgbUSaQ4Hfgf0BVZC+uBXANu5+/MR4fFTRKgPAh5HHr0/K7y2GyWhzWxiFFn2K+BeYC13/6D4Tn2Rh/GOwEEhzZIYgxDk89+BJ919U+ucB2dltOFzMYo+/DLGiI+rTaLu9jY3SVsdCrwCTI68y3+KcnN0mNmcwG2IID8bOANJuO0Wf+J7OR9IJBJjKpI0TyQSiUTi/4kgzW8EtgNOiUVGSZivhjQfTy08fBOJRhAE+WbA3MAvo30+DVzt7tsFObkJIs4vqIjzuHdBYELgXeDeuDeTftYQpMhf0AbDT4HngxAbjObbVWLV/rHpsD4iKTZy91vaZngPRnhnTowkbeZHBOjK7v5Ccc08wC+BLRCpMz7wBfAJsHRu8Iw5iH7sfuAl4DRE4C2PCPLbgZ+HTAtmNiUizd/ySLrbRL81srZmZpMC66GNnwtRAubPa8T51sAJ2VbHPIQ394PAv919lTj2dXs0sytRLpwFIgKhuq+xzT4z2w74LfKG38Ddr47j1Zg1J3rv5kWSV68iL/kfZj+bSCTGZHSVSCWRSCQSiUQXGJnHj7vfZmb/RIm7rgFeKEJyJwY2QN6nuVOdaBzu/nEQ42sBk5nZvGix+5s4/46ZnRmXHx5qIT9196/qEkLxDiRhPiJmQh56O7r7s/C1B+EWwHRmdoO77+juX8T1d6DEhXOgKJVEDdGHvo2kNfoCUwJzmdlLVT/s7g+Z2S5IW3cF4DNETl1S6UNnex1jsDHaFFnP3R8EMLN7EJF+CnCsme3i7k+7+0vljUE+djdhXiV7HAR8H/UH7wGXuftrZnY6YIg4NzPbwqXHX7XR4+LvJPk45uEL4GZgDTNb1d0vi7ZSPet3URRNp+feBGFe2DAt8Ch6x/Yxszfc/R7gyyDO/2lmKyEHkNlRUtvcSB8DMKo+J6O0Eon0NE8kEolE4luhFk47JTAQeMeV0Asz+xFKRPcM8GvgHqSruwUic5Zy93+1w/ZEAsDMjkXejG8iKaGHy42gwuP8MOBc5LmZC+FvAVOywUeBPRA58jO0iXYV8DnSjt/Z3Y8p7vkVSg68TuWJnuiUB8LDu3gRRIYfCsyCPPmv+yZiMcnHMQtmtifSBZ/X3V8oZNCGAwcCOyD98t3d/aUmZC0K20r5mL8DEyFyESRrtYW732pm46Kon0OBC4Ct3P2zJmxMtBcRFXMTmiMe7O6XxfGZgMuBv7n7Ng3a04kMjbb7Cepfd0PzhO3d/e7qemBAvb1mP9u7UVvbbALMiXIv3OXuV8TxJM4TYzUyEWgikUgkEt+A2qTyaKShegfwgJn9wJSs6W8oud8EiCh7ATgHWAKFryZhnmgcZtanIiGR5+OLyNtxX5POfkdIAxAbQGcCuyNiZ7eu/ubYDmslTC3xGtJaPhK4DL33q7r7yki26d+obygTf16K+ogkzQLR15aL8y/d/SZ3vx21yaeA04Hlqno0sylMSR+HlX8riZwxDi8C46CIA4C+QeZ8APwVeB9F0xwJ0BRhHv/rq/AwvyHs2BR57m6GktFeZGaLu/t7aENyD7RBuWtTNibah9jAeQhYBZgeOMXMrjSzc9B48SXa9GkkMXTVz8bcFTMbz90/cPcv3f1k9A5NjKI3FojbJgfOCm/zr5H9bO9FtMtqbXMBSgq/SJQLzGwb6JTMNpEYK5Ge5olEIpFIdIGuPCvM7EJgYeAQlFzsdGAYsJu7nxHXDATWB8ZFHkX310PFE4kmUMgFDACGI4/ngYgU3wBt/PzS3V+vbQz1A9ZEEhfpaV7AWsk8ByKN+IFB6GJmE6Lokn7As67EhH2Qd/TFwHHufkrZt5jZYM88B0Cn9joM9bGzIGmWc5HExatmNiPqd2dEmzr/QUk/DVgwveF6P0bmIW5mU6CNpklQ5Fapbb8JShh7I0qquHrlyduAvZXH+/fRJthGwI1xrB+SYPojMAT4TrTxCZGEy6XZx44dsFbC6O+gCMSlgDdQ0s0dvaFEtUU/OxSR47OjjahjUXt8Oa77OYrs+AL1wSuhee082WbHLJjZiaj/3MzdbzGzI9CzB9jT3Q+P69LjfAxERot8M9LTPJFIJBKJGiKE+pyQYamO7YlIsnXCE2ch5HnzHPB7M9vEzIa6+2fufrq7H+PuVyRhnmgHYhL8ZYRcX4rCv+d29zfdfVckY7AYarvjh6fklGZ2EjCDu19QLeLb+DV6BMxsRjObAyAI83FRZMl1wN/N7G4zm8Pd33L329395iDMhyD5lT8ib9M/xt/4etGZhLkQi/GKML8fbU5+hDz4fw+cYWaLufvTSPrmMeBspGXeASyS3nC9H0HodZhZfzOb3cy+GxslBJl3HMoNcouZLWZmM5jZd1GU1xsoGezHtLzRu8PGKcxsOTP7qZlNUrzP0wGTAv+pCPMgFx8DjgdmBn4c3+Utd78o+9jej5FEHo1wPNp1H3d/GEUfLYhk0rZtkDDvU8wL7kUbOrcCF6F3axeT1Bju/gfgYKTLvzUaw+aN+7v8zoneBzP7Huqbtg/CfHdgJ2BHlLT40PQ4H7MR8//BZrZAvttdIwfpRCKRSCQKBNF1K/Ku+SCODUSeuqe5+91mthPSLd8YLTwuBI4CPjezy5IIS7QTQUB+FQTkvUgq6Bjgoeoad9/FzBxFRVxkZqcC2yP5g62L68ZqjzKTzvs/gHvNbDvgceR19xGqpwmBbYErw9v19lhYjockGJaLa5eJZ5IePV0g6qwvIshfR7IWzwTR9HtElB8T1/7blENiY5Q473zPpJ+9HrWNvj+jTekpgefN7Dfufra7nxf91nYod8BHSNrieeQZORPwDkqsONo9I81sYdQOJ0P9whOmhIkOVBJsywBPlkSomd2MktkOr//NbLO9F8XzHQwsjXTsnwfucPcP6u3PWwmMHUV+VX+n2xPVVv8/5rMXAi+hpLpvRhTlp0giZni8b/929zPM7DoUofa8Z9LPMRHvos3G68xsHRSJuKm7n2NKtLwOcJxJzu+Adnia16Lz0tt9NKE2H70A6dlvYWY3dxXtNTYjSfNEIpFIJDpjXUSELeLu75vZz9z9VDO7CngqQmu3RQTjxbGI+AuwNyLTNoqfiURbEARkHxRu/Q5KNvc0yNMMyfN95e67mtkniHw8CXgYmC/J3Rbc/R0z2xrVz0HIG+9L4FBvybLcDpyGPJ83QgvQKZBH7BXAr5LU/VYYDMwD/NndnwIws/WRF/E+7v4Xk260u5LRnVndWBGu7TA68f9HsdE3FLgdETk/B/oD5wNnmtkwdz/R3c83s78hcnoKFI1wXozFB6AN75uhc1THaLBxMeB69J7v6e5/r13yHNI039fMXnT3a4JQNeTJ+QLw6uiyJ9Fe1Ly2b0VSUtMiz+zXzWxtd//nt/lbDZOACyK1gf2CML8IWBT4LpJgORT42MxOdPfH3f2V6sbqOzdoa2I0okY+93H3DldC+Ofd/YsYb69COvu4+51BnA8EdjCz44G3mmqv1Ty0tvGUhPloQLHhNwQ5d7wG/AQ4ANjfzG5J4ryFJM0TiUQikeiMQUi3cQEzOw5YxMyudvc7AMzsB3HNHcWE4hO0S/868j5LJNqNPsD8iMB9rjpYhYgXn/czs/ORB+R96Uk2IsLj6nO0GTY98hC8uzj/oJltCpyBEqVt5O63m9lB7v4xJKn7LTEJ8tR8CcDMNgTOAvZy98NicXcUkhv6a3ljbvD0bsRGXz/gaDSObuDur5mS030B3AScYGafu/tp7v4qItMBMLPFIwJsaWBZd39xdNpnZjOh9/t01B7fj+Nfby66+8sxZzgMONnMfoXI++lRgr0X4nskxgDEWDkIyXS9CfwSJXyeF0VKXGaSlHqjfVZ2mSPgOeAPwN1mtgeSGlzb3f8Zm+i/BLYCJjGznUrSPEm03gvrnLemLyLCP47T70VU3XeAa939w7huTjTf+TVwt7u/2aC9pfb+DsA0yBHhLOARVwLoxP+AKrIlolHvQtJmj6PcOz9C4/AOZnZrvvNCkuaJRCKRSHTG6cDOSH/YgeXd/ZVi4TEhIhgnCvJxHOQd+SSwf5I3iR6CiVCCr0q64uuFcyz2x0NJ6W5x90pWIMndAhZJOqPuLgqP0dPRYvMHwF+qa939kSDOTwNuNLOFXNq11fnsFwp0FW7t7s+Y2TPA6mb2BvIk38/dD4vb5kJ97V3tsTrRzZgY+Aw4Ogjzc4DFgR+ihNtXAqeY2VceibcBTLlHlkaRCku5+6Ojy6CinS6LCKZTKsIcWu910Yavin6iik4BeZc/Cfwgo3jGOCyCZIR+hjadPzezyYABSM7va8K8HbISBfE4EEWR3eXuL5nZFTEPWAa4zt3vjFteBJ4FHgGmRt6niV6OmMNUfdURaKNkqJn93pWDyYF3TDJSa5jZFYgsXws5Ed3h7m83bG+pvf8Fck6aACWpP9/MDik3dBLfHrFJ3Rc4GT3nLd39STPrj/LJnI9kyHZMj3MhE4EmEolEYqyGmQ0Lbxvg68R8zwPjoUnaNHG8mjScgTzhTkO78hegRf3ZuRBO9AQEafM28oZex8xmqXuYo3DMA81s+vLesb0Nm9kEZraRmQ0Kwnwi5JE3hbtfiDTgvwC2NrO5ynvd/RHkoXce8K3C8sdGBJFTJhQrE4udACyJvMl3cvdfxz2zI++n95E8RmIMQxAg5wE3mNnqiDDfJCQi7kNj74fAH+N8dd9LaPG/3ugkzONvVyTnCsAH7v7QyK6r2rO7XwmsHfZvBKyHchp8EW1/rO5jxzDMhpK/3h6E+QbIE3b/iI4Z18z2jA3YpgnzMkfANSj6YRX4OvHfMGD8sL/CvEh7f3t3X6KLeUOilyE2azri93OQBOUbaBPwNDP7jZlNGJcfgeYu1wB/AlZBfXBjhDl87djRn1YE72poQ3Qm4D+IzJ+lSZvGQDgwK/BPd38yjn3p7rehee70wIHAUtkHJGmeSCQSicThwEIRZouZTQs8gbTdOoDfmNma1aQhQgKXRJ5j06EFxvfc/Yk22J4Yy2FdZLoPj8fPkS7lPMD2ZjZrLET6mdmsyBPyTbQASbQwDbAbcKuZTYDkbfqhhJO4+2WICFsOOKgL4vwf7v7TyqO0Uct7AQoiZxjyGr4B+JuZbRIbFBcDpyBy/MdmtqqZHYiIqCHASlm3vR8je37ufqdLr76SBXiiuH5a4HL0fl5Ru+8Nd3+vm2ztgzZ2PovP/UdyaZ84vyowJL7Lue5+c/S9GcUz5uFpNAec08xWQxt6ewdhbmicWAKYsWnDvJUj4G40fu2CNPmr8x+i8W1ZMzvRzHZGOTu+IiTdSsI10fsQHttVRNd8SAJtQ3dfCxHRewM7AvuZ2XB3fwxYEW36bQQs7O4PtsV4zcWmRxEbT4UTwyrAfMCR7n6zmfUfRX+cGAliTBuGxqy+caxfsbF3N/A3tNb9FW3ov3oaUp4lkUgkEmM79gE+dfdPzWx1d7/UzH4RnmOLICmAIwDM7FJX4pyXzGx5NNnoF97piUSjsM6JfDYCZkKL+Nvd/RF3P9rMpkMapYuZ2SVIM3rR+BPLVp5kuTD+Gk8CR6Ikqs8D9wA/JggzAHe/OAiRcwA3s329i4Rv6VE6IoLIGQLchzz2X0YLt9ORDvC+UR4GtgGORxs7dwE7RntPzf1ejKLfGoy8HgcAD7l7KbvTB5EmQ2JDezIkg3GKu59X/p1usnFeYHd3Xy/6yLeARU3JSD/sSmIl2vZEwH6I2H+1fr47bE10P0YhqfM6ysFwGpJD283dj4xzswDboTG5kcijciyPMepA5FG8beXYEYRZ7K37TtFmV0dOIg8CK+e8YMxA0RaORkmVO9DYi7u/bWbHonH4MF1m+7v7O8AlTdtajAuVjNH4iDR/K86vh/LK7O3uR0YExQ7IOeSRpu3tTai/y/H7+yYZnr3N7Hh3v6N6BhE18waK/FsLzck2bo/1PQPpaZ5IJBKJsRYxOXsnPBh+AVxiZodVu+3u/jKwGNpkPgJp7ZZJFL9IwjzRDhQLjOEo2dyOiAw/EjjWzNYBcPftkYfZm8BewALIi2TBgoDMhXHA3T9C2skfIM/mcYHPghDrX1x3EbABsDzwe6vJ3CQ6o+ZZvDnwCgr9XtHdl0WyNssjr6aBLp3VBZBm8NLuvm201/TW7cWIMbfqt+5CkV5HA7eZ2S5xHCS38s+45lrgRkSiXFT9rW5uB8OBlYKoIf7vOMCJ8b9HiHYIknIFtJn+UjfalmgQFWFuZoPNbLOIipkXwCXXcwhKoPgUcH9Ec62A5IQGA5uHE0a38S5mVpcRrKSF5kcJaJ8ujndQSGK5+8bIo3QJFMnzRc4LxhyY9OwXRs4TU6GcLAC4EpX/HtgD2AJF1o7XBjMpxoX9IhLtA0TyT2dmKxOEOSL4QbrsPwambIe9vQXVuxxe+ROacoBUOBW4E7jazBavxlQzmwP1aTchx4UVzWzmGOPGSiRpnkgkEomxEmXYYuAK5F2xnpkdXh109xcRGdkPODjOZ8hqonHEpHVW+HqBMRiFW3+AEtYugbyIFgN2N7O14tpjUcjt9MCi7v7z9NgdJSZBYep7orDU26KuvqgR5xcjb2hImZtRovIwD8+2uZBn8TNx3Nz9ZLTxszoiHiu85O5fwNeEa3rr9lIE+ViRh4ciT+zlUFLd3yEyZLfw5n4F2AR5EX4EXEdro68JaZ5/AX8N+0ARJ1cBq5nZYfB1my6jtmdAmz+PAI83YGOiAXhL//seRJCfDlxqko3C3U8Ffo4I8ouQ9/lRwHvAIsVmX7fMGc1sTuDmIOqrY/1ifjAd8E7lwVuRXkGijWtma8Tnf7v704WHec4LxgBEu/sMbUifD8wBbFxsTlbE+QmoT16VglTvZtssfpZ96MEoAvLDiIz4A9pUvQzYzt0PjTFkVhRF8SrqpxNdwDonVL0SJVW938z2M7P+7v4Ciox6BPUhF5vZBUjPvq+7/xn4EkWrvFVbM49VsLH4uycSiURiLEUZahs76q9GqOKkaPG+KHCeu+9e3DMl0ld9EmmYf9AG0xNjKcxsSbRw+KUrISVmtgvytNnQ3V80s8uQ3uMBqB0/jxKSXRzXdwrdHpsnwCVsJKH3QZRsgLxh/4Xe+4rAnRwtKl4srs9w9lHAzBYD/o42IM92903ieF+gIxbDt6Bw8R8SEgLtsjcx+hFE3qLAz4Ar3P2COD4e2jTZB5HnBweZg5kNcOVo6FZJli5sXRFpqK/m7leZ2VSIeFoQEejboggeUHvdFxgKLBBERfYHvRzVM4zNvlmA/VGC+CMRAfknd98hrp0XmACYGkVJ/CPu7dY2G1FOy7n7SUGEfVGcOxFYE1jX3W8sx/0g2Q8Bfubu93eXfYnmMLK5TJwbBlyIIgp2Ai4q1zHRNw/2BpJ+mtk8qO2t44XclZmdCQxy93XiuvmA3YE1kDf8Peg93ArNI76bfW3XqN71iDS4FfVbtwNTIDnHc4Ad3P0dM5sCRRr8GCUIfRDlPepAY11fYE13f7/xL9JDkJrmiUQikRirUCPMf490Uy80s4vc/TUz2xYRjuubGRVx7tIxnxkYloR5okmYktOehhboFxZt+D7UHl80s9+hcMo13P0+M/sq7tnGzIa4+5ldhG6P9bDOuvBbIC/z24EH3P0VMzsPhbIfihJWroYkWy4D3gGWrBYnuWj7RtwLrIS82pY1s4Xd/e6iP+6PvJo+y7ocY3Ei0kZ9AW1GVYv7d82s0oLeG/jKzI52yad9XlzXmAesu19jZqchzdeH3P0Fk+zVIcgj8zm0MTkUJa79D7BURvH0flRjbNEPfQqc4+73xPnNgGOAtaP739G7SJjYnV7bQXJ+7u7PAicFOfZnM3vM3XeJy65GSe33ifnsjWY2AJgZybW9DDzQHfYlmkVtbbM50tifEM1Vbg3HoDWBS5H3NmZ2oSshLC6pyW6Vm6y8y1E02Q+QJOYaLlk8kArG89X17v6AmR2B2un+KEnt08iBaZPsa1uobYhVm319UeTpa8Cu7v54zHXvQNGUfc1sR5cU6YFmdlS1vjWzGZAX+mLA4mMzYQ5JmicSiURiLEJMKqpJ5cXIK/dw4CZ3/yzOv2Zm26MJxfpm9pW77wXgChlPJJrG5IjMPTs+/93MdnP3v5vZbWY2GbAM0t2vEiI9h5JXLgY8A5zZrMm9A95ZX3ncKNsjjcd93f3fZnZuXP4rtFh7B3gXWDb+Rm5A1NCVx5tL3uZW5KF7BnCUme3srQSQ0yPN1esbNTbRJHYFxgNWRoTjs9Vi3N0/COK8AxEkLwCnVDe26T27GnnGLwC84O4vm9k2KFHwKogwfw/1Hzc14Vmc6F4UXq9DgJ+icXQ59IyrjdaXCweLtc3sS3fftf63umvzz8zmRrr/WwP/iMMToXdrdTP7wN0PjAiJg9BG1EVmdk1cMx3aoMxk4GMAuljbLIJkrfohmasLzOy37n6/SZLnYjRfHGRmZ1bEeQPoE+/WscgZYXvg8iDO30Pt8uX4Hv2Ar9z9H8A/zOwkYBCK7nklvKizr21hHDQWVfJLA1EukPeAL9z98Tj3sZmdgTYgTgA6zGz3WN9+CGBmi6NnMz+KsHy06S/T05DyLIlEIpEYK1Dbhd8XeZWujTxKP4sFUl9gSBDnU6IQ3FWAI9z9gDaZnhjLYZIQugAtMoYgr5E1wzsEM/suSu65trtfEt48qwDfRwvrx0YWsju2olxsmbRpFwF2Ax5D3jUbIV3iHcI7Zygiz36EyIb90supaxSk01AUBt4Pydtc5u6fxmJuGaQN3IES2b4LzAMMoyVvkRJCvRgje35mNhHqz+ZDGyh/9iKhtpmNA6wFnNkT3i0zuxSY0d3n+RbXJvnYi1G1WZOUxb3AZEiuYBzgj8Avom+r+rhJkcf5Okhz+fiG7FwEuAYlH/0Z8GgQZdOjDZ15gdPdff+4fkVE/C8PPIvkF/bJMWzMgpkdjEjyjYH7kef2eiiZ45+BHd39+Wjf1wLTAnMHYd3dti0GzAZcEMTtIJSkfmvgUTS3ughp8G8ZkWf9UZSHA9NFVEX193J+EDBJQ12KZJqejGP9UH2uiuZfPygdvyLiZCPUX/wN2Njd34lzk6L52OPu/jyJJM0TiUQiMeYiFt/rupLMVcf6Iy+L19z953FsTrTwmRiRNhu7+x1BnP8aOKSaiCQS7UBEPxyMSMblo31WIZhTownzp0j3sR+SEHjB3deN+0eqdTm2IkjdrYApEenwx+LcHsAvEIm+gyspVf3+rNORIOr2HrTJMwHSKb8F2MjdPwrifGnkqTkT6n+fAE5OD7Lej4JU7IPaQF/gE29JrUyI+qw5kEdbJ+K8+DttawdF/zodcANqm0e0w5ZE98NaUl190Di6BNpInQQ5WGwBHODuB8X1VfuYHPhlnGtkPAjZhYWBs1CSvo3RGPZlEOfHIdLra+I87hvoSgz59d/JMaz3otjkMRT1ci1ykvh57fxmSK5vq2o9FGP0BK5kkN1uJ3AJ8Jy771y8O4OBndEY8BSSk3GUVLcv8obuj9ZlV7n7et1ta2+Ema0MzObuR1jn3EWDgN+iueyeaAx7p7hvAJoDrwZ8Pzd8R44kzROJRCIxRiImaYcDSyKd0a8TiQHnoTDAX6GkXnuinfbHge8hYnI5d38rFxWJdqIgn55E5NPnKNxydXd/plgUbYc8dmYG3kD6uot7kRQs0RkRcXIgCmNexd1vMrPBFXkXxPnPEXG+q7s/1j5reweKxfBuSL5me+AtJMuxIfJ4WtWV/Gsw6p9PAx4Gdq5CiBuw82uCLBeKoxdFnzUM+ANK3DYMRRQc6u7/iesq4nw2YAfgco/knz0JEYX2W5T/ZENX4rT0chwDEUTiekhv+bbKc9zMpkFtdAeUXLsizjvND5uYL1ok+wwHkIWQx/m9yGv3kXj3SuL8NHc/MO7NzcgxBNZZw7wPIpufB64NT+3qWB+0pvkrMByNy581va6xSOgc/emPgJujLx2M5gfrAzMgrf03aeWKGIrI89Oz7Y4aQZJfCvzO3a+NYwNRxOm6aK17hhfJXq0lg+M5Hxo5+rTbgEQikUgkugOxoD0OaTZ+bmbLxfEvgSvQJPIilJBmL3df3t13AO5E8gvvxPVJmCcaR3iSgRY9oLDqSoN/GHCpmc1UETfufhzSX90ILZ4XjYV15q8ZOc5Di4nBwJagZFixyMDdDwNOQjI3m7fLyN6Aqp1558R517v7E+7+Jtqg/D0wF3CZmQ2NzYlbkQfngsCJZjZXE/Z6K/nr2WY2VRP/c2xALLorwvxOpFN/MlrIbwBcbGYzAbj7W8DqaFPqXGDx9lg9agSRfzwim9aPY0mYj5nYFbXXZZDnKwAhUXAUiog50Mz2juP1vA3dTZj3jXF9HDR+7YySNy6LkuzOFdc8C2yHZFg2MbPfhH1JOo4hKAjzvwLnRZ/0GPA9MxsWY3GV0NaRc0CHu3/cYETELGY2W3ysHDh+jcaD1cxsvJgH/Aa151dRW77Q3U9w97Pd/SR3PyXG7JzP1lDNVwPzAHMCJ5jZMgARWbIFcCFKaL+JmY1f3eDuX1bRCkmYjxxJmicSiURijIMF3P3FIME2B64N70fc/RxgM5QkcUN3/23cNz6SaHkWGBDe6olEowhvsEoT+jgz2xL40N1fd/eTkNfjcOCSioACcPfb3f3cWGhUuqu5SOZrT6xOcPengcOQVu0apuRUuHIcVMT54UgzdrcGze1VqNqZmQ01s1+b2WGozqrz5u4foXb7OyTJ8WczGx4L5r+izZ4lgcMjZLgJzIC8Spdv6P+Nsag2+SLKYABwDsq9sIq7nwLMiBIqTomI8+nj+reQ9MWJwE0N2jtCf9DVseq4u/8TyWP9oqmNnUTzcOWuORbNA39pkj6rzr2I+rCjgIPMbNM22PdVeObejmSvzkL9154oifLpdCbOt0dE5Iw5nx0zUDhUYGa/QIniq2TlRwBToM3gPt7K2zIp8th+3Mz6N9EWTAnqrwbOMLPZio3G/ZC++jFo3lUS56eg5JOXx8ZQJ+R8VjCzcc1shnjGn5nZOGa2jrvfDWyDok3PMLMqWf3naE52Adq02NbMhpd/MzeCR42UZ0kkEonEGIOYCHbaLTezcVESpwOBTYE9gwir3zsvmmysjmQt/tWEzYlEiULaYDjywv0UyVecCXxRTWzN7JfIy+x9lBT06SZCw3sjCimOgcB3gKmBJ4Hn3f09M5sBkQ5rAWe5+3Zx3yB3/7T4O43Ub2+SfqhsjQ2ef6C+9nNEOj2INiWfKa4fhJKD/hqFEG8fx/sg784X3P3fDdk+BOW36I+S6L7bxP8dk2BmMwOvuvsHxXu2ELA3cLC732NmF6NEu1UywiOA+1C+kWdqf6/b5SNq/cFswFB3v+Nb3LcgcD4iVU/oLe9oomuMSorAzE5E0lyHA8d55wR60wIrAye2g8Qzs3WAE4CVq3Yb/epiaJ7wAtJYrzTOJ0c5fDp609iSGDXMbGkUBTcARct+FeudnwP7I8mzU5E2+LJoc2XRJtc2ZnYA0tt/Cti++t8x9p4X9u8A/Mnd340NoR2pzQ8asrVXzJ9jrrQdipL+NfAAms9eB2wRkSiroDF4UmAzd78p7h0A/Ak53SyTfcG3R5LmiUQikRgjEBOJ1YCJ3P0PcewCRIztFov7PZCH+R5eJPQys92RhuW0wFru/lDjXyAxVsM661MOQkkTP0AJfJ71LrTJgzjfHk2AFwpPuESB2ibEX1Eug0nRZsT9iNT9TxDneyCv1zNcUk1ts7f4/DWJ2NMID+uc7HEdJF2xDTAQEeC/RXq7O3uRbCza99rAuQ2GiZfJscrff4rkGBZ397t7Wh33ZMRG8z+QnvKP3P29OG5Iv/58lGdhe/SeVQTfnSiE/CPUb3V7IrrC5mqTZzhwPcoBMT5wI7APcN+o2qSZHQnc4O5/acTgRLegtnGyOPLOfQZ40t3fiGtOQ/PFI4BjS+K8/ncaNB0z+zny0p3f3f9V9MPlhuQNiDS7v6t+L9G7YWZrI6/hL4Ffufuvi3PjAT9Ez39WlAPnGZQE9OGG7CvH2N2AbVHOqO09csMEcX4uWnvtCFxSEOdrA+c0TWLH5v/W3sMTPpvZnGjsfQqNX/9CmuXvFPPFldGYNhmwaUGc90MyPbmJ9l8gSfNEIpFIjBGIkMWj0WL9N2ghtCDwY3e/L64pifPd3f03cXxbYFxE4jzbBvMTYynMbEaXTEh5bHXgEGCNkAXAzJYCfoJCbP/u7hfG8Z2BhYH1eoOXTDsQi7A7gLdRnoMHkcbjBsAgYJEgzqdD/cOWiOg9umE7y42TA5CMyXQoSfH57v5gTyM+YuF7ACIfn0CRPB4EzlpIE/4aYKeuyNEmvLuslZx0AFr7fFacG4bq93lg/fJcYuSwVnKxjYBXkKTZj+ve+mZ2HkpgvL67fxzv4p3IG/YtYPOmN06CNLgC6IfkLQah5HOfIq/Hm+pEaP29S7Kh96K2kXo9kjWZHOUPuRo42d2vjmtPRblCDgN+3xM2pk2SC9ejd+rC2LSspJG+C1yOiLJz3X2jNpqa6CaY2QQomuBAJGu1Wb1tRj83H5LqeM/d32nYxpI4r7zf/wlsV/M4Pxd5nO8I/Nk7J6ls1PvbzA5F87+53f3lpv7vf4NiHFsUyTS9D2zr7mfH+f6Vk00Q53shR5Gt3f2a+t9p/hv0TqSmeSKRSCTGCMTEanu0IN8bkearu/t9xaLiSbT4OR1p5+4ax38HHJGEeaJJmPTI7wyvoU6ngEmA8c1s2pjI34hCbFcCjjCzJQFcevzrBAnQl0RXWB6RCPsDV7v7f+L33ZHO8plmNq67P4fC8fdA2tuNoiDML0Gk/idIF3ol4FYzW7oHLnJWQ4lnlwRerIhEl6zNBShSYgXgN7Ep0QkNEOZ9Y4E5GEmxPGZm65vZHPH/P0RemYujd26k2taJFmJz4fz4eC+S5bkyvBwxs37RH00NTO5KpgkiKF8DDnD3TZvqt4LkrjZOFkME+f7ufo67n4r6iD7ovV82CKfKa576e5eEee9F4ZV9M2oHmwHfBbZC5N2BZrZiXPsztDm0B9q0bgyjeC8eAK4E/mBmi7p7R9E+p0cbxHMhOcJEL0dX41EQyych54rvA1tYoQEe496X7n6vuz/XBGFuZhOb5GEqG6v+FiQ1ODF6z44rxt+PkfPCX5Geeadk0G1wBLkQjWWrNvx/vzWiXvugpJ//RuPWbkWf9YWZ9Y/fr0CRJ30o8sxUf6dRw3s5clKYSCQSiTECESbraNd9APAV8EMzG1h4l5XE+amION8hjn/egI2ZiClR4mPkIXKRdU5++BqaDF8AXIuiJzZz9/nRxHdiYLzq4vDstfQ0HylmQknT7o6Q/AFRV39CupoLoPB83P1Zdz8iruvXtKFmth1aWK6O9Cl/giJohgKr9bQ+xN3PRR5v4wLbm9nCxbkvELG6FQq33rxJ28KT6qsgE3YEHgLuBo4H/mJmh5nZd4BDgQ4kJZKLyW8Jl0TJuWg9eSVKrHq5KbHbl/GO/Q6Y18yuNrPDgYvQu/gAfE1mN+Vp3hcR/KcCU7j7ndVxl47+Ssjb+DhgmWJOkRjz8GMka7Cvu1/v7v+IzZNVgdmBn4U3L+6+FSLNT2nKuMIbfoiZ7Rhl7bDnHeD3SHLjL7EJOI9J43oHtBHwr9xI7/2oNn3j97nNbGEzWwTA3d9Ea5kjkQzHThVx3vRc0CRv9wQi78ctbP88oh/uQZtPR6I8EsfWiPNNkMPCtU3aXSLelYeBS4BNTIlMewzKuV9slJ3k7rMBi6LN6cPNbKU4/4WZ9Y257lXAGijyL/E/IknzRCKRSIwRKMKpTwa+hxKN/QLY08wGBwnWN659EjgYOBGFuXYbTJnqK093j8/jftN9iTEbQRa9HOHVA4AbzOxcAHe/DYXdHhPlR1XoJdoU+g/yQv4aSe6MiGKR8SRK9rgqaIMsQli/Av6ICOkZ6/fXJRoawpzAYyiJ2+dmNj2SmzoLJftyM5u0DXaN1PPR3U9CpPREwD5mtkBx7gtElK6I2nQjKDyLByOCdnbgdHdfHy0e/4BkF65EC/XXge+Z2RRN2dhbUdu4uQct2M9Dmw+zE8R5nL8VJSyeHSVPfB5YrPKWa6rfcuErlEBxJmAhM/tBnPsqbHkaEedfoaiE+ZqwLdEWTIokWV4E9W3RZ9yA+rKfIMkpAJreSI02OQxt8u2E+s4LzOwPcf6vKFLqRjQ23IM2gfujDfbcSO/lqDZ94/fTEJl7J/B3M/uTmc3n7h8hebQjgX3RxnU71hcvAXeFDRuZ2YTRhucH/o42z7d1aa//DhHnx5jZ7ADu/pG779nUO9bVXMbdv4oNir8C8xNzwq48/ZtGbEB49FNDS0LfJeG4JBqHDzOz5eLUhCiKck13vy830f5/SE3zRCKRSPRa2Cj07kxaeZcC8xJhjEFCDUXk2XXA293pVRiT1/VQIsfrTCHBN4UtV3XX/030fIQHyOdBQA1DJN4PgD+5+y+6uh4ldToJeZL9MD1iO2Nk/YGZzQNchbz393T3e+J4P9QXHAus5O4PNmftiLrIsTi7CfjC3X8YhPn9aGPvp+7+kZltjnTOD3H3T7r6u91ka5U4bzCqs+kR4fSQR+JkM9sJebzdgaQv7h/Z3+lmWyvNz77I+/lY5IH5TPm/zWwq9M6tgxKn9UGJoP/Unfb1RpjZ3ChZ6kldtNvHgNvcfUsz2wWRfE8Bq7j7O/EchqCExa/E4r+JdvC1ndY5oe46iMT5C7C3u1de71W7mRURURsm6ThmwpQA+BSUN+SyOFZ5dy+C+rC13f2Shu2q+llDEUazo/epH9p02hvNETaI64ehSKnp0Ib6FfEdGk9QmugemNlZKLH2r4A3EeG8Pcol8Qt3v8vMxkcyaXtGOaJpRwpTnouzUDvdEm2QXgOcg9rwJ4XX/K4oQu0dJKP5XIN2VsmgBwN/RuvEO939keKa+9FG+sqx8d82FP3SMDSXmRfoi3LzfJ0TxMzmQpvUbyHJuXmR5Nws2Rf8/5GkeSKRSCR6Jaxz0rw10S77cOB4j0QyMcm4BPgOcCaavG2DSJ+F3f35brZxHOT9MyfyXjoESW+s7u6vduf/TvQ8mNmEaBH8lLu/GpsqeyEPzcHIS2cd4EJ3/2Vx30QofHUtpHe+RIRfZiKfQLGwGILkbAz4B/CPOL4BcDZK+ngS8jBeBL2TnwI/aLIua/3XcHf/IIiS3yJv1/1RCP5fgZ+7+3tBov8Wkf/7e0NJKwsycThwC/IoHwf1t48Bf3T3o+LaHRFxfhtwqLvf1YSNXdg8CNXdIOBdlKTy82LBXE/suCLqoweghfJ77bC7J8IkYXMn6qP+gjZ2zqnGMDPbDBE2qyCiZGdgWxThsYqPmBy02/utgnzsiwjHidz9peL8ZsBpKCHogXXivLiu0UR0idGLUWyk9kek08doPvZCcW4FFLG4vrvf2qCtVd80lMjJA9zurQR/E6Cx7QhCQmIk3y3b7BgCM1sCRfHsBFwa47AhCbdLgX+6+3Jx7fjAdsBFHok222DvQLTOWg1Jnp2DZOaquU457/kV0t5fs4HxYKB3TgA+EFgCRWvMBQxEUYc3uvtfzGwvFIm2mrs/0q65djH3GoaiSd5CRH8f1A9cDWzq7m/F9XOgte4ANBavHmuF7BP+v3D3LFmyZMmSpVcVoE/x+7nA48C/4uczyCtjUJwfihbGHyIvjdeABRq0tSKWPkKLtGnbXX9Z2lOQjupziFScEYW0XgtMEOenRETpW8AJxX1rIs+RE4F+caxfu79PTyvIY/9R4GW0YHsBLSwGxPkNov47UALQV5BHYf8436chO/sWvx+GCJCZ4vP8iMTvAK4qrpsEaTE/XV3bcN0OBG5HodYLIl39xZFG9AvAjsW124b9R7SxLcyJiPs3gGuK431q15Vjyc7I822GdtndEwvwc7Tx8G+k+XpN9FHbA3NH23geeW1XbWX3OPZPYFjD9vaNn8MQ4fRoPNeLELFf9aGbRTu9DJi33fWcZbS3g6rfrzZStwHmKJ7/SsCr0YetiuRYlkGSKH9rYjyI/7lg8bkPkg7sAN4Dlq9dPx4iRj8Bzqi+Y5YxsyCv7a+A73VxbpNoJ2sVx6wH2Dww5iodiOwft3a+HHOtfqwb7Bk3xrCfxuf+MZfZIj4vHmP/C2hO/udiDnNgD6jPAcDlaA0wcRz7E/KE/wDNySYqrh8HzRerus21wuh4Du02IEuWLFmyZPlfCwqvfa6aUCLt34osWx4YGMcHI5mUn9EGQiTs+QppUf84JzFjb4mFbgfwNnAzMF4crya4JXF+fHHfDMU1fZu0uaeXasEV7/+1KFx9RkSGvYg8yysCZW5ElmwXPyuCrZF3slzUIrL8CUSSzFQc/zEi9e8BdgV2Qxt/bwHztKluF0Mk6Gq17zArkpB5GJizOL5Wu/s5FElwVbxvO9S/U/2ZAAsjkn25dtrdE0u8Lw/GAn11lDT1MVqbgKciAnK2uL4/cBBa7DfWXxXPcijaRL8DyVz8GpEMLyOCpCJOK+LpVmDmhut0BIKrq2NZ/qs6nTee6eD4PC5KAPwW8AVyXtgFkc+Gci08Guc+Q04Xt9PaSO2Wthv/e2JE0t0GfLc4NzXKZdIBHAWMU7t3PLQB0IESmba93rOMljYxQluLuUAHin4CRc1UfdzMaPNk63bb3oXdg4ALUSTHNsQ8tzhvXf3eTbaMG/OAl+LdfzbGsWlq102DEmbejjaIO9CabcY21WE191oAbf4uGZ8vRmvKhZEMTrXxO9HI/kaW0fA82m1AlixZsmTJ8r+UWOzcg5Ikgsilz5F27e0xqViuWjy12dYfAgsBj8SibOVqUZblv65LG9Xnnlro7F3TEW31aFqeI32KSXJFnL8OnN8bv29Dddq39vkQFKpafZ4Ahaq+gojzLt+5rharDdi+fyzIvkeLwCvbyJJIy/wpRPqcCczegF1TR/+0Z+34StFuF6lsLdrrEnFu/S7+XrcT56N6frGwvBZ5bf6iOF4nzvuhRf6bwBRNt4eeWmptcicU6XALMAVKprgZIs5fQV5vy1NsRNGGjT5ESP4WbeTMWhyfOOYMLyG5nur4ViiJXWMEA52jTQYBQ9r9rHtziWduyGv8y2iXgxHpfC2Ss1gAJSH8Cm2iVBFe/RDR/rPo+xrbSEWSUK+GjQsXx6dE8kGfIS/ZQbX7JkARaOmAMQaUWn+wMrB0/D4O2lR5CZiuds98iABep932j+Q7DaRFnG9NzeO8gf8/rJijjIMSgn+KopInj+PV+fq6YgVgPzSvWbura7rB3gmAyag5diGv8fXQnGt7NCdcPM4NRzJoHWh9OU532jg2l0YyQCcSiUQiMToRmn7voXDrG81sE0RCbRLHXkKTtSOBvczsam9Ij67QVq70Kfu6+/VxbiUU2n5MfL7KpVc3OSLV/+bu7zdhZ29EoVP7daK/sq7bbd+oEPb2QYvhi9CCYnvgfTP7vbu/ZmZ94ru8ZGYHIY+yCUo9xZ7+PZtCTcN8K0QurIgI5qqtvG1m2wPHAT8BvjSzHb2W2Mkb1nqM/msp5O10t0eSpqqNuHuHu99qZiujhE+f63T3JqSKBHi/j4+Dzewyb2mjvo8WZsuZ2cPu/nG0ZxCR+iEiUTvBuz/ZY9UnDEU5AWYOW/7h7se6+93xLu0FHGZmuPuJUddlv+GI/F3B3V/uTpt7E2pt8igz+wp5al8A/NLdTzezy9G7NzFwV9EnV4k3rbveMTObESX0fqew2U2JS1909yfiuoHu/kaMwY8hqaar4vqT0KZaU3rrpa7vIWhjZyIzewZ57T/t7p92pw1jGqr32MyWQiTj4YhEnwo4y93vjUvvN7OPUH/gZnZivO9nln8vnlG39V3FO3W0mX2KSPwDzOxAd78r5gD7IEL/2LjnzKpduPL2XBLHM+lnL0a0hao/OBtJtF0U4+zbZnYCcgi40czWRaTpRGj+2Ac5CTVp79fJakc1H3X3z8xsY/RuHQYMM7MT3P3DBmxcIP7vSmb2sru/H7rgX6AopDVQJGdH2ecXffNf3P1aM5sf2DHWkB91o73fRX3WzEAfMzvH3XcHcPfXzeyCGNeWQOT4/XHuAzN7EUWtjosiaRLdgXaz9lmyZMmSJcs3FWpeWfFzCJo4DkCJyQ6nJccyFHkTfIQmmEObtDP+//GIWDiJ8CaOc9OicOCngI2QB9R9wI2kF/G3qdthwFkoyd81wNzttu0b7B6p9yJKTNkB/AqYtDg+QZTSUybDLFv1U3mvDkMSDG/RCr8/h5YUS9VmxgNOj7reud22I3LxfVoa0CN4CwJTNmzXosgj7PcUHo+1ay5DXpErEJ6x8X0WQTI4a7SxHTyBFpOXIxmRl1ESvera76Lkr28Bu7SzDfTGQmeP8+3QBsMtRH4QtLnTaF+FNiA/pdD0jeNDkSb1zeXYX/QLR6CIgklpRXlY0+MvCrN/EW2i/x4lLn4D2JyaZ3GWb1Wf1bMcjLT0P0DzrCpfRD2XxFfAgU33tYUN5Tv1CyTZdi0RzRPHJ0fk3yfAFvSAyMks3dYezkCe4ysQURDFuc1ifPs8xrZ/x89522TrUCS/NfSb+nvkIHI9Wqc10seijYd94vdqnrAMck66D0X8bltcbyP5eWT0Jd0WCYSiCj9Cm7jHRD11ACcX1/RBa977getoyUfNEePcssW1Kd/YHc+p3QZkyZIlS5Ysoyq1hc5OSIZlsuLYREiK5bDi2GKIhF6w6QVRTCIfQ6HhD8Qi+FU6J3uaBhE7HUiC475iEpTE+cjrdnDU7f2INH8SJajrkWHKtBbx/YHZYiI/Ze2ac6Id7I+kMSaOSfNBxTVJmI9Yp32iL7gGmB1JhByNQvMPL66viPPxkRdn2xYU5buNNJTvJcJpy/aLktJdDkzSkF3Tx8LwBIrwXlokaFWH0wF3omTKB0Sdr4kS593VjrpFZO1FsXCcoTh+frxXqxbHFg77r8t+9n+q6zpx/iwizueNY02TzoMJsgBtnpdtd594/j/u4r7fIYK6bWMGIkCfRvJMdZmjfUn5tv+1Xkvi/J6oz8NpbfKVbfiQOP+zNtpbJ87fomvivNr0XaXddZylW9rB4tGfblSbC5TrnxmBXyLJoW2oybU0bO860R7n/ZbX92ckUijdbOfgmEstWvz/adEa4lk6E+eTRf2OU9h8NpobjduNz/2TeKaVXNTUaC72Yb1+gY2j3s9Gm7/3oLwdjdft2FbabkCWLFmy1Et2+lmqUltQnIe8hvaiIB6RF+kjKCR3aZTo7w+IlBq/ITvLSe7WseiZHmmVfh8RSq/XFkL9kKzExjScjLA3laJuDIXUX402HfoDsyDv1w9iEt9j6q+wezgidh9Hur//ofAKiWsqj/N70abAUyRpMqq6HRqLm/OBnYrjU6Aw9w66IM5H9rm720AXxw0RY2+h5KXDinMTAyfHQmjibrav8qbaEG3wLfAt7pkWuBR5+HagheeNdHPivFHYMw6S5NmNFmG2Oto82Sk+l/U7Ry4wv127GMm5OnH+DPLqXrC77RqFTf3QxvPZRDI0NC+4EXmU/4TwOAfmQoTJ6W2u4+PiHa+IkpmiPziPVhLLHAP+x/YQPwfFs34b+CmtSIM6Ud14Euja8W9DnE+FNoJ6zBwny2htGxsj8nTasq301DEKEcyPUCRZ/5b3dbsDCJ03GmaL9+lRFG1W9Q3TxZjxdLxX86EN9ZuL+cFiaN4+bzfZOV3MU66rz5vQZupXwEL1+kPOY2+jdcLVtOZe6VzTjaV6IROJRKJHoKb1ONzdP2i3TYn2w8z+iDSAfwo86O7vxfFKN3whFP43kEJ7190fatDGocCeSFfuTXc/MI73QSGBR6GF8U/c/e4u7v+67Sc6I3Srf4ue74fuvl0cNxSifxxKtvoz4E/eZn3Pol0ORRsm76Aw8A7k9dIX2MTdLynu+TXSM3wfJSz8MrVKwcyqaJHLi2O7Iu/Bt4Et3P3PxbnJkBfWnsAR7r5nwyZXdpRj2S/Ru/8ccKu7P2BmVZKsxdFmyRHIY34Z4EfAku7+SEO2no2SjC74X9yzONq8eAe436UN2u3ttd5Phqb1k+h9OtvM1gPORdI3h5rZYLRB8Y/a+9bt2tW9DV3k4+jyedY0YLdFbfeP7r51g7YOdvdPis8HAHsApwD7ufs7oWt7BHqnbkOk1NRI4mBB/xa6vN1gd5WPo4p2+JGZzYLGib8ir+cPzWz3sHW7bKf/PQrd5crjfDLUPs5298/r73939l2hrz+eK09Fl+2t9k79Am3+3g0cWJ8v5rxgzIOZbY4iYJapnnfZVsxsbeBTd7+iDbaVdpTt9CSUIHxud3+36b50VLaa2SBgFnd/OHTJz0Lz7o2BB6JvmA5ttM6PxoSngUW9yB1jZhO48gd0h63zI5mohYAN3f0qMxsQ/dMMwBWoD3gHkfeXA++E7ROhPCxvj2qsToxGtJu1z5IlS5aq0Hl3eF+0+ztHu+3K0vZ28R3kfbsWLQ+AKYEdEZG6VBybFSUo24pa9vGG7PwhIkU70EKnfn4RlLDnFUSItb1ue0sB5kQeGR3AKV2cnwr4E5pcbkoP0PRD3o+nI2/HiePYxUhK6GaUuHK12j0Dyvvb/R16QkHkwdXIO7v0yPtVtIfr6+87Ikiq879os/0XIommZ1C47T+BlePcICQp82TY+hqKkGlUpz9svPMbrumDFp0/Gtn5Bu0dQuiuI8/8h1F00VZRj3vS8tRbFiVcXbOd7aCnl6K+BpVtcGR9ae1dXKuJPhdJLK1Gy2N4QkQsTIw2VHeMceIEYHhcM060h78iTfuDaXkbdnsfO7L3AiXx+wjpl7+OJIYqWYCp0cbPH+hGLd0xvdBZquWRqOfNiNw3DdkwHtqweQ/4Xhz7Nh7nW4W99wBztrsus3R7O6nmuMdQyw+BIiv/DOzeRJ9Vs6uyo6u8KzNEG/1Vu+uvsMmi/u4AzqhsR1Kd/0S5rkqP88liTFmfIuJ3ZP12N9j7HRRV8hGdpeSuibnMCyhXTwfKf3EtirKcov6MsnTzs2q3AVmyZMniPsJk8QJEMOxWDgxZxs6CtOg6YqIzMCY3byJZgDeRh8DibbKt1CgeiLSIX0Z6qbN2cf3CiCC7qt312tMLLRKnmrTPhzxBXkWSN1a7fipERl/fBlsnRqGWZXuYEhGiP4nP58UEeG7kWfIykpVZeVTtamwvwCZI0ma8+FxuLBwWfcMxwDS1+6YAtmzDIrPc/P0+CgteBskJrR6LuZeIDZNY4I2PNtWmqL5nQ7ZW79avEKmz1DdcP3Es4NZrc5v4E/DP4vPBtDYsD6q+G4rcuB1turR9I62nFloEQl8U5fBh9E8jJFCs3deo7BEKWX8QEUjjxVh6GzBhnB9MZ+J8/OLewU3aWv8fKAJtUPF5YSQd8gXwt+L4ZMAfUVTKzO1uG7290Jk4fzD6iJUatmFtJP3wHC0nj29DnO+CSLIkxcbgUozD+0X7PBiYMY7NBZwac4ZG+4PCrsFow/ESRD6PF8eHo03LO+v9a7sLSuD5dlGPBixAF8R57b6mpPvKtcI8iCT/EPgBkpx8DkVXD0abJj9E3MhLMeZln9B0m2q3AVmyZMlSFhRa+x8Usj5uHKuTY0kojUUFETV/iwnF/Ygo/y1KjrQA8tw+oGGbRkYiDEKJ8d5DmdCn7+KaOZuamPXGMqq6iQn7q0jOYsku+oaJm55MIjL/OqQJPV/t3FIoQd1aSH9wmeLcybSIvu+3u957akFeP48Cx5XHit+Pijo8Fph6ZH+jDXbvjrwaf1uzd/lY9LxMkdStnYugeK++Ak6j0FGvLez60Er62VbPR6TB/jawbnHsd9EOTgk7dwtbH6RFnOVCc8S6LHMvnBd92eNRl28g2Z5R9ssN2joe2uB5K8bYG5FEUPl+lcT5cYTGee3vdPscks7k5zExPtwM7Fsc3xh5QL+CpEMORyH4bwLztLu+e2oZWVscxfHq/R9CyDQ0ZGfZf66K5i3P8d8R51Y/lmXMLGhNUyWnfQltCj4W/cO8DdtSjQvjRN90YmHLXdGex0VOIB3A6u2uv7C3el8WRM53v6Wzo8UCaD75KG1ytqrbGr/PA/wl6vIdYLaR3DMeZE6WdpTUNE8kEj0GZjYbChM/3N3Pi2NTocQ4EwCPuvsJbTQx0SaEZvlPkCbpA+5+bRyfAS0yf+PuZzVkS6WVOQQlppwUebuf5u5vxTVrIe+QW1F29me7+DupYV5DrW43Rx4WjmRO/uPuH0dbuBJ5be8I3Oa1yUxTesVmthjyerweuNfdj43jnbQdzexXyNvs++7+Uhw7B+mXPwcc5alH2CXMrC/yKF8OSa3cHse/1nA0s6OAHRA59buu3rcmYWZLoY0+gGPcfadKqzLOL4ckyKYGdnT3S9tkaqkBuh+wP9KAPtbdXy2vQaHYZ6HF/LpNvF8jQ2iR3gzc6O4/LY7/Gm1KzImSfD1O5gf4RoTu891IHug45Dn4UxSpMSGwmLv/q51jVtFOJ0eJXycErnP3FeN8+X4NRvIWhyLZk629TflxzOxEpPt7LWqXCwKXufu6cX55YEXgx0jq4AHUZzzRDnt7Ogrd/aFEYkzkaHNCtI+R6fB3Ot5Uf1DTg14V2Btt7m/i7jePQuO8vK/tWtGJZmBm/VDU2VpoQ/Bh4Mp2zGniHXsIeUEfhgjzrZA39I+BJ9BG0GLIg3tT4KMm22oX73X53pyH6nJud/+ouGZ+tDl8vbuv35StXaFm7/zArkguZg13v7q4rp7LJXOyNI12s/ZZsmQZews1zwkUSl1pPA5HSf3eQ6FUT6Ad2J+22+4s3dIWRuYhVPckLj1wpkDeuk9Sk2boRjurHf7hyFPhn0hn7nVEJm0CDEOhgGsC7yJSP8Os/7u6fQQRXi8ir7t3gb2AyeKa79LyePlBm+ydmxbJNHVxvH8X3+lY5B05O1oITYdIv02Ka1PDfOR1PWW8Y5dQyJfQ2cP0yBgjtu8B9g5Bi8t/x9g1QRwvPZ5+FH3Iv6o+owfU8fHI4/x8RPT1ASZBi7g70AK+W722q3pAUiF1+Y8+xflforwAS9SuGQdttpXvYb5bo67zH0cfuyydJUVWRpJYb/ANUi3dbN/XbQ6YA3kP/i7GhkuLfrZ85gOBA9DGdZN6++UcZXy0wbtSfJ4QbUx9CVxSu29Y+V2zjLKOh6K515NoHvAu2qSsvGN7QlRE6UVatsvV+JYe51l6fxlZWxzZMy/Gt7ZEFtT6/2XivZqxbMNx7oco38zzaN71djFGdGt7jn60tHMocq4bUDs+I3JM+XUXf2PWntBP1OsLmJeWxvmP221bluI5tduALFmyjJ2lq0EVaRKfHwu0JxFhdhgiIGaNY4e12/Yso60N9GHE5H7jf8t7N0W6tq/TfNjiAOCmmEzOHRO4cRC58CStcPZ+wBoxoTyi3fXdG0rU7Y1EIrogHaZHsgEdKEx0cFy7YBw7rWEbLdruUUjPcbLa+X6I8Juyas+IeHw6FhjXow2BB3rKpL0nlfrYUCwi10Ak6Ql0JiHK37elTYmyujg+BHnqvoWSufWP4yVxviwwXQM2Tvdt2hrSU9416vkzJCn0JvI2u5IGEijW6wMtiPcH5q8dnwttOpyKCNIubaq3pyxd1tHPoi+ttMHLNronrSS1s8axxgmdaAebEokxUZj6IbSI84ow7QNMBExSPv8mbGZEImfWaJ+TFscnQh7SXwIXF8f7l/Zm6bJ+q2e5NZIymA5F+u2ESLt7aCWJbdvYWrbFqi3Uzq9OEudjfKHz2uanKBpui//ybzTeLmhpmF8OnDoqW9D6Z1skhXJqA7bNGX3+dyqbaOU0eRBtlFbONQNRpNF9wJRdfYd29hMje860NM7fIxOY95jSdgOyZMkydhfgJCS3UX3+bkyItweWLY5PGhPiHdttc5bR8twNWA84sDh2C5LnGSUhg4imC5Fm+OxtsH1+RICuXCyK1olF8O61awcib430HhuxHkeYrKJM8s8DG3Zx7nyk9TdLcWy2dk16kYTBObVj06Dkn/8EPkVJCNeKc7PEIuQviEj5Ovleu59FTyl0Tkg4LsWGRCzkdo/37GQ6e/cP6urvNGBvSZJNEQu6vrTInaGIOK8InYoYG9hgnU6CPDEv/rZtDXnzbo40lndB+QOqvq47CfMZ0OJ3leLY7rF4/AJ5wq9cnDsU5bqYIj6n7u9/V99VO50j6nfX4lxFPk6JIiaeRJt9bUnOTiuSZDdCdx9tqh6KSJQ/xXg7FZKaKQnpJjTMS9LjJJR/5VWUu2CZ2rUTIuL8E+DadreDnl7qfQ7aPPlV8XkosEUX/Ww7cln0K2w6ATlYPA78vDaeVcT5s8D32l3HWUbb8x8aY+b0xbGLo496M/qwq+ki31FPKcAKSPLofeDoONa/i+uqzSFDyYsfIiJmutG2aYFfxu/VnGSiGMMuR7KN7yLyfFZamuvrt7E+v9X4UxtDvhN92Q3tbg9Z4pm024AsWbKMvSUWOHuhMKTrR3HdtCi51/M9eaKR5b969v2RHngHSj53RUzSFvmW989EIdPQsO2rIkJ05vhcfY894vN4yANucO2+JM5bdbEocEMXdfQ9JA+xdnzuU0zMZ4xF8cHVueK+RonnWCTci3QRB6IETsuj6JivEFl+DvLOfK1cFNfszjZRe4ZInuciJNHzTNTxPIiMHoY2VD9GkR7r1J9L0/bG78cir+dPEAmyGS1iryTO76Dw4m3IzvGQt/CHKDfAKN+VUdUh3UxKI8/RNeP3MoJgDpS/4FkUiXYFIvKnR+Rkt3u4jQllZM8eEeNXRhteq7wekXvXIzmct+hiQ7NB+y9C+UP2oDNxfggiSp5HyeoepguSpxvtKvv008KO09DmfgdwNjBD7Z4JaXnKT9nuttFTSzEuDEP5Fk6Od37/2nWDEXH+FtrQbrSfLdtBjGH/RI4gB4fdX8XPGYvrV0cSc5/ScMRklm5rA1vEO39U9KvrRn+0BNpUXx/NCW+mcADpaSXsfDT624Xi2AjjP62N1/WiL2skSTiad98SdpYyfQsix5WXY65wHNrwfYI2bPjS2RFkHJTPYFBxflTzrZm6qvMs7SltNyBLlixjT+lqcIjJ5baIOL+xfi0KabuM9mQPH1j7nOGTo7d+hyLd3w7kSbjo/9KG2mD3/MjbdSWkS9wB7FWcXyEWdUu229aeWBDhvA5K+Fs/N320hROLY9VCdOLoBw5qs/2VPWtHv/UkImq+RJIr2xbXrhjtY7eu6qHdz6KnlegTHkebDvsib8z7YvGzXnHdoohUfxr4O0pENUODdpYeQReEHVsiL9cnEdm/BzBR8b0qCYwbm7KzsHE8FBr+Gd+COK++YzEOd7dG6Xi1Ou2PiIaTa9fNGvX4JCIeHop37zFCOiTLSOu4Ih+HRFvYC5F2ldzJUsij/FHk3V9tBN4B/CGueZcGJPLq7ZNiLoY8yr+gM3E+Lpornoq0zrtdRqiwp2y30yAv82Wq/482ezoQ2Vsnzieo+ogso6zjalx4MX5+Ej8XrF03uOhn27KRhsi8a9FGU9X/Xxg2dwC/pzNxvgHaYMmIszGkRN/agbydf4UI9K+jH9C64RVE+raVOGcUpCyap/8bbVYvOLLro81fiYjpbuvPauPA+LTmhqsy4np90RgjXo1nccOovms32Vs6glyO5GPeQZv+q4zivpHm8srSvtJ2A7JkyTJ2lJEMtNWCfDiwHTWPc2AhFNZ2ATBbQ3ZOSEHexqLmqHbX35haUKj1R2gRfCYNeod9C9tG5pU3GZKGqUIttynOzYr0uC/Mic4o67YiNYYgMmHC4tyBUa9b1+6ZH5FlW8bndidOHB6T9ZuB22KCPkvtmn6IaDq43XXekwtB0CJPvDspEuciua4O5FFUElQTIJ3zvyCvvmuAuRuwtfQq3Q2Ru4vE5x0QMX1//CyJvWEoUXBbyF20yKzs+1bEeUN2fQdtgKxTHJsSOCOe+wgkLSLVt0Gexx1R39nffnNdD0Ok+HMx7layJuPE+e+hBf3nUa8fxPs4CG1o/of/UpP3/2HrYGCF4nOdOK88zjtplxfXNJ3b4EiU1PdZIiKS1hx3u6jPU2hjtGSt/+zRm7Z0ln5YEc25pom+YU0UbXQNNWcaNKdYuYnnjyTX6mP+kig6auH4fDGSjJgL2Bt5nP+2fl/5nbP0vhLttIw+Oyje+feBPWvX9qFFnN9EG2Qmw45qHj4QbZquQ81THG3qVFF/C1T2164ZD20SfbcbbBwfmKf2uYrqnQZJ3byD5uIjvPNovbYVtTwDDdbx0BgXbkeyPftEXbVVMibL//As221AlixZxq6CFuulV25JnO8UA8llxfnpiQVdA7YZLYmFXeLY08ibbbx2192YUKh5LsZCYl5aZM5ZNKj3Owo7qwnW0Fjo7EFnT9c1EVH3Cgq/nDSO3Q38o5iMJpEzYt2WsguVp/4NtJJmzob0yzuQ1966iGy8F3mWtEvDfGSbKAO66qOiP/khIprWbne994aCyIYLaXllrYdIht3j87gjWRjNiSRcvlUi4f/BriEoImq8+NwHLTQPIiIfkGzMp4QHEdpIeQMR65NWbaLN9dvjiHNEgn2MvMVXK8aG6YBjqBHn9fEh+pDsb0dev2Xo+tFowT4P0oE9AkmJ3AiMG9dMgcjATYClo633QZvaL9JM4lpDnnmvAOt29eyRPNMbyCt+kvr9bajno6Ovf5dWwtSSRNsOEf3nN1GHXdhXzWn6F+9LTyfOh0Q/dUX0BSXp/xNaxPk8I7m/W4jzaJ9TRt+0Ue3c1CiCw5As1nO0NlVnRgT6J0iypy35AbKM1rbQlUNY9a7tEm3kdgpHgOo+4AfRJ1xNww5DdPaCvgkl/X4JzQ12KfsoRJw/jJxWuowI7o53DUmarIVI+43i2DMounBofJ4u+oCKOO9b/47daeO3+A6HoAjUMrpkn2gXmaOtF5W2G5AlS5Yxu9QWOf1peYZtVxwvk6bdGufvaZO9MwAnhg1vxGRm0p6+uOgNpTaZGb92biJE5nwai4lqUTcAhTdP3gZ7hyJi/DkkGfIecH5xfk0UkvgZWij/E/gzmeCxq7ochyJsE3k8LhW/rw28jjy2x4tjsyJ5jneQ7Mmz5cKi6botnukgpE25avQLlYem1a7rg4inOxG5k21h1PXbJ+r2MeCkOFbPFdAfRSUcVNzXSL+MyMUOpE87bvW/Y7yYLNrrs4gYGxznt417OqIPa4zQHVV7Q9FU20e/dUY72yathfuUaMH+FIoe6Io4P7y4r6uNk8wPMGKdVPU4DNgQ2A/YoDg/GBF7L1IQ57W/8RO0kfUmDUrkAQvT0icvbR4YPysZjhGIy6bqNX4vI0/2QkTuzQTpxIiRKW/T8HymGJeGAZcgOZBBTdrwP9q9RtTXG0SS2hgrqnb9E5Sr4Sq6wcv1W9hXyfAMoDPJWNX39cDvi+MDEeF3DSJSc5OvF5eYA2wAHFgcuwO4ovi8W/RRx1AkL49zfdDGZFskWtAa5yE0R10AzdOfRVFIRwDTFNeuhyTRLm7YxgWQ3NG78f+vQXPvsl+dlpbH+Wr0oPk22vwtk1KvE+2hcswbh4Z04LP8P59luw3IkiXLmFfQ7vAStUHtcBROPyXKKN8B7BDnygXIqTGAPwVM2yb756alP1gu1HvMQNzbSq0tHIY2R65HHtzVAmNiROZ8gryxVkThzB3UvDS62dZqQbZHTNZmQqTYwYhourK4dlLktbdcXFPpXSeB06qjgSg88qJq0YC8Rc6I3wfHRPJ1pPE4XnHvNIg8mb1ddUvnaJj7Y/LeERP0Y+sT3mgTGyNP43/QJqK/JxdGQhZE3/Am0gH9is5RSfPH2LBXEzZ2Ydv5aNF2KK3NnYr0XQsRO3MU12+PSP7TyuMN2FlKH+2DiPHjUPh19Q5NRIs4P72dbZP/jjgvPc6TcOq6PucHlq8d2y/q79PqHJEoERF+eyIP2OsoiHNECu2KJPK6rQ0zEtmQ+C5PIE/D9Wv37BS27dvkmFB/V6iRz0he7EVE4kwXx8r5T7dEw4zC3jI55WNo3rUbRRJuerBTCNKqfxXNDxav24xyy3QAv226TuP3fmhj53IK6S0UFXUf8Kfi2MIUGyr1v5Wld5UYY6u8TKehDalngSVq1+3NSIjzBm0dUPvcB0XH3EhL4upS5CT0h7D3cAo5KRQ52fhcAW0sfIocaHYvjpdRVNPSks1cvx3vVf1/xvh5E3BtfF6LER1B9kQRi0Pa0S6y/BfPt90GZMmSZcwrwHxIbuHC+HxJDGSzxOdpUTKcTuFJaCF/UQwsjUiy1OyuFhfLx6Th3LBx7+Ka+oKpxy42ekqh8yL4HBRyfSZKivIG0nysiMWJgV8g76G3ULjzvA3Z2a/2eRsKLcJon7ujcMorRvF3chE0Yp1sEc/9NiQHcB1KmlgtfEvi/GZGQiw0XbdFn9AfRRXcBKwSfdwxYe8NBHEefdtdaOFxPjSXkK63lKJO+qMNhjIC4ftIc/krWskH+yMZpzuRl15bogzi94vimR9KZ3JxdbSJsnF8nhh55+7fsK1lyPUDiMy5AC3kH0XRPHXi/CNE+LRjkVm9/1X/Pyri/GhCsqldbbcnF7RAH4zG1L1q5+ZGGyefAccXx6t6HxBj25fAMXGsT/F3h3ej3VWb7Rvtdpra+QUQcf4QrXwWc6GxpMwn0oSGdRkttw8imf6FEv2V+usH0SLOpy3rs01tYyAau65HkodVnQ+jSPjbzjKqfh1FFTyDxtZFiuNV/7B4E8+//n+Lz/tH33QGnYnz49Em+/HR994Vz6FPV38nS+8o0V8Oit/Ho5X4831a0kx1ArUizn9Lw/JMwHfRfLWUCBmCIuB+Fp/PRHPzeaO/uBxFzRxY3hfXdvscrNbXrgdcFu/Ou9U4EOfK+dk0SMbxL21oE2V09LTxu6Fx91kk09KBxtmq/50PjWN7Nm1vlv/hGbfbgCxZsox5Bemm/gaFVf4HeTDNyoi7wsfT0i3enRahOmXD9o5Mq3gW5CnYAexTOzdBu+u5NxQ6e+QMRQTj0lW9I/LpFaRZWS3gByLtx9WBqZpsA2HjPjGxvZ0Rk1GOH231MwoPoizfqo73QAlf3wa+X28jtIjz15D3y0TtsLNsD/H7ABQ5cxMidctNoO0QSXV0tNsJUNTBcsX3Sg/zEZ/1cLRx8hzyxj+guOZnyLP0deTpdD4tPft2yfOU7WEE4hwRUXcjYueGKG/RkId5rZ8djCI2biI0c9EC+HM0Hm9fPIcJ0WL+7zRI6o3q+SFN4Jfpmjg/HRFPSTaNvP4q/fzBFB6PKFdE5UG4T3G8HHc3qrX1bq1nOpO3ZyFi/Dm00TMpncmFuxFh8ny8Z1/nDmlDHf8JkeJXIuL8HTTP/XlxzYGILLmNNniX1vqE+ZAe8Y+LYysC50VftT3tHW8rwmkw0tI/CNgSWLK45hfRJ9xNSyO8E+HfRHug86Zv6YW7Ay3ivIw4ugCNF6+ipNXV+5bOFSPWbY+fK0UbvQfYrBibDkLyjR3AmfW2UnzeM645pMm+i5aG9nG1NjtjtOMlo39YqehzK1mZDmDbhuu47A9WJbywgYXQRuS7tb7WgGHx+3hNv1t0dla4GkVSzxfHpkLzmU4b/igPz53ISajHt/ssSZpnyZJlNJdiEjEIeeB0ANcV5wcUv0+KQmzfQ8Tpw8B3Gra31CpeDekrz1Kcn40WcV5m7P4XhXRLlm+s57MR+XU1MGFxfDiSYngVETuNJsOp2TgsnuvraGHeEZOa2WvXjY/CwjuAQ9tdtz250Hnh/ruo3xdiojhXdQ2difO1o26Pb4O9M9XtjzbwKtKsHx7Hy1wNx6GNgBFIh6Yn772hoE2ImxGxezCSQPoCOKu45geIlH4ARaLsTcNe+4zoTdgVcX4YsYGKZJrORJttl9OATiVdkHHA5oiomz4+/zn6s+8Dj0db3YHWQm9cWuN2t7fX4jkOjb7/DBTV9QNahO/UtDzOVy/sm5z00hxV3fYhiMR4x14DVizOd+kIwIih+014ElbPsRp3/w5sjUjTDhRqP2fRTmdAxOnvav1B0xto28W7vxit/AU/RBu9rwJrFNcegcaNRknzos7GRyTSPCiK4MfA95BTwFfI8/yOOPfDdrXZ+DkcrQFeQBvRHWiT74Di2q0QuXc78L022Fpqw1+G5AN/WJzfkRZxPldxfDbkCJLyfSOv23J8XRP4JZpnT9mT6gttLv6G1lywDzAHsChwACMS5/Xo5D1pUK6t+L+VRNcJwAy1c5shL/lys2dftBmwRpP1T2cC+g40Z9mhOL8wrcSfm8exKePaXYrrGpl70zlvyOPIGWRDIlFpnFsAEefPoHXwBSjS+l5SvrHXlLYbkCVLljGvxCRi9hgYzkKL9DKBYn2BNlUMeo1qPRb/f3gMYK/GpOJxOmvplsT5LcgL8tH698gy0vqdAi2AP45JQrXQrCYLwxB58gLSLG6LPikKAbwaeV/MRCuR3xmMSKZOGBOjHjOZ72mF1gJzYNSnIf3PHZA34c3A3HGN1X4u23TdxnN/HVi3dvwnRd9QehdVmsCLxLkVm7S3rK+eXui8eTIdIsrnjc+ToMVZB3BO7b7Gybz6/0GJmsan2CiJ410R50Pj5+AGbJwTLcKWqx2fpRq/gCPjmoXi88LAB2gz4oDac+n2tkRnguxxNO7egsiy95EubCXjNmWMCU+gZGtdJl/M0rnNFv3TvIh8fBhYqdY+qvlMu/IDfN2HIk/t64lNR7RJ9hqK1Lidgjgf2Xdu2PaTEUHTt9Yml0Ke5ZdS6JzTJg9uJL/wKq3cIVfTIqKfBFYtrn0d2K0ddhbt4BY0/5s3Pi+EIhDfpZC5QpFIHwAnN2xjSY49hjZ51mJETfuKOD+dLsjR7Lu6rNtyHLoo2ujLSNbzNWBnYLIeYGedAD8Gjf/VmmYyFGHSQWcngMHIc7txpyA6z2Uq206gs8f5JtHfboWc2WaJvrdMcNrkumxIjFs3orwWg2vnF47+7HMk/3o/2pxsi9MV4jxORQ42M5XHi9+nRjmQ/oKcBHYj5Rt7VWm7AVmyZBkzSlcTQUSQTUBLquWC2rmBtI8oLycSl6BF2zJI++0mROodWlwzY0zc/ooW9jnY/Xf1PW/UWwewa9kO4ucw5P30BA1JshQ2DEHea5eUk8Q4VyX5OYMacV7/Dlk61UnpLfLXmNSuWpzfkRZxPnscmxKFi5eSAk1O1CcH1o7f62Ttssiz5XZEkpdkyZpoYb9ww3X8dR8U78/ktfM9glCnczj7REi65pTaNZPQWtCVXlrVxkRj36U2NhyCyJEnYlyYtnZtRZwfTMOSXYTnbVnHxbk+8e7di+Skqg3KuRAR8TaSmGi8jUR7vRyFMM9ISxv21rDt+0WbmQp5xF7YsI094t35H+wegjzZZo7Ps8ez7oo4Pynet00asm02YvOmqmNEiJ9NeOvG+/QCIkpWRREoV9FA1MZIbO5qXnsx8O/ic9lf7IcSmU/S1b0N2Fu9N4Y2xb7enIzjG6KkejNW1yMvyMeBtdpRx2HHPEjuZj06E02zxPN/Fli0OP4T2rNh0jfa630U3rpR36XdO8S7dTk1jf4so6zfYxBhvkxVv2jcfZ9acuM22ff1xiTa2LkXkfv70town4LWXOZcNF+sZLFmaafd8XtJnJdt+G9Rz88CT9MG+StaG1O7IBL8O8W5PnSed8+H1m33ovwxbVuTh20PIsnZeoTiKB0T2tGPZfkfn3O7DciSJUvvL7UBeVJaSfEqr7KJkcfbW8B5cWwgWrT9PSbu7Vi8D0Ghqkej0PBqwJ4KEQov0Jk4t9p3TbJ0FG2hi3Pz0EquOkICLxSuP3EbbN4CJR59gyAQymeLiPOvgD8Cs7W7jnt6Kd6joSjs/gZElA6pXbdDTNAfRCT6HTFRbsekt5yMD4h+6YLaNcshD7c7kATGhMAKyLvkNhokSei8KXEFin75DElxbNjuNtBFWxiOPAmfRqTSC8B3a9dOgoieLxhFot0G28GFaAG/B9LXfQfJhSxYu+f86B/2a2oco/NCbCDyXjqsds30Udd7Vt8Nbf78kTbKnCCPq3/SOZnXalGHu8bnAbQ0Sice1bjSDfaVY3y3JcDsJtvXQePrKsWx2eiaOJ8Dbag0oQM9JN6lxyg2F9Em2kqIjNwq+ocl4twwFBHREfdN23Bdlu1g6uL3/ZCH4/rQWSIGSS88T5EkuA1tYCiSuTmZlqRgV+T/QOTMcGv0zU2+Y1W9DUGbqd+L57xYVZ+0xo6F49xmo3pGDdk9QbTJX3dxrqvkoHd3VfdZuqzbyREBuhOtzfJp0Lz8LGoe/W229Tvxcwja1Hk5nndFnE+OJKQ+RBvBz1NsXjVkYz0RaTm3KYnzaoPVUMTf8cgJoC3yV/E/z0KONnXnlfp3Goi8+Ku+oi1rB+Tw8ymwU1d2IIms+Zu2LctoftbtNiBLliy9u9QWFscg8uYT5Jm3IaFfjRZHv0H65Y8iTbIPgAXaZHcfpD/bgTwFZ4rj1WRtCkScPw8c3MX9vdITrcG2sE1Mvk6kSCKDPMvOYyTEeRtt3yMmuP8uJpElMbVl2Lx3u+u5NxRaWePvq+qzqtNavW6FFqGvoWiPtuv7RV91Tth0Uu3ccog8rYic65Hn4cCm7aa1KXEL0v7cFnnufwrs2APawNf6rSh5481Ip/wUWgmgp63dMwlwFA1vQnRh+0HI+7JKOLcrLbL/FUYkzk+nQS8yWgvaAUiT/E4kw1LKik2MPB3/DWyKvDPvAK4prumW9krnBbqV/wv4TvS1a8bn9aI9VOR+Jde1QK2vaEJnuxzD9gZ+XfZfvaHEu3Zb7VhFnD9EFzJSNEOcL468ie9E+r/1dnE22vwp895cgcaRCxruW+vz2juAH8XnYWh++zidNycmRNFqN1Lo2bbh+W9CK4HfLiO5ZlwU+XdnlMbG3eK5j4PGhB/Hu/4OmjOOW2sXg5HDTdvnXkha7B1g95GcH0bhEV181yTOv7luZ0Frwk3i86zRZ11IKxHkVhSyIm2yc1c076rWCYPRerZOnI+HNqU2oOFoAzpH982Extypa9eUxHmXc5cm+9za//0z8FDxuZwHDEee6HXJlkY1zLv4/UbEbUxbPoP4fRPkiNN4Qugso/HZt9uALFmy9N7CiF55T6NETdMjD9InkaRJpfc6IfIu/QtKljFXO+wubF4decF2ABtV36mYcEyBwoW/oMjUneUb28KfkJbmTYhYfAsRe5Vm6Ry0PM53bdjOUXnC7xUT3+tohS+Xk7VVyeiC/6aub0Xkc907pP55GtqYJIuuQyYnRwv4txiROF8WeQ89jKQkOmmcN2j3gYgEm4UWwbA38tjdus3PvnqWA9GC7WxaWtWGNqk6oo6nrd07Pm0gG4o6nBxt9m0Zn3dBnqXrooikN2Osm69NdVuSTpcjCY5pkMbnfyjIJeTBfTutzeHbaRFk3bbxixbr/aOvn7l2blpEPO0DrBK27VV8r6WRh+ZP2tFm4/fz4xnvSg9d6NafH615y3rRRtevHZ8NeW2+SiF10aStSKf6dYI4L84PRuPuHbTmCXNGey0TLTZG6sbvF6N57HZ03vydJdrHu/EOHoXmku8ReTra2C6Go3n4J3QhKRXXTI02I35Lg7IGRd/TB2003k2LZLow6m9jCuIcSSa+BKzXznoNeyZCsnJXE5EwZbtBkR4nESRpHEsHmxHrsdyUqvqGadB8a1s0tr2N1l9Vws3vRP+wTptt3zxs+2lxrE6cD2mjfWUU4nUoqustJLeycu3aijj/HW2QjmEk8zsUKfMR4bldO/fd+E6rtcHeqq/sE31TOWfYKer5jKJP64vmZzejDdXcPOvFpe0GZMmSpfcXRIA8QssrbwdEMjyMkj/uTMvjvJo0NzqpGMXgvAIKCfwQ+HEcK4nzqVGoWuqOfbt63g9tmCxB55DlDgoiDy2Ir0SeJV+TZN1sW/VMByNiYW+0cTJ/cc3+yJu0JM7ryX+SOP/muh6GFronFMdKMmI8wtO0dl+TJGn5nhsjhoJOibxwuiLOfxST+r8ibcV2yEtdBvy5+Fx57O4Wn4fTYEgo8mwuvWv6I03dZ2Is6KRPjhIhdUmc19tLN9nbH+mCL1hrm/1RgreJkXfsC8DmxfkqUuaTJus3/nfVp/ZD3vg30EqmOyMt4nzf4p45EBG9Unl/N9o4OyLjnqbl8fpXRJCPE9ccBHwZ58pIpNnie13ZZF9Qs//kaLNL0CJsehTxxShC56Pf+jeRfD36tmreNTdyWmiHFEe1kbYILeL86/wQaFOqA3mXH4+ilO5s0taa3TshgnSpwnYr7B0fESQPIhLnYhrWXh9Z3SBP8h3iHTuBLpKR0tmjv9vqGEmvbFx8HgSsgTYbVi7axyC00f5+2LwUItDvQuR6WyINuji3VdTr/hTEOdpIuQNFRfSo/qInFToT5puijYbx4vNxyEnpE5RYsUqwORGKjLgXmLJBW7scJ5ETwKuV3XGsIs7/Q5EctOG6LZPVPoyclZZB69w3o3+tJ7rfP47v3LCtpTf8zCjfysRxbOp475+p7Ir6nT/esZuaHhdozZ2GoY2xG5BzxU+Ka06Men4MSZ+dhCJpH6Q2DmbpfaXtBmTJkqX3ldqkZxBwBJFAEdgeyQOsjBYY98TkYieCOG+DveXgPC0KmZu0OP/jGIhfpTNx3r/2d5I4/+a6vjImtxXZUHmPnMmImtazNzUBprXoHY42eJ6L5/1pTGpKqZi9kSzPNcCs7a7T3lYICRbkJfQsXXg1xiT+LmCeNtg3bu3zMKSh+HcUJbEUrRDbkjg/sXbfcsjj6J7u/h71iTYiTa8B/hKfKy3jSsN2QLTjfWhg8YZCgD9kRNmS3yPS+Q0iwW9t/NgVERDnAJM12AaGo02Hp6IPuK1sF7QWnzshGYbpi3O/Ay6N+xvrHwqbBtEi7L6WuYhzXRLntb/TnQTZoogsvxLNC1ZGBELllbt/vG/TxDv3BSLQf4C8Y++L/rgtC8xoxw/RmeSbBsnF/JHw3m5HQfOWjWhJQQ1G3oNnAKvXrv1p9Ac/KI7VdVablpL6ffUeIY/z1xApvhit8XlLWtrnf2YUmwMN2Hwh2uypexR3SuwW7Xmc6rk0ZFsfWhshlRPAWhR5IsKmnVH/ejxdEOfVd+hGOxeK/39s1JUhDei34zlPFtdVbXoAIp3fiPb7bDyDJuVjyhw7h0Y7vBJ5QE8a3+HY+F5/QUkgD0fSDGXflcR5F+22+P08FMVxQNEOFkVk5CfAz6MNL4siU9+hTVEcaCN1A1pzmGkRoXsunR0FBqG5xL9G9r41YGs/NFbdAEwSxy5A87Db4r1ao3bP5jToDERnb/jrac0PXgI2i3dsZrQu/xBtSj4U7eXeJvuDmt1D0frxkeiXXo56LdeP20e/8GHYehINRvNk6cbn324DsmTJ0jsKmqQPrx2bP37OhELa54iJ8Da0PAR2ikH6SxRy1XTSsXJw/jvywOqIAfjw4roVaRHnKzVp45hSkPfw64QGPJ01CSsSchfgF22ybyAKk7uRkFZAHu9PxgSnzNS+NyJ0jmp3vfbkMqpJK/Im+xwtOqsEX/3QZsmtyNOsaVLsO7FwqPSUB6AFzsNoYfxc9AFb0tr4mRKRDq8zYnLQn8Skuds0K4sJ9wCKEFpE3r6MQmy/QhE/VnzP2yk0rrvRvrmQJ/N6VZugIJDCvo+Q1/kU9XaDCMnbm2oLaCH+VIwHv0QeQS8Df6+3a+T59hqtcPvxEWG+DQ2SZGVbiHfnq/gOU8dxo0U8zoiIqWeoJQftZtuWRJFlv2PEPAZThN0dKPKoDxofDkQbUm+iBeaZNCsXUY8imjPqdg2U5O2naDH/BBonOugiQqabbaze6bvRPGqT6AsmQJrrz6Bx9lrkADABrc3hU9BCv60EHiJCOoAli2N14rz6npOG/W1J7hbv0uB43mdWbbiL6xrPx4M8LZcoPo+DiNqXon6fAvavnd8ZzWWOI0i0hmwdhoily+LzIGAqFNlTzcP3KK7vX/w+G/JQn4MGZduKNjc83vl/Iq/WR1FU5C2EowdKIP9U9F33IbmZJMe+XT2fjNaKyzKiE8P3Ecn7Fcof8mT0fd9p2s6wZ+Voqx8jB4rN4vgeYVvlaFURuYNoSNILRcNNWzs2NfJ4Xj4+n4dyScyGIufeie+zehd/r0nifEi8V7egDYl10Ty7Azig+C5bIAecU4AdaSBarmZnOVf9PopCrvTsF0LrhreA7Wv3TUpnh4bsE3p5absBWbJk6fkFLSJWQ55C08axy9FO9tDiuvXRIqgkdnZGYXbnAXO0yf4hiBT7W9i4fDE4n1pctzythf1i7a73nlwYySIceV/ehEIC30KEeRWSPzsinHZpxwQCeeo9EZPgSiriJ4iI2DE+Dyqu34RmvfF6lWcSrQXikFhAnIo8rspF/dbAZ4iMPiXawyNoof+1vmmDNn8fbZDcFe1gGSQHMAUiewcjUv19RKiWxPk5iJiqe313W9I3Om/6XRW2LRXHJoi67ACOL+6ptD9v7e72i4iN94mcD2hj6nbkuVS+S4cgYufPdE2cN6JhHvX4DNo4m7Y4vn/YV4+GmQPp7N6EJEcuRSTJDA222XLhNTj6z4cRUbpArZ1UBNMM0cb/1ES/gkjPj6KOyufep3y20TbeAr5XXDMlWtBPRPuI0r2jDxiHFmHzBNpAOzyOzxzHjm3StsLGgYice4MgzuP4jEjG4sE4dz+SljkL9bvTtcPeLuy/m2JjKo5VxPkdFMR52X4asGtkc5lTwrbvxOeyv1oy2vI8DdbfsOiHOmiNAZcgT80lwqbLog0cWdw3DiKbOuhCI7gb7Z0Akc5/BCaLd+ewOLcA8i59ikIuglp0Z5PtoPhffaPfvJvOEUZ7oAjEv9Py4J0AbQSMV1zXJPE4MtnJHisBgcbUx9HGc7lRUnqhD42+YZ1oK415bXdVd2je+hqa496PNndnRcT/+cV1jeW1QbKAfwkb5q6dWwptrK6N5jtLF+eOQxsAHcBybXj+1Ri/C4qUmr04t0HYtdWo2jDNe5gPQZGdxwNH1M4tiNYQb9HZ47yMQOhVa7ssI2kH7TYgS5YsvaMgT6FX0S7rDci78ru1a9ZBXlnrxOeJ0Q7xHk3bW7Nra+RNOictou6XiCzdo3bt6sAfmh6Ue1Oh8+KxTiDujOQOPgEuL45PgGRb/lkuRLrZzvoCfPWYkE0bn6sJ2p7xeXjYP3vtvu4mHiejpvfc0wstwnx4THwfQQvNlxB5U+oUr4YI5/+gRf9RtNEjC0lBvIhI5YuBs+J4uWirtFVL4nxiWqRkY2QOIkseR+TIanTeqFwEEagvI53Ni1EUTbeHsCKS5nO0CKsiiyaOZ/wu2qAcXFx/KC3ifPIu6ry7NcwHIdLxGVokc/XerYe8H3+Lxqz1aYViL4c8yp6Lem3M461ob/1pJccbhhaVr8X36fSci3umLH7vTgmGccKWD4GF6rbXbJsx2sAl39TuG6jb6v36OfBqcXy2eO+3BZYpjk8R9b1dU8+/+N9VfzkQ9a9vIi/4wbXrfo4W959EP9AB/LphWzslPyza4LbRTpavHV8o+q+naKMmOCPOZTYIey+hcPgAJkFzxAeqfqxBe3+AouU+Q1IWh1MQXyjq8zS0oVYS5+MiT86mN6N2RPPsV9DGyGTFuUUQcf4QnYnzxpM/x+9VfzAR8oA9oG4PSlj8AbDVSP5eY/O3mu0LoiiThWjNV3okcY7ywXQAC9fqvewzhjVtVxc2VPrahiKRr0IJgZdCG0A3IkesDhqOnkUbjK+iefX2o7juoGjLlfxN3+jPzkIbxW3zfkabaXfSmjtWOS12j88TEM4JTb5XI7F12ejDOoBD4liZE2JB5Ej4OrBrO23N0o3toN0GZMmSpWcXOu+W7oC8yT6mpokW52dABNqTaOH2V7T72hYP88KuPwD3F5/Xp3PCvHGJELvafUmcj1gn5QJid0TU7Utnz8HfR/1eQCSBAs5HRFojhFMxER9QTMqWRsTOD4ENKQjzOL9OtNv5GqzPWRBZcCA9nDhHkQKLFp8HI3L5Jlohy1ciIvUZOid+7cOIXrxNe4uUC6Ll0cbfR8DviuOlrMgtiHzYtbSdZhf1fZDH411EYtp63cXi4nhERp+HNn66dVMCWBgRN4dTeBbHuSkQef8hIxLnhyBvvVtoWPMTkUyPoMXmqsXxYYgw/zfamLg3+oaTidwXyNNoQiJqpmG7B4ZNB9FKqD0MEaTvRNvopP1MF6RlN9u4OtpkuorOMlf1jcuB0UZfppDgaKgeh8Z7Mkvt+JbRLmxkdYXCxE9GGyeNbPp2YUOdOH8DOTOMIBMErBnv4JXd1QeMxMaKCO8qQekk8dxPq7cP5Cl9VVf3daOtZR+6Z9TXcRSyBSgJ/BtIY30bNE5fToNzmbKe4velEAH9Zdg2T/l9gOkQcf4WNa/Ish01ZPfUaL3wVdTlkNpzXxTNFR4C1m7KrvjfM0Yf+mM6z2unQNFFh3RVZ8gB59Imbe3C9tLec5H2e9UeHgbmaqd932D7cmiOuC5dE+ZrAD9rsp12YeOh8ZyXic/D0Hrmsto116K5wv10Y8Rhzba50RzmdxSygHQmcat6PTLa8lRo3JgWEf1rFdc2Ln8VP/8E3Bm/r0XnnDx9kfTYBU3V6zfZHDY+EO9YJc9SRkosgKKPrqWHruGy/D/bQbsNyJIlS88siBDbES3KqnD6vZDnzavI23yWON6H1mJpAbQovhctghr1HBrJdzkaeCp+X7M2OPdDHlAn0qDeY28vyMPhrXjOXyAP8p8X5w9BXnlfIK+Mq5tuC/FsHwD2js990eL3pbCrOt4Hhd7fEm23SVJ0HJRI8lkU/tsjiXNEanyEvBurSe+WSC5kuvh8GSJEl4/v8zo14rz4vV25DUq5iB8gEuc9ik1AOhPn/0Kbf215HtFm70cbUXX95bpnZP1zd3mYL4oI8Vfo7FlcklBTMnLi/IRoK417wsUzvwUtfH4Yxx5FHk8z00pIdwZa2C/djufehd03I/JpN1rE+VBaxPmdtCl5ZmHjqsjD+WoK2YrifavmCLvEOzdxk+8V8hbrQETyDMXxXYBb4/cR5CGQpuoV0d7nbbhOR0biD0RE4xvApkW7LfvY8Yu6b5IorSI6TqJIRBrntkfjyLKjuL/pzdTz0VhV9QsvA/sU53+JNtM+R9FSbZnX0plYXDbes6+ATap6K96x6dBmawfFGNy0rUj26goka/FV9F9Da9csijYsXwW+35B9i6CNsn8CO9TOjRv96YMUshe0EpzfApzXdJ2O5Hucgjby1kSyJz9B3vvv0KbNvcK2Lt9jtAH9HPLUnrBoB4aiLi9Fa7bGc4YUNm4b71eVRHcOFIHwDkWCbURg70MDjmFRP30QWX4ltcTptCLOpqLlKDQVmsO+jKRc/o3WRE1uTo5sDFsfzQ/PK/qGqi3Mg5xxDm/Kzm9hr8V79iSKVK3y3NRzMXR7dF+W9pS2G5AlS5aeV5AH2M0x2J5bDMBTIM+R3RA5dgMwa5zrQ40Uo+Ed4vpgVwzAv0ALtT/GJGi34po5EfE3gkdOlhHrMn6vkil+Lz4vgrwdn6GzpttEyDt5HNoQbhnt+ApESldhfgsh4vx1pGk9DfKSvCsmk40RT7SI3HHiXXqRHkicIwL0EeCU+DwALdBnp7Xx8Nt4/gvF5+/FO3cfhTd/m+wvtde3RKGtVd0vG/V+L7BycU9JnI/gvdug7ZNEPe7TlQ0o+e4yDdqzJNpwugURMpfQ2bO4HAOmjPMfIvmTUuu6EQ3z+v+L33+IIiQqguzvaFwrr5k2vl+3J1L9BrvLBdmliLjbnRGJ8zcRWdLW6ChgFUScX0Vn4rxaSA5BZMQVbbCtHyL230YRRTPF8aMJ0ryLtvJdtIFyMTBb0/bGzwHR1y4T/UFFOg5CXqV14ry+udb0BuWswG8QCfo8GoMXRGTk5Ih4PrwrWxuyr9zcmxmNUdVcZnYkz/Q2cGBx3cDoIwZTi5hq2PaybS4T/fBnhf0lcT4T8qBvp8fueMhLdwLgGESO7c6IHudLxTvW7e0BRUm9izZ1Fi+Ol2NXJeV3Op2J81mQE8gB7arTwpbZEAm6Ca012qzx3c6llluiYdvKd2whFOU5bnFsLSRzcxWaUwyO606PfqORvrbeN9ber3HRhtlraM2wK1pLPlq2mzY893sponXi2NRI9vBhtMa9jvAmRwT0hcj54xRqUWndbGs5hs0BTE+L3J8ZeWV/BlwVxwYirfa7kNd2dX9Tkm1lNNdiKBpi2uL96oMiIZ5CzlcVcT6g9nd6pDRSlv9n+2i3AVmyZOlZBU1wq4zxSxaDRf/adXvSIs6rxecQtOvejuQi5eC8QExuy3C1a9Ak+GJai84FkUdJ6aXXI4jKnlTqkyvkdXw+nSUr/o+9+w6TqyzfOH7PpjcSAkiX3kECIh0RBMQGiiICKioWrKBSBUSw81MBu4CagHQQqdITpPfQew8l9EDo2ZnfH/dzMu+cnd1sMHPOTPb7ua5zbfbMbPbZM6e87/O2DaKQ85Ckb/b2syXEvlsUyrJ5VIfJSf675J6D3XKy/By1eA7ovo6t2jhxHoXb5yR9Pr6/Q9LHs/jlysVNco/NLO615cTDDDkJUVpP7fg6Rl7Y63pJn1djMnIbNU+cD8n/Py2OtUcFLu5nl8i9SlfLv0/u+XK5kqlbWhjflnJv5yPi+6/EPfUM9Z04Py3Og93VZAhxgedCPnE+WU7wfjX/HrmS/5ikj5Z0vqZJh7QB50zVE+cLx75Rkr4v9yQrfUox9ZE4l8sU16jgOWDT4ysnxF6SK+xLyAne85L3pOfownJvvTElnQdj5B6Z0+Jamy7pl6ovTpn1OJ8uP+sK753Z2zknT3+xj/yszRbTfa88qu8ZJVMLlHQu/EGe13eiGkfCrCb3fnxBSXJUJSafc3Hnp2q5Si7jbJ59HurZgaSMtUPyz7OF1UfifE7n0zyKaSm5A8CfJI3vK+64p1bj+vqVPF3E1NhKPxfk53G3YtSDnER/Xk6QZsf2qyp4SrHc+Xl8XEfVuIftIifIh8jTNj4V5+4MudH3ERWwuK4an69NO1sl368X5+2MOL6Pxz14RKvj7CX26yRdFv9+lzzdTfZ8uDbuXa/IjZNpo1D6XGv5+at6490YeaTOkxHn6dk5KY8yuSCO7cVyI+DN8XcUWh9T4zP3Mrku+4LcaeVA1TteZYnz++MYlzqig624rfQA2NjY2meTC9vHyT3vVuzlPWlC5MB4aFwpr9L9V7lX4WpFxJvEkRVys8RYtmDHRMXwerkx4PyI7/p4KN8hVzgKT5Z2ypb7vH8SheD/REFnjJJFv1RPnN+nPhanmdefe7PPTo0JzylyQjTteTNITp5/VE4KZwW8MiqX2fk3VvUESdskzuWeFhdHXI/IvXSXSF5fSU7kfS+LV54G41i5klpaT+34vaPiWr9I7jnabA7gj8hJ0mtV8Nyq6XkXBfL84n7flivHRyuGAcu9ZleJz+J0tbhnS1zrj8Y9fnSy/6uac4/zJeK8vqSE49rrPT0+8//KCbxPJvvHxbl7S3qeFxjzSLmh6UvJvjRxfo5ckdtX9cXKhif34dKfY6onzs9TPcG7tPx8uLjIGPO/K+5PO8gV9QtVn+Zisjy67gE50fugXFYoa1G6kXHfulxeg+Njck/B7rje1srODbnRsirpIwXHmN23hkv6oNyQtqHqC/1mr+8d94BZcWwb1hNpcYyj5B6i6TNrLXkKsapiUdq4p2bX0Kpy8mm6pF+U8fnP4W9qljh/XfUe523Z01GejuNIebTSPkVfW3ID+T2qj4jLyibj5PLrd+RFlkfH/k/F9fe8nMw7QQX21J3D37JWHMet5cbpF+SEeRb7ZnJZffMCY8qvE3C/PMrsM3KD7+vyFE1Zx6VF5LWyDpbXFFq6gBiHx70+HRXb43rJXWNj5OT5ZXHPeKCEczero3xR7rzwkPx8qMoNOd9J3vv+2P+Dvv6uAmIdFvemKyR9Sx7d8bT8nB0X71lF7tF9sqSj5NGg2XVZ9Hzro+RGskuTe8Rjcf3/VvWpKLMyxCtK5rlnm7+30gNgY2Nrn00eQnlz9qBVY+JjE7mQe4CkTyf7946C0Uy5ElLYIoq52AfJld9L5J6k2Sr3U5T0fJeH2/1Knk7i82U9nDthyxUaT5YrkNlCr92Sdm7yvvXlkQpTs0JRC+PLetNkn+EI9ZxDtSJXmJ9SLPCl3FC65L1FTRXRaxJZrrxdpvZLnO8S19PralxEqEuuCP9HToZ8VtKH5YXKzs3/zSXFfqDcaLJMcuzXkXtp76Z6BW5buRJ6bMHxZTGNlpPSl8m9MbdP3nN4xHabvBjdMcr1emv1+SvPkzs8fz6q3uO8r8T5wkVdX83OOTmJ+434vN+X7P+w6lO1fDL2HS0npQtb6C8X9+pyQvdmSZ9N9mfTbywmP2sfkns/jk3eU/rIlNwxf11O8n8o7gm3q8BG6tw5sIs85HpE3Ld2kJ9p2TQMv5L0YzmB8yN5PubCFzFXPXH7TflZu07u9QMi5p+q/gwcLncSKGOU1Bi5gelhOSn+vDzlyVq594+W9Em5k8V5KqjMpXqP4R8rFvaN/R+Ty4evSdo09qWJ81Xk0RIPq+BFi+fmPIl/b676lFkTCo5jrj5Hubzw24h114Jj/Za8YPHKyb7V5Ya81yOmLCma9SwdJ2lRSQu+07/5f4y5t5Ecy8rlgWvimjtJ9efzQnIHqMkqYa0meUTJX5SMKIp71CS5Z/meiinGSojtPXJj6NNqbJieY/lErk98R7EQZEnxj5OfZRfKnTz2y8cjP+NelPSzEuKbvY6G3GnmX2occfZ5eWqT+5SUXZr8P0WvbTFITtpflF0zcpn2IXkNr6qcN0h7nH+g6DjZyttKD4CNja19NnlKhVcl7Z7sGyv3rngpKVBWJR2SvOc9clJ9yYLjzfcgO0HSBsn3O0bB6EpJH+7v/8PWI+H1Xrln+UZR8N1Y7rX/miKxp8YK3HsVLfItjG91uZfFRvH94IjpTTkJtqXqC9guIPcuOiv5+bJ6PWcJztHygj7nyT0xvqmYxzEKxVmP8/1UUuI8KghZj5ErIp7b5J4XW+Te+2m5IlKVe+5erXpyrOyE/1FyUqcSx/YHcoXiWbmx7wzVK5vvK+N+IPdwuVNueDhPrgTfL2nv5D3flBsnXpYrS39OzqeWVuLVcwjz7AVV4/s5Js6bfV9EvPL0ME/H+TtL7uX0q+T1bI7zp+LrTJXX+JtVONeTK5W3Kkmcx2uLxOf/dMTbNonyJn/P9nJjW1VuBMjuCYUND49/Hy/3HP+J6j3chkR8z8i9ilvey7GXOBdUkpBL9h8uD2nPEuPp8Pq/xfnaI/FUxLFNftdwOWl3sdyzNUuMz4jjmi5Gmn19V/LvohLn/yc39B+mxh7nH47zcoYi2ZzGJI+iKrVcO4f3pvfgbeREZRmj5bK1Ffo1MifuYXsWHas8srAa19aOclngZbk88Fe5DrSP3Gv7SjUflVbk4sVpo9+2ckPPSsn187n4e55UTCUml7//Lpchyliw9ii5bnCHevboHywnzt+QR9CVlTjfQC5LPaPG+m6v5ZMyrqt+/B3jetm/lTwysPBRk/H7h8hl7rvkTiDp9FeD5aT/E3K9LJuqpdT6QsS8n2LhZLkR+lFJa8b3Z8e94lfq2UhBDmEAbKUHwMbG1j6bPH/ubXKvzC/Jw+buladeOFPSBLnH2KVyr4zNSow1HRa8aRQSblfM7ZsUKj8lJxf+K2nrso9xp22Sfi1PVXCpGucwf4/cC6tp4ryAuD4tTxVyd1IwX0Ye2ndVFG6ulLSr3INgx6hE7FDisczOydFxXd0g9w76j+qNOxvEexaQExGPSPpZ0QV21Ss52dexcsX4k/JUAI9J2jL3M6vLCcjtVN7wyoYpe+RE+T5xb7hM7kUyM+5tq8s93p5UbjqqIgrBaqwQZw1RWS+WVeRRM49I2j953xC5F1maEGx1wjw7b4cqlxRR88T5aSqhl7aaD7E+Sq74fEBO4I2N662a3gvivJ0qN6RMKDDmvqaP2VBuOLlVSY9MOSlynFz5zBq1Chty3d/9yeufiuuusIR57vf/Pe5XH1Sux3BcT9kc5+crWYCuoGO6tqR/y8/SZdLfK+nncjJvnWRfdgw/GedwaQvSRRxbyj3xtlS94XFnOSm2f+7vyXdyKHrkyW/imOUT59vKCZ6mifOCY0wXrf66POJhQ/XdI7PZiLUiGqXS59cecWz3lbTYO/mbCzzGP1NjB6AzlUzPFe+ZKDdKldKQ1iTmk+LZVI1nwqHJvX83OQH5hDwqImt8X7ukWJeTn7lVebROFufsKRDjnlyNc7zIekPa8JjVZV9QjJpN42znLX/MkvtGRW5UuVYeZVBKMlcua/1CbpS4Wx4VkXbCyRLnj8nPuFHtcDzlESVD5ZzCA3JdJuu0tE9yz/hu2ecAWwnnSdkBsLGxtceWPMw2iIdF9nC4Qh5ONSZ57zbKJR0KjjWdw/wmOUH6dBR+PhivpYWjHVRv1X5f0fF26haFnEfis76xyetZ4nyGypkH+jNyQukB1XucZ+fxHpLOitgvkXsa3inPp1n4YmlJzIPkoX7XROUii/dkOdGwgxoT1bfKlboiKxZpb/h/yNPELJu8voN6SZzn/9aij23uHMj+jkXk3iFnxeefTs/xZTmhvlRJ58OIuIZOk/RHNSahV5OTjQ9L2jfZnybMW3peJMeyS04s/VM9GxjSmHePa+4yFbA4afJ7x8rPqrWTfePjOjtA9d6674r71TFKGgHjtQ+qwMUJk/NzlNwD+jS5p/4eqs9VvpGcAHlAbgD4qtzYdrnqz8GWV/KTWIfJU0Fsp5g/+Z38PwUe443lHvuzp2Jr8p5BqiehTy0qxojtifjcf9Tk9VXlRum/KZmzPl77kpyYWrmIWPv4G74ld6DIkvm7KpmvXC6jfU8tnqptLuKdU+L8OUnrlRzjmHgmPROf/9vyc6uw+2k/YkynFDtc7lxRlcviB6mEKUH6EXN6/Xwk7gnbqvF5mv1dx8jrI41tg7i/I5ddd5BHc1wkj5r6QxLvBnLj5KHy6IlCRkeo9+TtEnL5cJqkTyWvp0nTP6nA9a9yn/Pv5IaIbAHN1yTt1uy9JX7uQ3Lf91nWk8u5X5DLQTep2GnQmjXcLSGXvd6Mz7pZ48lX5EbjUuoKvf0dcjnrFTXWew6QE+dfUhuOOmBr/VZ6AGxs8+s2pwdcO29RaN9e0ra5/VkBbSe5F0bhvZzUOMzvRDk58ym5EvRYxJX1Nk8T55+T51Ytcs7PhmHJnbQlhd9Bqi9+8331TDStGYW0J1XQwji5wu9nVU+cb5B73xC5B+l5coNJVdKFJR/XcVGgPTDZ92l56Pg+8f0IxdyrckKt8N6kqlfcr4qC7dDc+z4Vf8ejiqlayjzPk/vCKHnamzPlitF7Y382H3TWGzJbSPNqucGirCGhH5IbpmYo5p+M8zb7e1aT5658QNKPC44tHc2zpjz/7+ty8nb53HvThMSeck+noqZiGSHPoXy9Guf3XiOu+WzthZXlhtVTVU+if1mxWHTBxzZt+L1HToxfISd4X5bvuUvFe9aNmJ+N6+0CFTiUOTkXx8gJ+/vlaW6yqY3aJpnXJPYd5Ur7ern96fma9ST7uKRVCoprgjzy6feKHuaxP/tcu+RG6x/Iz4a/yz3OF5CnkLpOfq6VmtyRp4t4RV6U8DNqTJhX5HLXGUp68Je9qffEeXYvflRuHCp8Go44ZofIox7eIy/weHDE+3eV3EiSi3mUPGLuMknfje3cuDf8SG2eOO9tv/zMvU3SUSXFmB+R8R25B39WNltEnoryKTlxXso9oEmc+anY3h0xPqDGxHnZC6hOimt8R3mkzy7yFE3Pq3GO88LLhHJD/2LJ92PVj85pklaQe5Y/JJdnC5m2L/0d8cwak3ttibh/dcvlxnziPB2tUsh5oca6wo8jrp2UNDTFs+xpucF3tDwq9Vo11ttInA+wrfQA2Njmxy33IFixjIfv/xB7syHu6RyPC8ot9NeopMWRVJ9X+3QlCz/KvcXujYddljgf0uTnW/pw7u3/b+fzoK9jIifOr5eH0X1dyfx08frqKngYqxoT5zvLifP7Fb2I1TgUcLycQPupCp43L1+wkivB01VPkH9WrhBnQ9lHypX57XLXXWHnrOor3l8WhfHsmA1RY+Uym8f8TUnrFvn59/I3jJKTj9kUU4/LFaGGpH7cwz4b97CblRT6S4p7Z3n+z9eVzAGqeuF+1Yjz9ALP27Tx5CZ5tMb5cWy75flfl8v9TCX/7yKOqTxP7dOKecjl3nYLyENtp8m9g9aSE+anKCp28qLF58vPjaKOa376oH/LlbHlk/2HxLl7ieo9zsfJ00+9R7mRFAXFPTyuqcvkqW7WUb139llqMid3O2xyo8jrikUp88dMrix/sMB4KnF//Ueci4s0Oz/k50AlzpG94294Ic7zB+KzmJ1gL/H4riFPbXOz/ByYPSWL3Eh1RfytRTTu9Pt3qPfE+QeVaxAs8FhmU7KcIulrudf2Vj1xXtoihOlxlqc5uV9JQ5OcYPqdnDg/SHM5VUuR8Sffpz1f15Mb0tNyQVlzmO8gP9suV0wHoXqZYCHVE+dHFH0PyMW5j9yB6RxJh+belybOP1lkjL3EvZLcwed7ub9hM3l6xFfUOFVLoSM85al27lY0jsX9/hpFZ48+fna8/DzeRk0S0q0+D+K6nxixniRpl+Q9i6ueOD9SBXYC6iPuUXKZ+5E4xq/L5ZjV4/WF5PLX9HjPg+k9gW1gbqUHwMY2P2/y3KnHS1q87FiSmEYql+yYw/vT5OTq8vzWLysqoQXHnvW+uiQK5XcqeuQm79lO7rmXJs6LTC6kc1LuKS9A9TPlpjRopy1XePyupF/KiZuxuWN/vVxB3kO5xHnRcTZ5bRd5TuIH1Jh4bNYI1KMhpcVxj1KMypCTX/fIlYwvKXrmJQXJjaLg+fmCYltDuelq5PlpZzdAxL6t5Ar7qYqEf3Lc/9bXZ1PUORHH88Lkut9GrnC+rZhGRq6YHBHn8mkqtkdOX+fvTnLC/xFJG2bvV71SsowKrmzIjSQXyUmENWLfkvJiSVVJR6uXHudxny4qzk/Kz4O95MWanlEkluQE1EvyM+vU5GcWlJ9lN6iAoexyJSyfrHlXfOYHx/fps/aQiHn3Xv6/opMkO8i94NdPzslsEbp9y4wtPe+a7F9KngLl4iavLS732v9lEdd/8nsHyxX23+T2Lyk3+FwnT8l0iuqV+FXlXnE/kadAKmXNiF7+np3jPLhTTj4Nkae9uEZucGt58lEub/1Sc7GWgupTivxYbTB3tTyFQVXuBZs1AA5LXv9BvH5sdl6UHO/RcllmVG7/GLkx8pV4VixSRny9xJw9n7ZQMiWbPJpnYpyz/1WBU1v0Eudpkl6NZ8BrcS8YnsYkJ0onyY1VvyowtvQ5dUqcr0fL5cA3JJ2Ve//S8Z4XJW1X8ue/blxD28b3Q5LXtovXnpf0zZLie7+cnJ0pN/if/U7uTSrwGRz33jvlkaknyQ3+j0k6LHnP4nIj2pvyeixljezMytDfUrKGiaQD5WfuFMUUf3L57CBJf5Y7XM0efV1G7Gzlb6UHwMY2P21qTOBsI1eMNm+Xm6yc+Dw9Hsj9Hi4bD8UT5GT1PSpogZnkAZcvLK4r93isygs/5qeO2C4e4lUVNLdfLt4xqvd4vS8exjPk3g1tN2Q1if9UuRfGY3KF53EllVDVE+fPxt/SZ++HeRxb2hjxVbnC+z1JH07es6t6Js7LHr5ekfQXuZdgNuXKznLPhqqkHybvXVXu4X1hEfcMuRfQNEl75PZvHvHuGDFlvfIulwvGTysZbpv8XFkVzFFywuE3yk1hIi/ok0+cLyz3li2yR046f/We8rDqfSR9PHnPLvKIiUdUXxC2oeGnyPNZHlo7TTHdQnY+x9f95Z5Dv1MbNAjKPbZflxPkmyf7F4/rKXtWLCknTI6XK/Etb/yVE833K7fAqJxMmCnpkPx5Ev9+QNJJZR/biOUA+dkwIr7PEqX7xffjJX2xpNjSctcYuWFyVHw/Uq4QvywnIBaKa3BNuQf0Eyp4yos4Vk9J+n18PzbOyQfjmN4q99B+Pf7dNL6C7ltD+/m+neN6elwu69wR110hyUfVFyE+QXMxT7K81kVV0g+LOJ59fX5xXv47+TuyczhN7H1PuXJD0VvyDPi9XFZcLP/3qN4z/lVJX419ZY6IqCRxZ9MIpb1h94579E9VQoNU7tjtEtfPNpI+ISftuiX9NP9+uSxzdNH3sPjdv41jtnF8/0M5KVqVdFnuvcvIPahLKSskn/1YeQqTf6o+RVt6fd0e9+H75OdIGVO0fCyO4duSPprFX0YsfcSYTie1tjxV2HKx711xH3tc0s+Tn1ks7rdXFH0vyF/L8nRHB+b2fV9u3JmieuI8f49ui1wOWzlb6QGwsc2Pm9wT6K9yb9LCEov9iKtL7gE0NQoGc0ycx8+8R048/U4FDV2Nws13VW8JXkiu4G4a368Rf8Odcs/Y/Hx6n4njX3RFaKjce22y3DN/dBzDm+Wkw9plnwdJrPmhoDfLScZ3ycNCb5Ir9+sl7+uKAuUjKmhxLzU2RtwRhbFpUah8RdIvk/fuIi/odW92rpS9yUn+ZxXDU+VpIw6UexCdGq8fFMf7FhWXaBgp6SPx72HJ711d0sVycvwhOXm3U7y2tpwU+WLZxzX5O7aOY1lVDA/OndubRkH4DUkfa3ZuFXj+3hXXz61xbU2X9NvkvZ9R/f68WcnHdfk4b7PE6Oweo3KDy11yD+8jJC1QYFyj5UaS8apXhs+Iz/91ObGUTcHSJQ/JvlBO6r0ecd+gueiV+j/Gu5gi4SE3gmQxLxRx3KCk52jE3CX38D++zHMgiWmPOHajVa/UZ3NXd8kLkBW6+Gt2PJN//0pu2H9A0r9Un5LlXXIP7ZfkXoQPxzkwTbmGjALizT77H8qJsEvlJMIbclJpn+Q9Wc/iz2bHuaAYx8sdExaI78fKSYY+G/zl58aH5Clx3pfc94paWPWA+HxP0twlzn8yN++fxzE3jPyU12c4R16Q9MeqN1Klib2dizqm8ft6m25wLbnR7+gmr31f7tiQdRgoZKHt3mJNXv+CnNjdJ/9eNU7TU9T8yvnRRx+Tn6e/Uj0xuZQ8iqKqWPckjbHV9wV5aq5maxn9S9KO8f3+cnl8N9VHop2d+5l2OGeHyD3in1Ay1aT8XF5drrftogI7WzX5PPeQR6nfKjc69doBKH/+FBzvCLmecK48SqNL9WfXknF+PJ47ZxdK3lPU8yydQuaouC/drEiaq7Gjwvfl8sGlitE+bGzZVnoAbAV8yE3mGWVr6fHOhng9qUjmtdNxjwfbFnLy8SH1s7IgJ3yK7Fm8fDyQX5UrYHfLc7+mBdu15Jbh2+S5KJs+hFtdAM49dFeRE16fVb3S+NkoUM6e77Odzoso6O4j935NF3XZWO5Z3ixx3u8pfuZRjEPlpMxk1XsBrBMF4KqkXyTv3Smuv1NKPq5pD+HrJF2RfL+IXPm9M87hyyX9UQVNF5KLbXAUEq9WfcHM98Z58RnVp7rokhewu0P9WJyowOM8Su4Vf18cz3c3+Rs3idf+G98Xeu3JlbX/xHHOplwYE597VdFbK/ZnCy2fUWB8vU1vMSU+79kLqMbXQXLj4NkR/xcKjHV/OUme9RRbQJ4zc+2I6XW58jMu93ObyM/nNSUtVFCs6bMhS4h9TvVnQzbFyV/VmDhfWe7Fd3DB52lvyYZN5efatRHvXslrq8d5/Ncirys1lm1Plnu97is3mjwlJx7XS86RdSX9PO6z35a0bJHHNhf7YnLv1odU7+G6du494+NYf7fg2D4X98qvyCM1npQTIGPewf9VRKNk2nByoJyknavEecHHN+2lOVFuzEnnBR8pPyueVmPiPD+isshF/obLU+9slcYT9+KqpGPkkUkLxP31GnmqoS3lJPUnCox1RNznvycnoVeL/WPlkbKHqrFskE9cFzH//gLKLUAt6fNxLKdJ+kbutcVVT5wf2ur40nNVnq7mWkmjk/0LyY16Y+UONtMl7Zb8bfdGrDcVFWsac/LvXeRFafdTfaThSHnh8Cfk3vKLyWWDY+VE9biC4813+BoT19vWcv3rVdVHHs5e86Lo49ok7k3lxucXJf0hOV+y63BJuZz2sGJUVfKzha4hE5/5vRHLI/I9N60rpOfMXnIj9h/KPsZs7bWVHgBbSR98myTr5tdN9Zb2pyW9t+x4msTXFYXZLHHe76laCoyxEjHeLRe6r1GTOapVT5zfKjcGFNV6PUHSpOT7rKCwtZwgf098v6saF3ocK/fYL2UR1SZ/xwYRX1XSH5t8Blni/HHFXMslxbmiXJn4cq6As6w81/ZLkrZO9n9QxY8y6FGJVVR04zx4UdFrMHl9tNwTcniyr2VxJ4XItHFkkDz3/uNyr5EejWNyT/R15Olj/lv0se3t2CR/zxjVV7y/UvWpcNLK8XuKiFu5OeJj39JyUv+LqjdMfFLSW5J+EN+PTN5f2PmbngvxdWjy2uZyEuo/StYxiPvfFXH/OEseJTFGxVWGsmO4h3I9YOVe5VmP87FFn6O5WNJ71SLys+E+uZEnS55l5YUb5YUJD5VHnExtdk9pdaxy0ukzcq/hNJH/W7l39A3yfXdQnB/Xyc+IwhfOi9/3E7lCnK0FsJc88mSa3BO29EWK+4h9QTWZ8znuyzvIDQFbFxzTYLkB9WV5pMllatOFXtPjlfy7bRPnakzsfkFOmlfjWl81eV+WOH9KTvoVniRT47P1ujim3XKZPEvivSvuX9kczA/EOTs1Xt8yzqGWjvpT42iuW+K4vRXH9jHFdHJxDy51ioW4vo5Vk3KUpMMj5qvUc6HtxeX1kaqSDioo1hHyM/Y5eQqONHGePYN/H/eIhZPXzpXXQ7lfBTZOqrEh9TS5TJuNjJ0l9+CvyB0tTpNHplTlsvlTKn7kUXY/GCppQ7mMOj55/UOqJ87XjX1LyD2lty/zPI5YPqZ6Q3o6lUyaOJ8i6UwVXy5I6ziflzssvDti+lJ83mldIS2r7VT2fYKt/bbSA2Br8QfsAs3Gkn4RD+NdFHOKFX0Dmx+3vm6qco+nmXIPnTXKjjWJKysID1KbJs5VTzQOTx7IL6g+VUt+frI1428opJEiHsI/jULYP3OvLSdX2L8WBZ78vNUflJMjhVaE+/hbhkn6tNzr4g7lFpiKAtBGUfC8R00Sgi2KK1+Z2CyO5eb5c0DuQThL0rfn9P8UEPdouWKzfW7/MnLB/bjkuBY63FLuHbRt8gxYQJ4Pc1m5kv7jKEieq8YFyBaSFya8Vm68KmWRLDUmHHaVpzj4tqRlavVzeUe519NVapI4b3XcchLxT8r1ZJZ7MlWz+5PqjWnZFBej4p6ySZHnr9QwdPVEuSJ/ueoL146IY/y83DPnR7FNVb3X/vGSri/oHEiTY5+WkzinqueC0GniPJtmouhKW9rLKVvYb3G5kfehOFezZM8ucqJyRhzbk5LzvbDrLM6DqXENZfNrfyV5/Qg5MfZ8/A13yQmTsu4JS8oJqC/G9/vIDRM7Svq4nGx4SfWpWkpJ7Pfzb0mnP1pRvtdemL9/tTiG7H6wgOrTHR2o+qiOUtcIycWav6+3deI8uR+MlstSl8jz6p8Xx/kB9UycnxefQ9MFgVt9bOUE77/kUZ/byY2+18f94cPZe+XpEo+QR3Hsn5xHZ8gjQRctIOZhcc1cKveCHSInvy6LY1j66Dg5qX+gpA8n19Sauff8X8T7G+WmtYn73SEqcCHYOK67xWd+rurP0644xlMkXZm8P1tgeQcVOG1bLuZfyc+nLeNeNlKeKqiqGPUQsa8pJ1Q/roIXA1Zjo9TV8oieqjx672PJ+7aJa+5NeXqRG+JvG1JgrH3lOj4a8T2t+nSPaeJ8keR+UnQZbJSkI+XnwG9y+3eMmNO6AnOYs/W6lR4AWws/XA+vv0geUvuCpGdUH/r10bLj6/RNja2SH5Ar8FsrhvvE/h/JLdinq6TE+RwedoPlJO5cTdXS4nizh+vCcuH3G/L0JnfIFfVsaoN84vy98uIjRfXOHC8P9X5GyWJtsf+f8blXJX0neW0VuWX7DJVQ+eztd0aBcie5Z9m/FUnI5PWKvJhd0VOyjJC0Ufx7aTmxf7Ji+KQaE+dPKVkoqaxN0vZyD6en5QrG1oqeI/Lc5W9K+mBJsW0cx/Boudf443GNLRKvj1I9cX6O6j2JNpV7Ex+hgqaPaRJ72pPsNrkBYoY8jHKGpM/F61ni/Ck5AbxEwXEeKOkvTfYvFzF9T048zE6Yx+sflZ/XW5ZwXoyQE+LXx+d8axzXL8frw+McuEyuOD8m9xwaGq/9N+55w1R8peiXchL6NMWCdMlrF8a5caDewdQS8yi+QXGsJquebFgsjmGWOM8STAvKvcjSudqLmg+6IidBjo3jton83P2v3Mtwz+S9m8pTd3xXbhgudO7qJrHvLK8TsZliNFLy2j9UH0lV+Bylc3tM5AbKT8rlhKkqsDEiOQ8HyQ3Rl8ojSF6R9C1FL1O1QeJcjeXvpeL+umTuPQepDRLnuVi75Ea+m5X0wJUXfLxHPRPno+TkaVHl2jTWYXK570wlU4nI5djL5B7kH24WW/zciXI5eO2CYt9QLndtp8ay4QZx/31YJSyYmcSxgPz8/Lfqa25kC6Z+KPfe36n3xHmhI9Di3+9XfdHcE5U8T+XyTLfc6P9lefTE4yq47JXEM0JOQv9U9amEVpCfYyfE66U2mubutVeoPpf69+I8nSrpM7njf6I8oupfKrAcnvyukfIi9n+SR8PtmLxnO7nBKm1Mq+TvfQUf28HySPTs+f+z3PuGq8S6AlvnbaUHwNaiD9aVmmfl+X4/IbeoDpUTkLfFDSRLMrRdj5t239TYo+VEORE1I47r5Urmo5Mr7C/Kyb61C44zv5r9MXJF6LNZQUw9E+el9ThXvfI9RO6Fc4vqK3J/RLnEeexfUtH7uNnf3eI4F5QLkvnE+Qfl3gDPyEPFl5GH4l4Xf1PDdAglnAubS/qUPAQ/nRZkZ7mC/G/lEuclnAsVuWJ2SbJvopzY/4FiuLhc6FxPTpbsVkKczXqLryhXHu6O+/BNclJ0yyic/VUlLRCseiXtJTkxMy79O9SYOD9b9cT5YkpGqRTx+TfZNyyO32VyRXiE3Chxhpzk3SXeN1puxKxK+nNJx3mUfO9fOdl3gdxo8rakHyXn70rxWfyrlfcENQ5dTufV3VHu0biMnNRZVtJxEevXcveOZVRvBFpYTkq+qBYnpfLnQy6mX8qV9GaJ82vlHlzjWxnfHGL/jZy8WzrZl0+cl7LIV/5alhfJSivDG8iNfy+pj7m1C7onzGmRv+/JPd+XT/YdI09zcY4KKtvIybFRyfejNYdFZ+O6W04un98f97QyEiMj5HJAeq5eKZcLvq3G6RnGqIAexH2dB3Jy8Xq5rHW/pO1y780S5/9UjDYoMM6Vevmcb5I0SY0L5w2SG0velBNmPZK7rbzG8rGqvhBxVn4ZlXt9RdUbUbdVY4J1tbiP3FjkMZfLs9Xs3FXjNGM7q0lyusDYxsS9/iIljTtyWfwSuaPFtrmfyRLnhyvpjFVQvGlZ4ST5OXqF6r2hz1E98b+I6tPGvCA3/KxdYKxDct8vJ4/cyHIcq0Vcp2TnsZz03aikcyG75ofLDX5HK5kWRq4r3CLXd9Nn8RC5F39hDerquYj9I/Ko41flEdV/S967XdwznpD0yZKP7QJyeXAROR82K+LaIvf+4Sq5rsDWOVvpAbC14EN1b5tsGE+PeZPjIZ0NV9um7Hg7eZOTX49GoXE5eUGse+IBvWXyvgPieE9UbjGfFsaWJvZPjgLbSXIi7MWIPZumIUuc3yJXjgvvjZEWBORW9YvlBUCHJO/5aBQknpF7wq0pF+gfkJM/RS5ClibOD4+YTkle30quqM2UE723yz2MCu+pmzsX/hkFn7dju1+urGUL/WWJ89OVJB/K2OTV7V9T9FyIfZfH8Twlztmvyz0cblB504UMkZOJqyg3h7LcUHl+3JPPjXvDC8r1Hiog1rQSVJULkSdm94DYnyVSR8lDgKcpmY4l//8UEW8u7nXkZP6nk31d8iiEf8W9K1vYZ6S8xkGRU1ukxylb1OtP2f1ULshfFcd+P3nhyt3jGE9VixvT8sc0jtEk+bn0l9x7F43X3pR7FY/Mvb5lnNePqUUV5DgPt8vHn372yb/7SpwXmnDIxydpnHzPnZR7fTG5/HC/vPhiWXN+ZnOYf1VOjGyWe9/74t71onIL1BUYa5oAmyCXcxdT4zz7v5d7E2Y9+sfG+bB7+r4WxzlE7pV9ttzIN1zuUDF7up0+fjaba/XTKrD3vur3/THyc3Sy3DCdNqhfJZcLvhHHdWG5oe37BZ8H+WTeY3ID9YfkpE63pC/lfiYrfx+r4srfK8gJ5V2SfYPlzksPSjo++3vU2AhwYcR6r2KKL7W+E0iPWGP/R1RPks4+J5PXV5TL6VUl693E37S8mszV38pzQn6eviGvC5Hty6Z6HCmXd79Z5Pkav3uUXG+5SrlnU7y+odyZqVs9E+dHxPH9aavPg15i/43ce3/zOIbvkqfAelk95zhfRZ6Tu+Wfu9zIlO+B/8nk33fJDaYryh2tTlU9yb+G3IFhj/w5XeBxHRzX+svptZ68vq1cH79dSXk3eb3IDldD5MaeKYoR83HPyM7NY5L3fkSuj59TwjFNO91dKzdGZdOybRXX1xT1nAJxhAquK7B15lZ6AGzz+AP1UJRZigX91FgYSwubH5RbC+9SbkgjW7+P9XJyouPrqiccF5RbYP+i3BAwuRKySglxHhkPsWzhnq+pvvDJP1TvyT04HtRXK0mkFRzrYHnY6lRJ1yT784nzG+NveFzuZVTI3G69PVTlIdXNEufj5WTqZvICJIUOuW8S59FyJXNHOQG5g9xz90VJO8d7hqneY+efZcUasawV5+4f1DjH9rFysqkqJ6POU8Fz6qox0fAfOfH1XHz9hHrOsbyznKR+W05Gl1EBqsiV9iPkylBVrlislLwn+7tGynNrnquCKxZy79bZn2myf/uI+X3xfVYh7pKTJq9L+lpvn1VB58MCisVe5bldq/LzIEucj5UrbA/EazfJjZotbUxrdkzlZ9hLEceJTX5mUTmh/qo8LDftTfgeudLZkmdFnKvZObpbur+3z1b1xPlJKmGobbPPTq7cD5Xn+r1P9Upndu4uJvcyPK3oeOP3j5Er5q/KjXlZgibfs3Q9eeqewuYGlstQ6+bOu3/K99mq3CD9F9XLNqvLz+DL5XV8zpQTJoU1/sbn/dGI8Qb5OXWB3kEjaZH3Xfl+P1VONKyn+vM0vV9cITdiXyQndB5q1f2qH/HuL9dfssVfvx+xXS0nR76Ye3+h5e+4d+4Y/x6ae+2QiDVt/M3Khv+UO7TcG9dby8+BOcT6Abl8eLmk9Zr87Kpyj+giG6d7K4ePlxPTD8pl3LQjzhZyg/u2RcUZv3sBecRhVa5vLZK8ljb6bqTeE+e/UoFzmCe/N1sQ+ITcfWABSd+Mv+kUlTBvuTzP94Wqz6F9jlwXWDzi/q3cEPSqpFOTn1soPodbVPAc5rn4u+Te7rfLz4plY396nD8k13WfUTI9UgmxLi0/x76lxvLWYnLnzJlqbLDYsMj7QfzO7FofFufnCXJjf3qNfUi9JM6T95A4Z+t1Kz0Atnn4YbqSeUDcwC5SfZGRtMKRJnH3VbKwHluvxzVbMGJ4bv8GSob7SVpZrnSemhz7HZVb5KWI8yD59/ui0LN9fL+/nLTbTu6VVZX0dzX2OB9ZZLxN4j8w4npL0qbJ/vRhvaacsNlH9WRVSytvqie1hssF8C/Jvd2zoaCLqEnivMn/U1bPhtXkRN0euXNkYbmi/LhiZIqc5NlBxQ1n73XxFTmB86pyvUXlit4GcuKvlDl15UTDnXLDw+5yj7d/xvn7A/VMPC0Qn8Ps+QwLiLHX800eup71wEsT54vIPcUGqV4YLWo+wkrcA37e5LVl5d6O6YI+WfJxgXjtB0WeA1nM8XWEXHE7TZG0lXSw6onz9Bi/W573dSG1uDFtDsd0FXkO85fkZF/+WnyX3Gt2svro6d2iuNeLY1lVkgRrEkdaxvmp3NvwH0VcX01iHiX32F4ut3+VuI8dmuzLEpPji4w1uf9U5OTyf+QhzJ+Up+aaKfd8zyfQNpafcUX0fq7IvVgfVfR8j8/2Efk+u7Xco/RZeaRG9p7t5Xvy43LSus9pUVoYf7bQ7wuS1i0jhrmMdw85Cf4+9RyRkiZyjpOTVSeoXiYqOkEyLs6F78T335NHxOwolw1vlpMjuxQZVxJfWr4aKidpTkv2rS83QNyjSJyrPk3XVfL6MkfE59HSTk1zijX2byX3iL1UTRLnyfuKKM9kHZSy+ZV/Is+rvnjsX0lOlj4Yry0rT0V4lVwXKvI+u0B8hlPkcsBb8sizdyXv6S1xXuoo8Lj/LiCPNPhL7Buc3BMWlssNVXnk+uiC49tY7k2c3f8fkcsLWXxLxDX2itxxbJz8bDheycLQRR7PJvsGy419L8pJ/Nn1r+Q926ukskwSw7pqXEA1rResIHdWOajJzxU+8leeAnWm3KCaLe7ZpXod8UNyx9JLVcL6QWydvZUeANs8/kBdkPihPJzqYtXn7+qxGINcaZ8p6etlx93Om7yYZ1XuUZ72dl1PLkh+JApq2Zxp2RCwzeUeRpsXGGu+Z2YlHsqLyBXi5yV9IXn9RtWHtJc6FUcu7j3imE9Sknzo7SHc6oez1NCr+Ia4vrIpLu5QvbdTljifLumEko9hPvmVFXx2zr8uF0Bfk3RwifGOlHtg5adWWEGuePxVrtQ1ncJAxfbKywqMB8Y1tEry2hfiOO/e22fR274WxJklNYbKyZAtlZtKQ/Wk7l/l3sOLynPY/iH/9xZ4fNOFh/6QPMcWlns+P69kmHXc5zaVE2w9hrK2ONZ0QacN5d7cK6gxkZsmzptOfdXq8zc5piPimKbDqleVkwx3ycnI/L1jQdXLDUWfC2vLU+/MKXHelfyN+/R2nAuI9wcR653xeS+h+gKKR8ojfSY0+9yLuCckv2uEPO3OqYq5X2P/MvJ82k0T5/nzqcUxbiSXT26UG6pPl8th6THbVR65c5Lqc+0PlXscFr74q+rPhn3kUSTT5Yr84mWcj3MR918k3d3k75g9lVPyWjpfe2HTx+T2bSn3dFxbLh/MPi9Un46l4Z5R4LFMy1bj5YaG6WqcxuCTcmP76/JIoxPlHsm3xOt7y8+zlp43fcR6dO59WeL8EknvLfh4riPp/5LvF4z76zQ5KTpTrnutGq+vFMf21TgHnpATu0UuqjtKTuheLJephstJ/lmS/qy+e5xnU/QUtmC8ei9X/1Gu264Z36cNaJPk5OO9KmEKNHkE74txTL+f7M8+5yXjunpMbkh/MM6LohPmsxsX5YaIhZR0aoxr/XG5YWfh9G/I/T9FLwad3U8XkkfQnqeon+XuGw9K+m3Rn3+T2EfJ+Zp75VElq+X+puzv2Saurz+UESdb526lB8A2Dz5E96xIe7CNkHsQZonz7OacrwivEjeOz5b9N7TzJhfMj5Z7snxTjXNoXif33n1RrrSlPcf+JiefesxhN4/j65J7BW+Q7DtDMaQ9eVAcrVi1XTGPotzz4lG50lFopW5OBQA52V+VC5hp4ryUhWvlQu8NcqVha7ngvqc8pPk11RPnC8nTBFSV9CosONa099AkuafNUnIF49DsPUlhYnQUMn5dRrwRw4/kSs5z8nDUTZI4j5FXlM96E5XSW79JzCfKvYjS+eCrkvaL7xds9fXfR2xpQ89lcoV8upxw/kruvVlS9wG5AHyPCpryqEncaS+bL0Vc56meON9Arvg8L0/fsYG8sPE1cT8uo3fxCDmhd4U8TLhHD8zkGM+e47yk4/uV5JimibA+E+fxnqJGG+TLKu9R88R5enxXkBtUvl3WsY04hsjThPxZrgg/KTdIrS4nfp/Lrr8Cj+d6yjWKy6NLuuUeequl8cjPijPkJNmuSjoLFBDrMDU+v94b96074r60fnack/f8QB5B12sv2ALizs/3vJCcLNshzoHrlJsySCVOfdYk/j/IZcG0F2y6YN2+ktbJ/UzRDWhbqOfaCjvJZZf3JvsOlqc2+ZVavEBxkxizYzZa9akjFpOnMHlejQvnvU9ueL83zo+/y0m0LrmceYFa2IO3H7Eek3v/VnIC9VYVNwpxiPzMrCoSc/JC5RfKDSZDVR+B8p/kXjZenrv6E3EPKXQ0YvzeiUqmZZI7AewV96q+EuebyXW1Qs5d5TrV5WL5sFwm+G8aT9zbzpdHWBY2OjkX2yflhZNvk0f4bped16qPQBwlN1x/TB6VWuiC4Gosh/9b7lH+vDx1WBZvljifpsbEedEjZ7Ny6yi5fLCPpHGx7zdyw8OPVa+HDYpr8HFJexQZa/Y5N9k3Xs4dzJB0aZPPIbsPbFD08WXr/K30ANj+xw/QN+Lb5EpFfxLnac/DveUePKUsktUJm+qFyoXkOdLekIcGZwtNvV8eCvqaXKBfQK6gHicn0ls+NYs8YuA4uVfDBnKPiyfUWImoyIXwG5J9S8s9zFcooSCRPpz3kYfM/UTSR3Pvy3rt/Ukx51uJ58I2cT1tpcZepNvIlYipiqG0cb58U+Uk8NIC8K/lBpEPyxXfo9VkTlp5sZw7JO2VnS8FxJnvKToi4jhCTt69JiebNpAL6E9I+lmZ50A+dnkarIvj3zvFsd0/+xzkOcH/rgKTTrn4RsW5eblcQV9bLphXJe2b+5nd5Yrcb5Lrs6gK5ihJC+a+X1uuMP8wPvsLVU+crx/H9WXVe5JdpILntU/i3UCutD8n6Z/J/nwFNJt6ap8Sz90REccTclImnzh/QJ5n8+MquXEq4sx6Nq2tJonzeG15uRL6mgqcDq2v80xOkCwmJyPvknvD/VKuMD+ughIN8rD0u5UbRSRXLv+j+vRM+ennlpJ7oc+egq6AWIfIPRcvU8/E+YMRyyHJdZ4lRhaWe+zuW0ScTeJOF4ReVe7Ismiybwc5sXu9Iikd58a/ijxf4/c2vabl+Wqr8nMgXQC0Eve3yxTD80s6xlkD6h65+L4jT3uxkZx8GitPHfNjFbToZ+5YZR1SLpP0++S1RdUkcR6vpQ3FS8odHV5q5bkxF7HmE+cfk5+1RY6KWU4eCTFDLp8coeaLvT4a97Smc9f3du63KOYxaiyLp1O47aU5J86HFxRn+jsPkRvTT1Dj6KO95fU4Ho/rb095dMTTkpYp8Jimx3OCXKcZKdfBrpQT59un7y/yPO0j7lHyM/gqufHxx3HNNYz8lZO9j8SxHltwjFkyeYzqjSQ/VGP58F9yDuQ/ckesPeXGvpuKPs6qP3O74vguoHrnpSxx/rqkC3PnQ0WNZQsS52z93koPgO1//ABdSPyYPFTtXiU92NQzcT57qha519MVcjKylJ677b7lHtBfjgdIVS64fS2O/RB5epY75CT5M3KS6g61eC7NXGHno3KFbGZ83vn5nytycvoZucD5CXnu5WkqeMG03MN5amznyvPTPaHcdEHx8Jsl9+QvrDd88lDOHsRZpW1sfJ9WdL4nF4LX7+s8anG8+cLAQnKh/EvJMd9Y9SHB35IbTLIE5NPKzcNbwLEdHPepRXKvrysXyJ6UGwT/KxfMHlTBi+mqSUVL9QrQ1+Kay3pt7p+8NkEuGJeS6I/7/B/lJFSWwDlVHqp6SpzL38//TP4zKiDO4fK99bfy9EaD5YrDL5LXD4pzIU2cj5cTe9vKC8aWMq998ndsGfeyqpIKvXomzr9Y4LHtbTqrEXJvzCfVPHH+qgqcXip338o+x90lPZV7X5o4/0LsW1FOmL+iZNqTAmJOpxA6VG74PVFOMObXMlhOfkZkC8Ld0ey+0qo4VZ+2YISSOZLliuZFcY/9oXpO77aMpJ8VeL6OktdaeVJu0E+vm3Xk0Ub3yg3XWeK8Ij8vnpf0+aI+/ySutCfhJfIzaoacJN897lMVuVfktPjsD5DLO08Veb9SY6eZZeO4LZq8fq6crP2K6sn9jeSE1H97u58UFPui8nP2dUnfUL1cNlzuuPJYnDOXymXxQsoJ8nN+dyUjUGP/zZK+lztHmiajk3N5W/kZ/YBy06iVHOvRvfx/RUwXkZWnlpFHHD4lP5+2jP3pyN8D4h5xrgoeYdDbcZHLiMvmXu9X4rzgmE9UvYx1n5wc/Uny+o7yc7Ya58RtrThH+3lMj5anC/lBsu9DcZ+aLuljyXH+fXZul3g+/DKuseWTfdnIw72SfYPlhPqZZdxr5efCf+TcULpWVFrX/T/VyzEPyCN6Cu2sktyjRssNjNfFOXtmdk7KnQWyxPkFyc+2xShlts7cSg+AbR58iL7RbiNXJuaUOB8hV5SyoexZIZrEee/H91/xkPiL3PP1LtWnaskeKoPkqRn2kFebb/WULAvIQ/9WT/ZdEA+yZyRtEfvSBTCWkiv2L8iVivuLLPTk4h8RD+ZLVF9I82K5MPySckPs5R4QVxX1wFO9oD4mjvNG8hz1VUnfSt6X9XR7V7xW+MJTcqVx8dy+w+WGhmnKLXYSf8dp8frrckPFQyoo4aTGRpOz5F6t96pJMlEeDfHNOFeqco/pos6BtRSjNXr7nXKCcYrc0+307JyQk3vXyoX4lt9j5V6L71HjlAULyaM3dojvj5N7Cq0hL1qcLeL0naLP2SbxZ70cT5B7i10mz0mcFY6bJs57O7daHGtfvYs/KFeO7lP0IMo++/zP5c/1FsSZzmH+afnZ9G7VGx1GqvfE+TJ9/Z3zOM5RcuP9Zrn934j7QlfuvE4T5/vIlaaZRd2/0nNA9YbfmyKO2+QpRL6lJtMqyAn+7ZOfb/VaHA2NEfLUQS+osfI+Lq63J+Se/U2nZSrgfE2nivh53KvOUM8e50/Kz4xvyFO5bCAn06arpNFocS3dISeWd5ZHHR0Z5+ihcueKYXJi5xY5wXuBip1jOT1nL5fLf9U4lv8Xry0sTyFQlcsO90Ws15cRa5P9C8uJ87fi889G0C6v+tQHF6rY0SZXxfH6iuqJ/KFq8gyIr1kyerp6Lrg5Vh6V0JLRv/My1oKO7aBcPCvEtd4t6aTkfelaU/vJCd/fFBVnLub0fnVaXF/rSU1HVu4lJ87/oKTxqqA40wbJNeWpOjeP71eSk/lVReeF5L0ryKMhCh2dnPz+k+WGkU+p55RjWY/zl+VnyPFyHWedMmJN4jpX0snJ99mo1L3j+wVUnzO+Kznfi+69vYZc/t6tyWtpGWycXN9YIom1qIb1rP44Wi4f3iw3jJwoP7Nmqj7V1Hi5s8Irkm4s8xxgmz+20gNg+x8/wOSGpTknzp+SC8s3yInfUoayd9ImJ+yek+eYy27Wq8oJqDflxYcKXTU8Ysha1fOLiewlT7nzhOo9MbpUL3xmD7utVNJcyxHHF+X58FaK78+UK8m7yAnSN9Vz3uXsXG/1gnnpQij/jXiWie0uOUGyVfL+wfJogycV83AXeByHycnPfdL45ZEEWaL5q/njJs+1vYncm3t7JfMutjjedI7UqXEO/zXOhao8N+XY9L3Jz+6afDatPgcWjOvoRc05cb65nDifISfzLo5z5Loi7rFyImmy3PCxRe61deVK8YflHpBbJ69lc8hX1aSQXPQm97B5K+5dmyX7Z4/4kJ9j05TMcV5wjOm0UgdL+oekoyR9Jjm3t43Pv2kiouB4x8T94YX4nJ+TnxPZnJRZ4jw7pqNzP19EgmyLiO18Na7L8UNJV8e/8/NFry1Xnqvys2JCCcd2hFyeukz1KWTOiJhekPRt1RcALXQh4OQ8zX/9iPwMu1vNE+fT5N6ahU5rkT8ecq/yE+SEx/HqmTh/LI7zPfEZ/LekcyC75n8gV97TOX93iRj3yP3McDlJVfjImLjeb4vP+rPy2gW/izjTns9fkUf+/E7SV1V/7hY9x+7q+d8pj0bKEuf5qVpGqqBpLZLfOUR+1r8o9yrOGiWnS/pM8r60A8viciPbBcm+IqbEmyexFnRc00bfLyh6Y8sNv8fIyeYjk/enifPPq5yeumkZe5zca3er3o5b/G3fjevvN0Ue3ySGIyUdJo/kTXvtLysn86tKRkuWcVxzn+sjcd+avVBx7rhvITegPaWCe8Pnz4Hse/n5dE58v6Map3EcKpd1DlXjAstllBc/GrFtEN/n771jlEyj2Nvf3IK4JkjaKT028ijam5U0lEvaVO6IN1Mx0j+uw4PlZx69zNn+p630ANje4QfXfAGEIXIytbfE+YFyBfMm1ZM5zOfU93H+hdzyulhu/7JyZe1lSbupwASOci27coVt7eT1T6ieOP9g7OuSKxSFJnX7+Bs2TQoNh8sJvSw5+bF4cL8o6YfN/vYCju1wSRvKBckNkv3vl3ux3CT3JhwvJySvioJRGYXe76o+x/5C8XWYnLy7VU6mZsPzK+nXguOcnfCO2M6VtELsGy+PJuiOa26B5OfyBbeiejTsJvdce0jS+7LYm52LckPaV+WenMfICbOWJxrk6XaelSu1X24WW3y/l5wQyxqpKnLv3mNU4HQhvfwN2X3s5Ljmq/LojpWavCebyqWqgnuSJdfOGPn5erf8DHhU7vl0uuqJhg/K9+C7Je1ecJyze+fJPXD+E+fJ6nICsiqPQFgi3jdSbowo85h+In7/RZI2jn2/kXR5s/fHv98nj/4qZEG6JrHvKjf6rRjf/yvOhbXl58Gz8nzLY/KxtziucXFNvz++X0DuRbiVfO/dRm7QaZY4v1i+B3+h4GOZ3ldPkhN0D8mj5qrydFL5qVqyeeI/ruLXZMknRv4mJyNHxPefVeOC0OPT+1lv/08BcX8zPvc1Va8DfCOO4wFz+Nmiez3+Qm582ir/u+VE7nlycuSL2TVW9KZI1ModJ66TG86/IjeqTlWSiG7ys2NUf14UMUKqk2JNR0VcK5e3f5TEkCXOZ0g6Kvm5/LoMpSR45bLVFCXrHPXx3pFxDRY+nYxcj50a96qL5fJVJfd6ljj/bRnHMhfvL+RnV346x/z9eGF5lOoiRcUWvzed/iobQd0lJ3gflDsFVeXRENk5vq5cjtivDY7v6sqtDZL8TYPk5PMPVGD9UR7l3a3cFDty2ft05UZxynX0J+RprrJ73igV1OmObf7eSg+A7R18aI3zAS8qD+nLehxnQ0DvU8/E+Uh5fuNSeo100pbcYI+SexBnPTLSIUrZIpVVFZgYST7/ijycqionRtJeejvIIwqekCsdY+Thdi9GgaLIh15aCEsfbkPkxpxb5KRN9oBbSk7wTZUrRoUmeOO6OjdieFzRsp4c983kIZez4tg/JSfMi57XLV9Q/H0UFJaJ74fKyemsEa3QucCzzziNVS6U/0dOgpyYe+9ouVDWLQ+tXKDIWJsdVzn5cbt6T5yn/+4xrUErzwW5gPuk3BtwiWR/ukhtdh/bR24w/YCcwFlOLnR+u9nPlXnc5YWSssT5Ksnr2XNriKTPFXWd5WIcLOnsuN5XSPZfGjFvm+zbSu4Re3IJcY6Ic/dkSZ/Ovfa3iPUw1RPno+TkU9GJsfR5+hHVE+erySMPLor7QvasGC4/97K4C+8RncS7sqIXsTzP56Oq99DaVB4SfJe8zsGIAuNaTe5Vdbuk7eLedWlyzLJRiffJPbXTxPn4uJ+UlWz6g1xmeb+cGF04ztfn5akO0rLEBvE3LF1wjNl9alhyTE+XdH38+9Nq7EnYFdfaqSpoVGKcA2s12f9nSbck32e94feN78dK+ngZn32TWFeVyy13yj1L84nzL6iE8nfy+7Pn0ULylBWD5DL3i3L5pRr337Pi/DhZLs9ep2RKNBWbhG77WJPfNVLu9HGZ3BCZTSeTn+P8JbVBQjeJe9E4dk/FudvWI7rlBvWz5EW0s7nA0/vsMnJZ7BV5lEdpU7nGM+DO5Pt8HehTJcaWzrN9rly+zno7L6t6A/Cfkp9ZQ54q9/Kyzw+5XDVebvyfnj+W8pQ9V0v6Q4ExLSw3mv0jvh8Z5+AguXxzXvLetN5zqlz2yq8twzTEbP/TVnoAbHP5gTXOB3y+XKh8PB56G8ZraY/zu5UkzpP/py0f4GUf1yb73xuFiT8m+7JC29fjIf5LFdRLQI1Jul3i68flRGN+ePsn5UJvNm/lC5LWLfi4pq3UQxU9oZPX14jYd8+OrVxBOlOuFBc2dDUX12FysuFN1RMhs1dilxP7G8uJpg+ohIao/DUsL+z6vFwxXib2DVXj6JMevd1aGN974nNcPjt35V6PN8Y5+V8l8yjHe0bLDShvyb0zCp+CI4s1+XfTxHlyH+iSe0Mcr5j+pJXna/J7D5V7By2V2z9MLlyuoWSu+zjer8i9th6WG6XKWjQzP1dpflqQ/VVPnGejEZaQ9GslyaD8NVBA3IvJcxd/PfkbtlPSE0aNc4Ov1+oY4zpbMPm+Ij+XZsq9m7LzI53GIEucH6pc0rGoY5q7xnaNr9koo4vkpM6rco+9W+U5mLMyzfUqsFGt2fUsJ58HxT3tBrmxJ3terSIvkvWynPQp+vn1iThWr8v326xBOj+d331y5XL5Jv9H0dfW2Lg3/VE950/9fZwXx6kxoVPoVBzJ7x0Wxy07b3eK6+3kuBfsmxzrteMcOLyI81RO2jVNJMf988H4dz65P1geIfUXSQsXfDx7K3+vqPqoiK3VuCDdF+Qyzy9U0qKPcmPjg3Lnmq44hjfL5Zfn5PLPKXIi+p/yKIpj1Mu6AcTaEO+e8dmvneyr5L4uI0/vV5W0Zxlx9hL7anGvqqpxCpkypzbpay2WDeTE7QuSPpAe4/j3u1XgdJ7q5XkpTyn0hmLKydxrK8vP4Z1aGVtf8cr1l3vkdRW+oMbpVjaQE+cPyHWFE+Qy+A1qo4aVuM/eErEeIHcS210uR9ykYuu4C8jlviPj+ycUa4rJjX0zlIyKU71M/he5vlNYZwW2gbGVHgDbXHxYjVNH3BU3sZ/IQ8HukRN8O8Z7sh7nd8m9CQrrjaPeC8BtOSwmfVDJhfSlVa9kLijpV3Li/DfJ+xaOh96fiypU5goxZ8q9GCbE959U83lhN5MTUL9XwT2NkwfYmIj3Lrnn5VGKqVji9Ytj/9aqz8V9ZhnnjRoTOd+Ve7HcpFhwVU6S9HZ+l9U7L52L8ki54PtX9Uyc3xkFoRULiutAOel1thrnnRuv+mJju6tn4nyUPGXPFSq3V0ufifPkfNhQTlDdXuQ5ICcWz8vtW1bS0RFnNufvD+K1cXHtnSTpCCUNWgUf13Re8J/JU9qcqdwiuvIQ1mq89i25l8vdZV1nEdNaEdP28f3O8f0Byd/0I8W0WOl50qJ4FpZ7tO2V27+6XBnLz0eazvt6dLz+lVbENoe4+3qW7RBxvSH32DpQfob9OP69t5IFsFsZnyK5lH2Gci+nIbn4l5IbK3+e7NtaTprMfl4UcS/LxfWQXG65Q8li0EoaeOXE+d3yM2OJVsc3h9gXijj+L9mXHfsFk3vaRUUcyySG5ZWbAkjurTtd9QbhZeXepW8o7slyGXxduafcVcnfUsR5sGESw4rJ/q/Lz+SJ8pzQ6TD8NeRpAv6v1fHlYs2Xv9+txga+lVRPnH9crv+Ml9eT+K0KbvjNxfs5uUFkOdUXhR8sP6ueVx9rhRQRdyfF2uR3/l3S1Cb7GxZJjPNjv5Ji7CsRvZpcR3xV0k+S/WVM4ZieB1+Qpwk5RLFgYux/r5xofEGxNk6R99leYh0bW3a+riY3oN8u6XPJ+5aQyzP3Kuo9ZcQd5+w1uXtuWo9YTh5NdYlcDj8geS4UcT/Ij9ZIywvpv7eSO168Jj9zH5bL6UUuBp31fP+TnMN6Sl67adF4fYKcU7g1u3fJ5bUV5TLPX8s4D9jm7630ANj6+UEliwbJ8zmeq8ZhtevLvc3TnrFD5F5wJxVxk8vii6/D5N6XWylJMrXblntQ/FUeYj1drjxkPfRWkJPOs+SGiv/IlaCX1eLKe/7zj38vHTFsocYhSU0T5/m/s+DjO0JejOUGufX393LF8tas0CPP/5v1iH8+Ch1Dyoo7d6y/H+fEpYreTGqjxh/Vhyi/P9l3lJonzj8en8MKBcaXLjK4bLJ/wTimz8uL++QT5yPUpGBX8rmQJc4flrRO7NtETvhNVfHT8/xbLhwuKhfGt5f0dNynLpEbHu6RC75Ne9+o+IRDOlLqTrnC/nfV59rOz1v4PbnA/KTc47hhup+CY6/IybGn5dEQX4qYD0jO1W3kHlsfLiimEYrRQ3IyKV0LYHm5x9Ajkr6e7E8T5/uXdQ7Ev3t7lmU9zk+RtGYJn/XC2WeenK+nyc+yKfJc5dn81YvF33CL3FP3o3Fe/0e5BE+B5+mwiOUbcQ+4RY2LV8+en1ieFue0omNs9n3EcZfqw9orSazZAsu3q7iFqxeXK+vnK0mcyxX2F9I45HL5+XJD+2Vyo+8taizPtHrUScNUeHI569LseMb+c+LaOl31+fbfF3Feo2KT+32Vv5dMXls+zouX5DLMFfJzoawe5iPlctbZSkYQJJ/z4PjsZ8hrnYxJ3lP0qJO2jzU559JnwyS5oWxQPha5cfonyo2IUEkjPeU1Y/4gN5R+S/U1htaQe+2/rJIS57njdppcHr9D7vHcHedG9rx7n1x+mS5pmyLP0ybH9NdyPfvB+PqB2L+R/Ex7QV54+4SI+XkVv+hnemyHyM+mo/LXTe68bjZqrZXTOC4o6VOql1cWkp9TPebaz/094+QGqa3kqbIKXbha9TLBJvII2Tcl/Tj3ni3kesQMeR2UM+PcvlUFPsfYBs5WegBsc/FhuVJ8rlxxuE6uGKU342yOx9NVb1FMH0KtLrDnF2+5X07gvCIPB+9zQZQSjmd67I6Ukwt7ywuQPRSFiywhsbBckT9Pbo0/RQUlzHMxHy4P/bpT9RbXSvKAyRLnZysWVCshxnQhuh2iQJPOrb96HN/bJK2RHN9t4yFY+pz7uXNjb/VMnLfFg1ju5fyKcovIqDFx/u7YN1QFTXeSu+8cot4T55fJhd3PKZc4b5fjrOaJ8wclfTnuxbepwIWVVS+8biYPV3xJHqlRlZ8LX0veu4acND+iHY5lxDRcTupfohjyG/erN+NvODj3/jXkKUgKK7Sr7x5kf1F9Lt2DY19FrmBcITdeF73A36C4P92hZFFEechyNrVJ08R5Uce0ScxzepZ9Ko7xBYoKc/aeFse1kpwo3TM7VnFcb5YbfW+RG07+rPpaJ1vGveBNeQHQK1VSw2/+3JNHQzRLnC8u6UP586iIc7WP13aL+9kxShKicsPg2XFOLNTqGHMx/SI+01NUf/6vI0/Hsrz8XM3O2RUkfUbuqHKUvNBiaeUZOYFXlZNlWVl2lJw4nyknoK+L8/sqFduTcE7l78cVjdPxnqFyYvJfciKylIR5xPKNOH7Pq76uweD8V3kaqaqk7Yh1jnGOivtrlsDdU+6l/T3lRvPKIzhuUglTccTvT5OLZ8jPg4vkhp3H5TJi9nesrPrUiaXNvR73sYfkOtao+MyPiM98h+R975PLDA+rSZm8hfGl94NT5TrDYRH3f+Rna7b2wgR5BHjWIesYFT+SOrt2FpA7rYyXpzr6Tvp68v5xKjipH793U7nscp5cz75fLqf2OQWXmif3CynX5o7tBfE5Xyg3lOY71qwtj0K8Jd57RP7+xsY2r7bSA2Cbiw/LvdxukFuBr0r2p/M/HhMPu7JWkx8RN+jJ8hDljeWKUDUKDqUs7jeHmBeX56L8VLLvA3Kv8ifVZB5wlTMn4WIR09NqXMxpkBqTDdvH8T5V5c35mS34eIKkk5L92TC7NaIQdGQvP98Oc7vlE+dZon/ZsmPLxXmEPCflsrn9R8W94kQVvFha/jOMQk1vifNL5GljvlbW+TqX58Jn4x5XVcEJ81xMw+RGkxPlRO13FQ0kufc9omTxoYJjXFzJfOVxn/qonLSZEPtOlyuaH1J9ftLv9fL/Fblo2ih5GPPx8TWd+uyEiPOQiPsbctJhqpr0mivoXPiS6kNYmyXO71PSoFLm9g6eZWcUdW+QkwZXyInSr8nTr5wlabnkHD427md/y85veR7zzeJ8aLeG3yxxfrM84mhpObFf6Hzranwm7COXCc+Q5yfNGsUOludinyJp14j9pDhXFi8w1vT4/UhO5p8qN6qsGfessXP7d7cw3jSRl47a+LLqPcvXTvZ/PY77r+M4l3LOas7l73Wa/Ewp82znYjhYbpB+OLk3NDTsyr1P/17mfaBTYpUbHquKUVry8/dGuQz7fcWaQvI0ItfE/aHsxRMPlstXG6peDjw4/o4DVX+OrSI/Qx6TtEgJcQ6Vn2m/UiTC5Qa/5+SyzIjc+9dVAdOcxGe8Q27f5+Ve8Jsn5+i6cUx/ocapmwofyZWLdXScowfF3zJFLmstGa+n9+EvyR0bCu08KCeeD5bLM9kaKyPLvnb6eWynyKMhx8rJ8X/LifPvN3l/fo0vEuZs83wrPQC2fn5Q9YfDyvLQmqqkXzR5/XC510jhD+b4/bvKlbN1kwdeNoXE3s3+ppKP69Fyr4AblJuHTG6hzQruE3LHuejeY+nnf14cz1/l4k2TDR9TCT3hk3jeLfcEqcoF3LHJa1ni/K9yIX7BIh/gzX5Xb5+nGivOP5Yr+KXOSZjsyyo7W8gV+APjHEgXyzpWTvYXkmzo63OUFx3sLXF+q6T/tMlx7c+5sHsc2yLnI+zr2DbtERT3sIdVzrzVS8g9xX6lxsT5upK+HP/+cZyf68f3m6jei/tXJcScX9BpmpwIf0mudBwdr4+I+9djcu+ia+UEYGk9XCKmneQGqCnqmTi/WR6Vsn3RsfVyjFdR/55lH1XBzzI5cX6+XEG7UO7dOkT1Mk32+U+L+8DoJv9H6ZVSNSZSd5bLOm9F3GmDX9FTcZwuj5L5l1yJfzaus2zaq6+r3vP1ReUWBCz62MX3P477wClykuQlubHsG3Kv2G9I2kPuNb1JUcc1fk9+wfUlcq9/RfXEea+LwRd9zqp/5e8nVGL5u69jonoy6nxFmUa9jIjKfz/QY20S3zh5WquTVZ/eZGzcB2bKoz3vkMsLbbF4Yty/Jqo+4mhpeYTn35N92fpYK+WvyxbGNTT3/bvlstju8f1qEecpSZyHKRmJVECMY+QRm/9Q45Rxv5CfTdnosxXlXvonqT7FyLjc+Vvk/SBNhB8uNz5na1t8P2I9VvXpXbvk6U0ul0f8FD41j6R3yY3O3fI0Z23ZE7vJsb1WbtzJ/o515ManhsS5eo5EKT23xDZ/bqUHwNbLB5PMx5S/AcTD9wK5Bf6XsW+kXAm9Ix7kZc1hfVgUarKCQrZQ2n7x/XhJny77+EYsXXLy62l5nu0Pq7FiV5EL7tfG6+8pMrY+XlsxPv8nFQvQJX9Pj/OlwJjz5+mq8YB7K86DfEHub0rmgi4oxixhP0LucfdleeqHhZL3zHE+OpXXs+FgebHU8bn958iL4GT3jTRxvmjJx3bR5D2HqXnifEzRx/R/PReSfUVUhpvFurakd6WxJp9/VzwPrpF7GBV+vsZnekTcOw9R41ypQyLGqyT9n+qVnyFyY9slKnghWNV7Wlbk+aAvVEwrJVeGfx33sr8kP7N03OfGJveGlp4PfX2Wcm+nz6p54nx1eZ7Yoq+zvuJdRW30LFPj83+DuK++KOm0ZH96Lf5FTubMnhKvwFj7VflW4/Nrc3nKjtlz2Rdx/8rFs69cRtw0ueay9QG+l7xvITm5s6bmMJS8BTGmvW9XSvb/SO6deVvE+185qfuMPOz9XjnJV3gnALmh70Q5Cf2inHzcLnk9S5yfphKmCWh2XqpNy99NzoPhcSy/JzfirZW85ydyp4XzVV9DpoyOFZ0Ua3pPyk/lN0ONZcORcmPUMfKUWN9WCaMi8te0XL55VNIf4vsV1TMR/Y003lbHp1zvcEmfTf59i9yrfFU5sXuq6msarB7nRJGxnig35GcNJEvH15Mk3Zg7pierPqJrz/jZ0kalyuWs78qLVO6ee+0v8jPidjmJ/sc49lOTa7To6fvWkfRLuTz+jFyumb0YcO69pSac+zq28foEOa/wvHoZkcrG1qqt9ADYmnwojYXgf8QN7q9ysjxrXV9Fnv6iKhfSb47vb05uzK2e+7NZL819Jc2If3884ts/vs8KyRepyTQCBRzXZnN0jZS0o1zJmF2QTH9GHip6mZLKU1HHVV6E4zOSds29J0s2TJP0w2R/6b2gk3M0m+d3chQidlW9h8DqUag4qYDzdA156GdWSBgrV3pfklveZ8kF3S37c+6UVaiIz3x6bLfL89evGK+tLRcuD+rtcyn52G6T/Myhcg/dc5X0Lisi5nl9LrRjrHIP72/IPWBuVIk9suSK5U8j3h+rcaHKpeWeb2kv483ifvFeqZRehSPlxNh/5EpGWrlfRJ5v91nFkOJ8bAXcy7Jn+yi5seFMea7nHRSjeeRyQ9Me58n/U9RitemzbHe5F9lfI75FYv/qapNnWZP4N1J9ZN+3k/1p4vwUedhwkT3I0rmIF1TSeNbL+3sbPVPGPeEUuZEhS5YsJ5cP/qncNAElfeZp+ftf8vRM6fPrILnn60WSNox9C8Q1OVIFNqwnv2uUPDLmajkx8rO4/p9QTG0R78saJ05XwQvsNjsH4/ppq/J38rvTRatvlqe+eiOO3x1KEjqql2nOUa5MQ6y9xtqjs4z8jH1Q0TDd1zVUxr0rfu8Gcl12aNwfLpWnIs0S5mPjfdmULPuomI4VH5Q7G3wmvj9bbiBZUk5S/zzuCa+qsRF4Ibln/FQVVC+XG3auknRcfP9vST+Nf+8c5+4Bqq8lkT0rlpLvx5PUZHRXgefAYXFtvSHpY7FvZPL6nnKP7tfkTiBHqw1Gpcb94bA4ruep3rmxEtde4dN49vPY5nuSrx3XXlXSzmXHzDZwttIDYOvlg3Fh8vYo8EyRW9XulHtjZIt8riRX7p+Nh2W6cFKre7tVkjg3TvZvJRfILlfPnkNrxP4/qfgeZGnlfZiSBRHl3kS7yBWhf6l5wb2Qypx6rh5/t1zxeUFOMq6qegUoS5w/nBU4SjhP0yTOT+UeASfJCd0szhXkSs/bchLvdLnAdL1aPDxcLpzdLSdkPhjfnxjXyxby0K/vxOs3SdqijOM4p3Mht/9LcmH8bXkRr+/LiYeL5IrQuILim9tju3XyswdH/L8u8Hh2zLnwTmOVK0gXyT2gJqkNhmGqZ+I8narleDlh9l25J+RVcvKkrGmw9pafW9MlfTX2DVK9or+UPMXJISUcxzQxcmt87r+LY/aYXCleMN4zWm5sfVIuNxS2loiaJA3le/5Tck/c6fKz9hLVezuuphKfZeo7ObOhXM56SbGQXuzPEudDk8+miDn30/PgInn+1+fj3C1kVNE7jVsuLz6gWGNBLsPke2cepFjwrYQY0+mZ7pbL3p9Uzzl/sx7np6nJ4uBFnAdpzJJ+KzeorpLsf5c8jcUTiuRD7P9i3OOOVkFrH+XuBaPVWM4dKSfK2qH8ndWtsmtsmNzT/VJ56rAx8mK0V8U19+XkZwst03RSrM1ijzivkOuM2VQWQ+UE7j2qP8tKbzxN4t5XTjpnxzxbL6Aq6czkfQvJI2nvVswhX0Bs68n16xfiun9E7nyQxTpefl7MlBuuF43z43j52bZWATGOUeQL5DJhtnj9M5LeG/uzjlZvSbom+dkl4tx4TAUv+tnk71g1Pt9Zkk5M9ucXWF88d68rImGelflHyvf6n8ll62zqswXkhrNn5JzCaLlce62kf5d5XOdwbPOd894nd2xpqylm2ObvrfQA2JIPo7HQvYWcAFtMTkiuLld+H5J7cGcFpjRxWkgvLdWToV1ykvQRJXOhyYXxqtzrZeF43ybxcLxOBfWEz8cb//6ZXFibKvfSW131xG2aOC+8J3wu5olRONgqHmp/i2N6udz4kBWEVpanYLhDybQSBcWYVt7vkZM4k+Uhy1V5OOVKSZz/jv1/lvTx5P9pdQPPWvKcqLfLw1UvlKc4Sa+3T8iVy5PkwmXZQ9TSc3Y5uYA7KveeHeThlt1xTt8Qx/ejBcY5t8c2nU7kSyq4t1AnnQvvINax8rNifXlYeylTCTU7XvJ8pWnifFzsX0RuAKrKSajLVb8fF5GAnD0XcLIv6+lyj6RVm7x+p6S/lXROZMmGy1Sf8/MkeVHl5+Se3NmxHSVXms4t6hyQK2onKmm4k5P5T8plgCy2w+Tn25WK9RZU0rNMjQ2/v5AT/BMlfTd5zyZyz6yX1Jg4T+fgLOJ8za7poXID9OVyxXGi6onQ5cs4N3uLtcm/j5GTSR+OczadJmAFORH9U+Wmcysw7kFyIun69FjKyds0AXJQxD+78afIGHPfXyTp/OT7rEHnXXKnmhNz7/9mnC+bFxBresx+GveusyXtmewfoZLL3/LUbFeosfflJvLz9eNqfAZsLNdvbpW0RrK/kDJNJ8Xay3kwXn4GXBnX0N3ytFFLycnR15SM7GmXLY7x80oa9eQe0VW54W87+Zl7qjx6Yu0CYkrvrevLSfOqpAOT/dn9IOtV/qCclH5QrrMVkTAfHfeiC+P7peJ8rSqmmU3eu5VcFnhO7hjwR7kzxTNFHNPeztvc/pVUf+4enuwfkvy70BHKaqyT3yl3UnhCLn+9JGm35LP4cZzLT8b1d5sKXmD5HRzb3nrQkzhnK2QrPQC2+CByc13J85Kekyv8LKvmifNVVU+c/6ygOEfKiZkp8SC7TY09SY+Vk+nZDfnOeG+ZUwWcJvfMPEpO3N4cD/Hd5d7mg+WC+4tyRWipks6FneWk/ubx/d7yUKWfxPG8XJ7nM2u8WFElJfnjmJ0en+3KqlfqT5F7srw/ee+qcuXucUkfKTjO1eUkzVNxnSwT+9MCzp4R8xpFxtYk1rSg9Ze4dp6TEyKb5t47PP620+J9VSUjTjrh2BZ9L+iwc6G/sc5Sk+H2Kn7uxHRO9UFqXAB4tJxA7ZZ7uqQ9zjeSGwmaLkzW4phHydOgvTvZ9xO5R9nJShLncoPldEkHFxhfej/4lJwAWSW+/1ecHxPi3totJ37Hx+sjkp8tIpmzbdyDsnleB8tJ/n/Ev9O/ZX/5Wbt/8rmvoAKfZWrsWXyvnLA/S37+PinpyuS968sNEM9L+kFRMSa/PztGg+QpK85S4+KJWSL07yo5cZ4/19RYjv1sXENvSjov2b+w3Dng3qLiV5Oe1nJPvFsk/by38yX5/tdyY2aRPcuzct941RccnSKXC9MRlFmi7HC5nLuo6uXvNeTRSLsWGPcJ8vzlp8h1gmclTUxezxLnpZS/VV9/KZ0ubKfYly30lz53Px2vbdPk/2r1NHMdE2v8jnS+9Q+rca2Nz8hJ0VfldQH+LdcnL1STqcXK3OSOCVfG9ZY+W/eUOze8HOf22Wpx2VHN1zv7ktwodaP8nNo5eS1rYBkud1bYWk5cL1jAceuSp9+6UTGNibxg8oNyuaUq6Ru5n3mv3DB5s5zY/7WKn6IpPW83jOtoLdXnV19ZTu7OUD+SuwXFPFQuc12i+gLKy8v1w7dUHxk1UtLn5VzIUSp4VGonHls2ttIDYGsoBI+WdFzc8C6SdHST9ywbD+f75bkAs4LxSmpxLy01VjDvkYcsnyX3yqnKFc2PJO//oDx1xL5qXJCojJXZvxYP6PerXvncNOL+keqViaFywWOaWlxoV721d9Vk3+A4Vtk88F+Xe13sJA+/3DdiPktOlJQ6dFHuuXCPpL2S47qznHDM/obsHM3mOJ8iJyRmT+FSUKzZPOpVSQeqXojMPvtV47XPlXg809442VDEQ+UpjabLQ+jS+VXTgscakpYsKe62P7adGm+nxKrG59jf5OfRjZL+IA9TrcR5+jPVe5yP7e3/KTDuHeP4LZzb/6u4994v94L7rZyYulUFzUupxkbqQXG//W4cy5/JDSkbxHuWlhtX7pEb2wqZeiEX83i5oeFJOYGeLZb29+Q9ae/sayVNjn+XNaJjkNzoeLkaexafFOfFJ5J9G0bMF5YRb1w/V8i97tKEc1Y2+3rE/DcVNC1As+OZ/Ht/udfl+XG+ZlOw/FBOMF0pl3e+owJ7Z0YM68u9yZfL7V9anoKp6RQxcU5v2+TYF5k4HxHX2H/lhNRB6mWUWdx/Z691lBz/6WphD3k1lmXGxfW1eXw/SvVF6dIh+CNUUPm7SbyLyI1ij0r6YOzbWO6wcpB6PncXlBt+vlFknB0Ya1YuGBPX+2S57J+fp3iCvHjpLXEuvyVpo3ittOk8m/wdH5TrN7vlXl9Yrp8voGR+6xbF1yWPNE2n3Pm73EA2Xq7nXionzndN3jNY5dS/R8fnfrL8vP2H/MxdQa63nByf+Tf7OO5FdwBJz9sb5LJWVW74u0TSYvF61iv6JUm/KDjGHtMYylPdPSSXa7P7wE5x/e8X3w/N/1x2fnBs2dh630oPgC0+CBcWb5WH45+v+iIuX0/ek91olpF7aZympLVZBfTSUn1KltvlaSOymL4gJxemKulx3uTnixomnlXOsmPze3luv6wH3opy790TFT0G1Jg4b+kcsHLP9nvjM56oxsr6ovKw2gXlSt2ByUNutXiwVOVCUcuHMOcfrMl5UJGHib4l6UOx/3NqXPx1lNzD4H3Jz64oF4zvU27KkXl5nvayf7U47g/IU16kw1u3iYfzh4s4R/s6znKS7M8RU3YO7yz3FrhZTRLnBcbZUce2k+LtpFhz8eV77F4jN/RkjT1TVa/cj5F7cr8lL6zZ0grmHOKtyBXMN1XvUZ4ml34S97Nn5BE1X1b9XtyS60495/QdIzeefUX1++5QOXn6MzWWCx6XR3idqwITDUqmrpAbeWbE8VpQLs88oCQZmsR8gjxlW2mNv3KS4za5QTprpNhBHr3x/ey8Tt6/evK3FnqM4+tVqi/wNzYfh9xB4C15FMISBR/LNI7T43w8Q+55+aL87PpAvP4tufFhpqS75PLs6gXFubR8T/1Jk7izxQgvVEwdlP598miPSUqS7UWcB8m5WYn70PmK3qxxnV0ql2k/pnpvzjXkafP+nvu/VpG0ckHHepI88vTfapy2aSF5MeOG6WPkulChazAk1/Paco/nSfH9MLkM/ogan7uDJG0uN1IW9tztpFizeONrtkbAhXIP5+F9nedyPeJmeQrNUqZpili+qZ4LrS8ud2q7VDH9aAlxDZEbxp+VO6adE/9eJ3nP5nKv8+cl7RT7RsiNaAeVEPNv5OfSDRHT6slra6pJ4jz+zlLWt4nfOTzivVieMmZxuRw2S+6ckN1nV5AbLZom/lsU2zrysz7rmZ0dp+0ijiXj+6xOfkB8P1rutV/2aLS2PbZsbL1tpQcwkDcliyDKvZ7PU30O6PXlHk0PqnHl86yyuVjy7x7DtFoY81i5EP7n+D7tTbJb3Ngapmop8HiOkLSfMhAeTwAAUpZJREFU3AP+JDUOAbxI0kXx75Xled9OTh44+0dhosjjeJ6cAH9TLvTkezytEHF+K9n3Ubmy9P6iHnpygma03JNlOSXD+eK1B+WebZ+Qe5Cmc+ltEufxTrn/c3m1qJeT6pXLIXLleC01DlteQ65YPCiPMlhJHiJ6tZzAKXX4lzxU7lG5EWqV3Gs7qp44L+Ma66hj20nxdlisvTWk/UVO5q6U7D9YPXvsjpXnqryi2f/Vwrh7VMDlXpAvSvpasi8d2v4zuZJ3rOpD31tSkZe0mVyx3D45pr+Ue5SmI5IWlpMgf072bSg/0xZUQUlduXGv2bRA34jPfHtJG6je+zn/N1wu9zorczjz8kpGaqg+9UFWyRwhTyv0qdzPtXLdmIXj+v60nPxYMvf6KRHjwarPE58mfr8v9+osYp712SMikn17y73dNlO9nPuZiHmv5H1DJL1bLkcUtdjjZnLFfOvkHD4ujnOWePi26qMQl0h+diW50eKkIu9bye8fLd9jj5d0TLK/Ii+Mdonqa99cIDdGTFXjtFlF3m+XlhN3b8X5OCRizeIZLyfOn5R0bsHH8j2KUTq5/T+IY/j55G94SH72Hiw3OHxSfu5eVcS9q5NizcXXJSfB/xi/fxnV660ryYn/9ZP3p8/dw+Vy8CIFxDlYfm5uGHEtLGlLuf71ttyxaYfk/bvHcc8WtSx04d/4mq1v8krEmY04S0f6ZD3OX5XrFSfIo+fWKSDOMZI2zO17Nu4Fv1KuYUyNifM9Wh3fnM7b+Ppxuby9ieqNUJ+XOzUekHvvanIHt6J6a2f3+j3UWE9YWe60sJvqz9x0vbuPy/mQTTi2bGxzt5UewEDb5AU+z0y+Hy4XJk+TdGzuvRvLPfYeUmPiPE1Ut6QQpF6SAnKh91olBVw19sw7We7tcpViaF1Bx3WMnDi6Vp665ENKegnJ04e8KvfQeUYeCrxAvLZ0FCb+qgJ7PcpDZB+SezNMl5Phae+lVeNYHhP/Xjr+fY5a1EO7SYxrqD73XHccw7sUQ+/jPYfKQ62rkvaOfRW5wH6VkoXo1PokTjrs65w4vq/Lvdq/rKgAx991T8T8YBz7SSpxzv34vUPkXgD3xjmxdOwflrxnR7ki/JCkLQqMraOObSfF20mxxu/pava9fP/9Q/L37CwnqLJhoWmP3VEqoBeRej5zR8uV4H3kQvoW8mJJe/fxfxwh9+b/h1rUQ1NO5r0p6bfx/Uh5WO258rQbaWV4pPwseELSIZJ2jWM/OTmmLa3Iy4nOp+Jc/I4aF5lbUa6sT5OTol+L910hJyS/KD+DX1IBazDIvcMPkssnX1XjgsTj5Ib+v8oV0Kq8uFt2HLeM4/rpVscZv28DuZEkO7ZVuRxwiBp7Ep4nJyD2U/PEecvPA7nx60JJ6+b2nyL3MM86Jayk6FGsXC9TFdhrP73GVB9huEYc46vkCnxFTvb9NvZfEufOr+URlreogMXs5QURPyA3PGWjYNaSy2FV5Rb3TM7lA+SkyLlyY0/Rc9Xmh/yvJ5ev8yNns7gWlEck3a+CppeLe1J2be0jab3ktTXiXLhHMTpGnvv5anlURFUe+TNZBTx3OyzW9JxdJdl/keo94kfK9+BH5Mbo6WpcdDm7b30oXt+wVfHG7xktj4a9O47XrIjty/Kokp3kstb0OI5byKNR/h3fF9LYl4s5SzKeLif1n5E7fmXlrrTxYWO5ke9x+d71ngLiGyN3CDtb9ZF5X4ljfLGcuP+mkpEn8Z41k3vF7q2Os5fzNm3YP0DS88n3u6pxJPUCcgeBEbn/r4jp+ypx/r0cxzIbXf8uOW/0lPysy2Ltkp/DV8rP50Iaejrx2LKx9baVHsBA2uQC+xvytAvZg2RluYJUlRPnQ9VYOc5WPr9PScGixXGuI1fIP57bP1j13oTPSvqIkoqZnPA7P7bHVV8MrNWJ0myO9Uvl3jbNehOuLleMZynmUI39i8lDfx5WQYuMqF5J7JKHrf9FbnV9Ubke56rPUfq0XHB7TgWsdB6/eyM5eXeuvLjcB+Vej3fKCb2D5F54i8vDKJ+Ve2ytL/eAuU65Xk4tiLFZj9eRcmL/Snn+32/KFftuuVfT4vG+1SK+t+Jvzc7lIhch7C3+g+SC5VWqL/g7NHnP5+SCUcvmre20Y9tJ8XZSrE3iXENOIE2M+0F2fS8mVyz3Tc7RtBA8TK6cfi33/7Uy8dTsmbuvPLXFY3KlIqssvyz3Jj9K7p23ppKGX/keWI3/a54ea7mH21vxO7LGyH/E73tCMb2VGssG75Mrpa/Kz4cpSkavFXQuXBgxPiInpPdOXts5/qbfxPe7xPn9lpxMv1bFVOA3jd93i9wY2S0/c9Nj+TPVE1PZlB1ZJfMqOUFdROPZRnLPwaPlXuYLywtnHhexXSBps+T95yqXOM/9f628thaQyy/XK9YDiGM2XC4j/CX2rab6yL6sYv8TSXsWcY4m8abX2Ojca++La+g6JfMoy5X2u+WeezfGNdnyJHTEepvqDSevKeYmlpPQD8nlxQ81+4zVs2GilYnSUXKv5q1z+9PE3TrydEFVSV9I9mfHcpyShqwCzoUu1acGujtiOzh5fTe5rnCY6tMEDJHLttvH10IWre6UWHs5Z7PRO8fJ99Gj5MbSt+U1TXaWE+pXyw1wWVlmqFyneFTSoi2MeYxcd5ws11kmyNNGnRV/w3nyM2C8PNf+1Ljupsbf86QK6LjSxzX2MXmEzBS5nHCA6mWAtDPbUDl52ZL1znIxLSDfny5S4yid5SOGEXIS/7U41mNzP7+2PCqtpQupzuG83SVe200uFy6l+to3s3tBxzlxsgoY9a3GBvF0loIrVE+cZ2XHdeM8nS53BFgkrrVr1Njo2+qOFR1xbNnY+ruVHsBA2VQfdj27h0vy2gS51foNSZ+MfekNciO5cnKqWp+AHi9XeLIK5Klyr7C0d/vCclL8ViULD8m9yybHQ+9wuRdZS1fmlhP5J8qFhjTZnBYYviT31thCLiA9JVcyfykXjp5Tixefyj+cVO8psE/Evpo8lOoVOXG+QvLe7eWejj9VcYn9zeIBd5SkFXOvrSUXgmclD7ll5Yrw/XIF8ya54NPSCqbqPdm6VK8YHBTn8Oq59/4hYt4t2fceuXBexhy1adImm6c46ykySh4a/oycKMl6xaWJ85Yu9Ndpx7aT4u2kWHOxbCrfL+9SvSB8k+o9Xc+QK/bfVM+pmtaTpw34TkGx9vrMjdffJU83ta2czH9TbsB+SH52ZZXmNPlzqHJTJs2DONeXE9+3K5c4kpOiVfl+mx3j9Fm8eJwLm6qgJE4agzx/5mny8+lwuXH/QsWzWJ7H9A3Vk/5LyiOQlleTRWBbeA4cKT+jhqveEL1B7r1/if3HyAnrfVVAw2/y+5eM3/VHNZnTWW5Iq8Y5kfbqP1t+Vv9UuWRwC2PNEiOXKDfvd7z+N7khZXPV19/JKvTLxn3icBU0X3Gza0w9e0S/T04yXKfGxsiF5GTPmOS9rUw+ZmWvYyR9WB4Nc3V89h9JYn1KnhN20yTWHiP68n/nPI51kFx3yeoLxyqZxiL33nXkZ9bsxLlc7il8ypD4urNcvzlMTuA+JJfF14zXfycndXodCdPK+0EnxdrLOZutvbCpXCc8R26sPkWNDX9Hys/dtM42Qrm1kFoQ85CI6VJ52pj0mumSFyWtysnfdM2pPeTpkbJzfukWnwPNrrFP594zXi5bPSknzrPzZpTcU76oERzZc+FS1Tt5NFtUdaScEO0tcV7Uc6Gv83ZreYT363GtvaX6iMlsJPWVcgN3EaOkhuW+TxPnV8b1P/tYyonza+XGlLfj2vuX6mWZlt53O+nYsrH1dys9gIGwyYWGt+SKZdYTIHuoZT10Vpfn4p6pSETnHuJrqoApLqKwcGLc2P4dD+GqPIfyFxRD0+XE6cNycuFCubf2/ZJuidf3lytN41p8bJeSk/ffSo5PmlTYJ+J/SZ7eZE25p+DDcuXoz5rHSZAmMY6Jh9chikpP8toEuUX4G/H9TvHwO0cltbDKFcY35d6t6XQKafJoCXkY3euSNo99w+SC6Kpy7/9W99ZdNT7XrdLPXZ6u4nbVe5amyemLlSwykvv/ipwTOo3pJ3Jh5la5ArFJ7B8d58z0uMZ6JM5bGF9HHdtOireTYs39nuw5dpS83sIYee7kVyWdFO/5rNygWpX0yyw+uVHwajnJVkSP3b6euT0WR5SnMbg+uWctLfeS6THceR7H+f6Ic7r8rP25evaCvUi+H++pemNL02OoFidxmvy+sXLl90S5YXpd+T52l9wzbhO5Mj9VuUpfAbGlz7F0zs+15R6MG8nlmCWT1w6XexS/IVfajlFB01vIQ5gfUGNCKd/YniVy9srtvzqOcxGV9zER54WqTxuVXVtZRf6DcYxnSTo7+dlF5LLifUo6BrQ43l6vsSbHN0ucXxvnbrNe3K0sf/dW9tpMbny4LLmfZb3jGxLnRW5yfeHoOCevlkcUVOPa+bikpXLvf6+cOO+W9NWCY803kiwol7NPiH+vItcJ7pDnXN42vr9K9WdyUY3TnRRrX+fsc4qRvXIj9UjVG3+HyCOtr1GMSs6fWy2Oe9U4frsk96/8/WDPOJ8Pzu2vyJ2wWr6Ybh/X2FVxjWUN1AvJyeqn5IaVleX67eNqcWI/fn9fz4WhEUva+DBC9cT5N9TiXMFcnrfPJuftvnG8r1WM8panbLtGvvcWMVXXRnLO4udyD+1hypVJVZ+SKU2cLyqX1bdR0jCk1pdlOubYsrHNzVZ6APP7JveuqMrD2bOkV1YRX1duld02vl9b7lXaNHGe/myLYs0ecCvKPVx/Gw+7feXehNWI9zty0nRI3BSvlJPqac/iC+Lh2dK5t+Ve2FU1SXzLFeBsOO5t8TdlSf+x8bXVD49Bqg+tfkSuLP5LrshlMfwo9meLzH1G7q19pgrqWZ7EO0711uAV5/De98lTHFwuJ3iL7uW0qZxknKl64n6w3JPlfrkQWVHSm0n1ue1XbVVcc/k3nC73BDhW7o03VU7YbBevj5CTT9l0BsMLiqujjm0nxdtJsSYxNzzHVH9WDJMTpjcm7z0wztd75F69v5cT0jermHlV5/TMfUDSx3I/8yl5lM8q8X3a8NqqRr/3yxXGn8vJ53/Lz6hmifPL43z5rnpJ+BVwDoySh7DnFydeTm7oPTTZ93O5oedhebq26fJzrqh5NMep/hzLFlfPyibbysncbG2AByQdkvvZZdTYSFxE7/195ed+jxFESnoSx3nymJIFX9PzQa195g5Sfc7Z92b74uuwuM6/Ht8fEnHeKk/l9wP5GfeiWjyyL4l3jtdY/pxUvRf3VYr7cwnn7Ir5z1JOmF/QS6zXSvpgUbHmzsnF4nOeFPeIn8vTIFXlcvduakyWTZB7F85QMiVHi2N9rzzqZUJu/4pxfqQL5R0kd2B6Oj6P6XLnm6KS0J0Ua3/O2Yua7F8g7glXy+WCwpNjqk8J0SPxnYv1n3Kir0djewEx9vca+4pcBxsW97jX5AaLZxT36RbHOafnwj1xzS+U+7lsREE1/oZ2Om8vTr7/QRzTh+X77Z1yA0UR5dlx8hQs1fg8X5MbpM+Wp+dJ1znJpnH6tnoZyafWN0Z1zLFlY5vbrfQA5uctHiQ/ipvHYbEvq9isq/rQlZHJz6wtF4JmSPpUSXGPkys3MxTDgOPB9yW5BTCraB4qV5jHJz+7hNyT6CUVMCeZpB3kJGNWMU7nC/+76vNnbSkXLt6MGIuaMmKY3JPherngtbtcwZkqFxg3kwtvV6s+Nc8weXh4VZ77rcg5tofLvd0fknvc9TmsT57X+DEVlMxt8vs3kxtt3lTMLSgnRaqSfpz/jOMBfZ+aDCkvIfZvxbHbUPXeQV+I2P+YFBpGyr2J7pX0bo5t58fbYbH2eI7F/myKqT3l4dVbqz5c/LNyQ9A0uSB/uArosdssVjV/5ubn/N1MTqS2dNGx5PeNjRiPUn3aisGac+L8FblC1NKpmXqJeS/VR519P/fabnIv3u2Tfe+Te/pnw8ovzv9NLYw1/xxbJva/V258Ol7SR+XegtfHdfi1Xv6voirye0ZsC6XnbS/ve1v1HoY9EuctjHGYPFXEg3JPsGWS/XfKZZulk/fvLnegeEkefXCyctNPtTDWfl9j+eMW525V0tFFxNrLOZuOgBgqd7r4c5Ofy2I9tqhYk99dUX1R4rflKbi65AadfVWfVuY6eTrEdIqelvd+jd81SK6rVOWexQflXv9mHPMPJ/vWUH0Ni6pifn5i/d/P2bhXHC/fd89XQdNFNIl9J/m+36OhPPe+bG2WjYuML/n9/b3GbpLLicvIPbc/p+JG8/T1XLgjYlyql58dKXe4K6xDyDs8bzeRy7V7yqPCilrTYHj83uvkhpAd5I4oWUfGF+Rn2lflKd5uk/Mz31aTad44tmxs73wrPYD5fZMT0L+Km9uhsW9duXL0V9WHWqYJkrXihnhJiXFvo2Rhhtg3Wm7hvFFuNX4l3vO9eP398cC8X8X1JFpNToQcnuxrWomU5wa+SQXNl5b83uHywnKPyq2sy8nD6k6Jh2DWQn9B8jODJX1CLZ46ppd4h8bvfjw+6x6FHdUTut+SG1ferQJ7Puaul/ernoD8QOzL5qc9VJ7vb4Q89++Ncu/u0od7yYnxi1VfHG05uQA0Kdn37vg6QjGVE8e2c+PtpFhzcY9T/Tn2IzVOHXO56hX2rPL2C7kyn5+fvYipWdJYe33m5n5mQXlU0pcLPKYrqv78nz0NjPpOnE+Ov2vHEs6BIaqPkng97l1ry8+38fKcu39XrkeeXMm7WH3Mt9uieNPn2FXyvJqvxDmQTh+2qtw767gizs8+4t1YToqkPfYb5tmNrxsq6dFXQpzDkuN6rTw//W1KEiP5+5ScJB2iJmsLtDjWfl9j6pk4X63o8yF3zt6k6JAiT81xn+oNlfnjW3isud//fiVTciX7L5N7P98il9NflaejK7yMICcbswayy+N6GyFPYXCOpD+pZ0/Y7dSChZ/nl1jf6TkrN1J/NrkmC0+OqV53/E167JN/Z/fbxePc3r7oGHPx9ucaeyvuaz8t4Rrr7blwjZrXIUtNiM7FedtrnEXdc1XPITwen/fSsX9ruaHkNnm03+OqN6I8q/I6XnbMsWVjm5ut9AAGwiYPRft13MiOjptbb5X3heQeMkup4OHXTWL5d9x4F5KHhN0VN8DFY98a8XelC7jsoGRBzgJiHCcnnqapsZdbmiyvyHPUniz3fBtSYoHiqYg3q1zuIFfcHpUbIkrvAR1x9SdxnvXaOrekGPMJyKvkSsYGcb7+Oa65++PcvUeNU0SUfX1dIOmK+HeWMD9F9YT5l+TkYxm9Sjvq2HZSvJ0Uay7u9DmWLQB8bty79pJ7yv9Enrf87Xjf75v93QXHOqdn7iLy4ta/VYkVOfU/cf7HkuNcQtIP5R5Dz0r6WRzDbJHYT2R/R/IzZY1Eyp67D8e58E81mQpAHvn1j7KOacSwsJz4eETJ9EHKdQKQ14u5XQUspNqP45qtX3Cjei5i22OatiLvAb3EPVeJ8/RnCowxK3tNk3sXXhLn71pziqfoWHO/e1LcZ7MREKdIel5ehHUpuTfhGSpgBGofMS4m92a8Xx79cKSciN5K7vyxdXZ+NPnZopPRnRTr/3LOllWeGSdPe5EfIZVvPNtFnkKxsHptHzH35xr7V1nXWH+eC/G+MXK5rJSkbhLHOz5vSzy2T8p5mLQH92h57vIfqb5I7U0lPw865tiysfV3Kz2AgbLFQ+JwuWX7NjWpRMq9dR+QdFyyr7TEnqSvyUPWD5VbB29SL0OoVHDv7dzvniD3FLtJ0sebvL6QPFXAI5rDPN0tjjN9iNySPfTkIZmLlRlbL/GmBaAeiXM5SXK9pO+UGGM+AXm1IgEZ+7aWEyV/led6LGRRt37G/kt5OOPn5IT5yarPc7+MXPj9PxW8gF6nHttOireTYs3FvYA832pVTpY/JPc2bpjuSu4p99ky41X/n7kPSjom2dduifOfqcm0JiXHOVTuSXaG3Ov8YXmaiL/Jz7dF0r+nzE1+ju0gN0DdrJ7PsQly+eZ7bRDreqqXZT6Re61LrhhfI/foLzsBnR3X2+QkfuFz/r7DuPu8xso+rhFDVla8Pe6125QdUz9i3kWuLxwcx/UFecRq6feAXJyD5Y4/J8S19qSkzeNe9oDmMD0SsfYaayeesxPUd91xQTkJeamkBdsg3ra/xub0XJATvH+Kc2TdNoi3Y85bNdbJb8qXZZL3LZc859ohcd72x5aNrT9b6QEMpE1u2c7mnjsk99oyco/D21ViAjpiSRM62YIOU+JGXHqFopeYt43CzyNykn+RKPDsEAXOF5VbWKekOPv10GuXTT17nGeJ/mXlHvOXlF1gU+8JyA/EvsG597dFAVPS6qpPcXS+6onHd8nJp4dUckNKpx3bToq3k2LNxbGA3DvzdUl/Tf+eZjHm/46CY+2IZ26zz1lO6p0pj076gwqe2mIu4v2KnMidJScXZsi9yNomXnl4c/ocy0Z6LRPX3ZVtdH1tG8+Fp+TepWtIWlPSFyPWqWrSW75Njmsh81TPg7jb/hqLY7uD3CB1g+awvkw7bHJ5sCqv1fL+drmm+oh3V3m6g265PP6KpN+ppI4KnR5rh56zWd3xUXmk3KJy3XFLSf+Qe/mvWXacSbxtf4318bwdI3cEeU1tUB/PxdsR56166cymJuu0tcO50UnHlo1tTlvpAQy0TY3Dxg+Jfe+WK513qj4Ev+wehVmPwW/IleCflH3s+hHze+WeZG/HQ/l1uRfh5DYr9OQfem39EFFj4vwGeRqJK+VkU1uscJ0rKGyu+pQXm8e+LrVBb5wmcW8VlZ+pcu+RA+UpL55TQesCzG/HtpPi7aRYc3GPk3txVyX9qOx45hBrRzxzczGnSb3/xj2hrRqs1ThtyLLyiIhXVR8aPK7sGHPxps+x6+M5doXcA70tnmNJrGvLHRVejftBNZ63Z6hNRp0ksXZUeSaJuxOusfTY3qA27WShen3hs1F2+WuZ8fQj3vTetZjqa/NU5RF/bXMedFKsEWNHnLO5mN8bz6y35Xrjq/K0ODdJek/Z8UWMnXaN5Z8Lq8g9zF+TtE7Z8c0h3rY+b9WzTt7Wz9xOOrZsbH1t2U0YBapUKgvIc099T9JR8rDmheQk2duVSmVwrVabVWaMmUqlsqQ8H9VdtVptm0qlUqm18UlTqVQWlocwryP3fLxa0uO1Wu2FUgPLqVQqQyV9RJ5jvVvS+2u12pPlRtW7SqUyTO6R8Vt5xMGd8tC6tjlf03OzUqm8X57+ZA05ATm1zNj6UqlU3ivpMPm4vik3/PxfrVa7p9TAEp12bDsp3k6KNZV7jv24Vqv9pOSQetVJz9xMpVIZVKvVuiuVyiBJtVqtVm23528+nkqlsrGkPST9vJ3uX5lOeI5lKpXKWDlJtpbci/8uSffXarVaG8Y6TF5otSPKM5kOucayc/YoxSKRtVrt2XKjaq5SqSwmN0S9IGnLWq32askh9arJvWsDSR+VdFitVpvVTudBJ8UqddY5m0nqju+Tp8W5UdJ9tVrtmVIDy+mwayx7LvxGft6+JmmzWq12S6mB9aKTzttOilXqvHiBZkialyQq8QfKvbPuUXtX3r8pD13dqlarXVZ2PPOLSJx/Qk7mfLxWqz1cbkR9i4fep+Rhi3tEYb2tztdcAvJD8nl7raSvSnqznSoWqTgXBsk9XdROxzTTace2k+LtpFhT8Rw7SNLekr5Sq9X+XnJIveqkZ26mUql01Wq1av7f7Sg7hyuVypBarfZ22fH0phOeY31p1/Og08ozmU64xuLY7iBpJ0mfrtVq3SWH1KtKpbKzPCXiTrVa7bSy4+mPJknptr0fdEqsnXTOdppOusaS8+Drkvas1Wq3lRxSnzrpvO2kWKXOixfII2leokqlsqBceZvYzhW3SqWyrLwg4c7tGF8ni4fI0FqtNrPsWPqjUqkMrdVqb8W/2/V8TROQ58sLAG5ZcljzhU47tp0UbyfFmooesZ+X9Jd2vB+kOuWZi9bqhOdYJ+q08kwnSRujsh7yZcfUTKVSWUJepPAL7TjaBMXplHO203TaNVapVIbLU6C9UnYs/dFJ520nxSp1XrxAiqR5m+iUilunxImBrVKpVORFZ/4pz//4FUlvtWuP3U7Sace2k+LtpFib6aTnQyfFCgCdolKpDKvVam+WHQcwv+IaA4BiDS47AFinVN47JU4MbDFNwHhJG8lzQ1O4nEc67dh2UrydFGsznfR86KRYAaBTdNpzC+g0XGMAUCx6mgOYb1UqlVG1Nl4op5N12rHtpHg7KVYAAAAAAOZHXWUH8L+qVCqfrlQqv69UKldUKpWXK5VKrVKp/LPsuACUj8Rj63Tase2keDspVgAAAAAA5kfzw/QsB0laW9JMSdMkrVpuOAAAAAAAAACATtXxPc0lfU/SypIWkPSNkmMBAAAAAAAAAHSwju9pXqvVJmf/rlQqZYYCAAAAAAAAAOhw80NPcwAAAAAAAAAA5gmS5gAAAAAAAAAAhI6fnmVe+MAHPlArO4b+OvLIIyVJe+21V6lx9Aextk4nxUusrdNJ8RJr63RSvJ0Uq9RZ8RJr63RSvMTaOp0UL7G2TifF20mxSp0VL7G2TifFS6ytNWXKlPlx/uWOyT3OrUmTJmnixIm67LLLipw6u+W/iJ7mAAAAAAAAAAAEkuYAAAAAAAAAAASS5gAAAAAAAAAABOY0BwAAAAAAAADMUa1WU7VaVXd3t7q7u/XWW2+VHVJLkDQHAAAAAAAAgAHsrrvu0re+9a2yw2gbHZ80r1Qqn5D0ifh2sfi6UaVSmRj/fq5Wq+1dcFgAAAAAAAAA0BHGjh1bdghtpeOT5pImSNott2/52CTpUUkkzQEAAAAAAACgiZkzZ5YdQlvp+IVAa7Xaj2u1WqWPbdmyYwQAAAAAAACAdjV8+PCyQ2gr80NPcwAAAAAAAADAO7TMMsto8uTJc/1zkyZN0sSJE+d9QCXr+J7mAAAAAAAAAADMKyTNAQAAAAAAAAAIJM0BAAAAAAAAAAgkzQEAAAAAAAAACCTNAQAAAAAAAAAIg8sOAAAAAAAAAABQnlqtpmuvvVYzZsxQrVZTtVqd/TX9d/7rDTfcUHboLUHSHAAAAAAAAAAGsClTpuiwww4rO4y2QdIcAAAAAAAAAAawTTfdVLvssouee+45dXV1qVKp9Ovr9ddfr4cffrjs8Oc5kuYAAAAAAAAAMIANGTJEX/3qV+f650aMGDFfJs1ZCBQAAAAAAAAAgEDSHAAAAAAAAACAQNIcAAAAAAAAAIBA0hwAAAAAAAAAgEDSHAAAAAAAAACAQNIcAAAAAAAAAIBA0hwAAAAAAAAAgEDSHAAAAAAAAACAQNIcAAAAAAAAAIBA0hwAAAAAAAAAgEDSHAAAAAAAAACAQNIcAAAAAAAAAIBA0hwAAAAAAAAAgEDSHAAAAAAAAACAQNIcAAAAAAAAAIBA0hwAAAAAAAAAgEDSHAAAAAAAAACAQNIcAAAAAAAAAIBA0hwAAAAAAAAAgEDSHAAAAAAAAACAQNIcAAAAAAAAAIBA0hwAAAAAAAAAgEDSHAAAAAAAAACAMLjsAAAAAAAAAAAA5alWq7rwwgv1wgsvqFarqVqtzv6abfn9tVpN119/fdmhtwRJcwAAAAAAAAAYwKZMmaLDDz+87DDaBklzAAAAAAAAABjANt98c73wwgt68cUXValU1NXV1a+vV199taZOnVp2+PMcSXMAAAAAAAAAGMAGDRqkT3/603P9c6+99tp8mTRnIVAAAAAAAAAAAAJJcwAAAAAAAAAAAtOzAAAAAAAAAMAANmvWLB1//PF65plnVK1WVavV+vX11ltvLTv0liBpDgAAAAAAAAAD2H//+18dd9xxZYfRNkiaAwAAAAAAAMAAtsUWW2jo0KF65ZVXVKlU1NXV1a+vl1xyiS677LKyw5/nSJoDAAAAAAAAwABWqVS06aabzvXP3XfffS2IpnwsBAoAAAAAAAAAQKCnOQAAAAAAAAAMYC+//LIOPvhgPfroo/1eBHR+RtIcAAAAAAAAAAawu+66S7fddlvZYbQNkuYAAAAAAAAAMIBtuOGGOvvss9Xd3a1KpTJ7/5x6nJ9xxhk688wzS4y8NUiaAwAAAAAAAMAAN2bMmLn+mbFjx7YgkvKxECgAAAAAAAAAAIGkOQAAAAAAAAAAgaQ5AAAAAAAAAACBOc0BAAAAAAAAYAB7/PHH9YUvfKHsMNoGPc0BAAAAAAAAYACbOXNm2SG0FXqaAwAAAAAAAMAAttpqq2ny5Mlz/XOTJk3SxIkT531AJaOnOQAAAAAAAAAAgZ7mAAAAAAAAADDAvf7665o1a5aq1apqtZqq1aq6u7v73K"/>
          <p:cNvSpPr/>
          <p:nvPr/>
        </p:nvSpPr>
        <p:spPr>
          <a:xfrm>
            <a:off x="155582" y="-136524"/>
            <a:ext cx="296863" cy="2968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sp>
        <p:nvSpPr>
          <p:cNvPr id="293" name="Google Shape;293;p28" descr="data:image/png;base64,iVBORw0KGgoAAAANSUhEUgAABc0AAAL5CAYAAABinwy5AAAAOXRFWHRTb2Z0d2FyZQBNYXRwbG90bGliIHZlcnNpb24zLjQuMywgaHR0cHM6Ly9tYXRwbG90bGliLm9yZy/MnkTPAAAACXBIWXMAAAsTAAALEwEAmpwYAAEAAElEQVR4nOyddZxuVfXGv+t20t3dSEojYVBKdyOCKN1dIilSgiAh3Yg0IqF0S4ogKd3dMev3x7MO755z517Q353zzty7ns9nf2beEzPr3WefHc9e61nm7iQSiUQikUgkEolEIpFIJBKJRCKRgD7tNiCRSCQSiUQikUgkEolEIpFIJBKJnoIkzROJRCKRSCQSiUQikUgkEolEIpEIJGmeSCQSiUQikUgkEolEIpFIJBKJRCBJ80QikUgkEolEIpFIJBKJRCKRSCQCSZonEolEIpFIJBKJRCKRSCQSiUQiEUjSPJFIJBKJRCKRSCQSiUQikUgkEolAkuaJRCKRSCQSiUQikUgkEolEIpFIBJI0TyQSiUQikUgkEolEIpFIJBKJRCKQpHkikUgkEolEIpFIJBKJRCKRSCQSgSTNE4lEIpFIJBKJRCKRSIwSZta33TYkEolEItEU+rXbgEQikUgkEolEIpFIJBI9F2bW192/MrOhwFbAVMCNwEPu/kJ7rUskEolEYvTD3L3dNiQSiUQikUgkEolEIpHowTCzYcDdwPhAf2BC4GLgN+5+XzttSyQSiURidCPlWRKJRCKRSCQSiUQikUiMgJoky8+A54EfApMC28bvB5rZwm0wL5FIJBKJbkOS5olEIpFIJBKJRCKRSCRGQEiyDDGz/YD5gb8Aj7l7h7ufAOwOLAzsl8R5IpFIJMYkJGmeSCQSiUQikUgkEolEYmTYBdgTWA541N3dzAYBuPspcW4hYB8zW7J9ZiYSiUQiMfqQpHkikUgkEolEIpFIJBKJkeEo4AxgYmBPMxvi7p+a2QDoRJyvBKzSNisTiUQikRiNyESgiUQikUgkEolEIpFIJDCzvu7+VRfHhwK/BdYELge2dfePzWyAu38e16wMXN3V/YlEIpFI9DYkaZ5IJBKJRCKRSCQSicRYDjPr5+5fmtlAJLcyHfAo8Ja7P29mw4BjgBWBa4Ft3P0TMxvo7p/V/07z3yCRSCQSidGHJM0TiUQikUgkEolEIpEYi1F5mJvZcOB6RJhPAjhwK/Ard7+pIM5XAK4BdnD3j9pjdSKRSCQS3YfUNE8kEolEIpFIJBKJRGI0wsz61D5bu2z5NgjCfBDwd+AjYFNgSmAPRJ6fbmbLuPuHwPbAVcDmwHZtMTiRSCQSiW5GeponEolEIpFIJBKJRCIxmlDInAwAZnP3h9ttUx1m1sfdO2rHVgROATYEbqm0yc1sDeDXwMvAJu7+Ynicbw0cmRrmiUQikRgTkZ7miUQikUgkEolEIpFIjAYUhPkwlDBzbzNbrt12lTCzxYHtwrO8xHTA5MB94Xk+AMDd/wScAXwPGC+Ofejuh8d1fZuyPTH6kc8vkUgkukaS5olEIpFIJBKJRCKRSPw/YWZWEOZ3A4OAs4Gb69e1w74CewHTufunteMvAh3AmvFdPq+Ic+B8oC8wR/2Ppad570Vs8nxlZkPMbGMz+5WZbWBmC7bbtkQikWg3+rXbgEQikUgkEolEIpFIJHo73N3NrB9wDvA20gV/wd07zGwCoI+7vxnXmbdJK9XdVwIwsyHAasDV7v4ucD/wKrAl8JiZ3RPEeV9gHuA14Pl22JwY/QiJni8j+eudwGBgIDAE+MjMfuXup7TVyEQikWgj0tM8kUgkEolEIpFIJBKJ/xE1eYuJgOmBU9z9P0GYrw1cCzxgZreb2bgVcd4GW0sO4AjkCb+pmU3g7i8B6wNzA8cAm5nZ+MCyKCHoE8A9zVqc6C5E2xyAZIReAdZw96mARYD3gD+Y2azttDGRSCTaiSTNE4lEIpFIJBKJRCKR+C9gZoPNbEB4634VnycDPgWGASuY2fJmdiZwAfBPJHEyM3AsyDO9abvL5J/uvg1wDXAIIs7Hd/dbgBWAKYGTgLeA0+OWHwbRmhrYYw5mAqZFz/pfcWxu1E53d/cnInoikUgkxjpk55dIJBKJRCKRSCQSicS3hJkNBrYFzN0PDw3zZ4HfIA/tI4F9gaWBp4AV3P06MxsKfBf4og029ykJ8wru/mMzuw44GHAzO8PdbzWzRZAky5TAf4CbYnOgn7t/2az1iW7EjCgy4h53/8zMNkDRB3u7+2+ibe9iZue7+xNttTSRSCQaRpLmiUQikUgkEolEIpFIfHt8CThwmJlNDKwOPAqcGxrgf0Qe3MOAN939tfDWnQwYBxHsjaEius1sICLtJwUeA15x93fdfbkgzg/R5XaGu78MvFz7O32TMO+9iOdXT9r6HyTFsli00YowPzTO/whYCMkLJRKJxFgFa1PukUQikUgkEolEIpFIJHotzOwIYCdEPK7k7o+P5LqhwHzA4cAAYNGmyOeKKI1kjzcAUyDddQPOAs5397/FtdcCSwF7AWdEctDEGIBi42QIsCuKHLg1PMnvACZHGzq/cveDQ4JnBiTN8xKwXleRColEIjEmIzXNE4lEIpFIJBKJRCKR+O8xGfAuMB2wkZmNU52oknwGWX0AcALwObBYkJeN6IJXeuvA34GPgE2RZvXPouxmZtPFtSsAfwOOApZrwr5E96OKEIi2eAfwE+AnZjbQ3T8E1gI+BD4GXjKzKYE10abKUGCD0LJP/iiRSIxVSE/zRCKRSCQSiUQikUgkvgFmZlXyziAQp0Ee25sC+yBP8iNKD20zmxxYG+gAft+kLnhlr5mtiYj7zYF7gwBdFnmeb+PuvzezAe7+edz3W5QEMqVYxhCY2SC0cfIpsAXwnLt/UUQizAZcBIwHTAU8gmSE1iqva4/1iUQi0R6kpnkikUgkEolEIpFIJBKjQCFv0Q9533a4+3Nx7mhEnu8dnw9x9w8Lj93Li2u7XRe8SvrpLQ+5mYFJgKeCMK+SPe4ThPm4wJJmdltonO9cfufutDXRGJZDkRGbuvuT8PWmylfRJh83s8XQRtDUwOPAC9Fesh0kEomxEkmaJxKJRCKRSCQSiUQiMRIU8hbDgD8CcwBvmtnl7n60u78bxDnAnsB4ZnY7sA3y2v1d9be6y1s3knx+hcj8jvAsHu7ub6Ckpe7ub5nZOogw38vdDwsZmY2BZYAHkNxMZWsSpb0MZrYgMIO7X1Q7NTvyIn8grquiECrifHBItTwWpfp7fbIdJBKJsRWpSZVIJBKJRCKRSCQSicRIUOiC3wZMC9yOHNAON7Pj4pp3gGOAfYGtgCOBLxGB2a160JFodDtg4/hfw4CngVXjkouA4WZ2G3AusGdBmM+GvOFfB17uLhsT3Y947icCs3Zx+m1gGNLfr66viPNBwMFmtnj9pkz+mUgkxmakp3kikUgkEolEIpFIJBI1VDInQS5/B5HKO7j7v0N6ZQdg57huG3d/GzjMzK4GJgRuaUjeogPJrxxuZhMCP0ek+VVh+wvArxGx/jDwezMbP77TEciZbpvC8zgTn/UymNn3kETQGu7+fGzyLOnuf41L/gW8AhxgZtu7+/PF7dMBSwOvoQ2hRCKRSJCJQBOJRCKRSCQSiUQikegS4YV7AyIcP3L3TYtzUwDbA7sCJ7j7tl3c30gCRTMbAJwKrIsI85Xc/Zni/FTAJkh3/SVgMPAGkmP5USZ77L0ws4WAu1Ci2W1io+Q8pGO+VSXVYma/Qclgb0GJYV8E5gUORhI+i+fzTyQSiRbS0zyRSCQSiUQikUgkAqXWL0gIut02JdqKqZFW+BrA5aEd/kUk2nzZzI5FhONuZjauu29c3twgCfkl8m7/DJgRWNHMTnX3T8OOF4M0vQBYBXmnPwbckMkeey9CmucQlGx2m/AwnwD4PTADsL+Z9Xf3c919VzNzYB3gH8CHwHvAs8D3i6SgSZwnEokE6WmeSCQSiUQikUgkEo15BCd6H8xsAWAPYGVgA3e/pHZ+CqRlPg+wRFM60KWUSniaz4LI8J1Qcs+dgdPc/eP69bW/k22/F8LM+gIDgHtRgs/9geuAa9x9ezP7PnA4MAQ4xN3PifsWQVr24wFPAdcGYZ4bJ4lEIlEgSfNEIpFIJBKJRCIxVqMii8xsCLAtMCXSB/4D8LS7f9JWAxONoE4eh4fuF/H7vMijd2lgXXe/onbvRMBbEaXQp7uJ86LN9kWe7uO4+7txbjzgKGBDYBfgJHf/PMj9VYGL3f2N7rQv0b0ws+8CC7j7SWa2K3Ao8BaS5lmler4jI867+Hu5cZJIJBI1JGmeSCQSiUQPRROL7kQikRjbUSR7HA7cA3wRp4ag5IrHAH9w95faZGKiARQk9FBgL+SJ+xFwq7ufEtfMhRJnLk0Q53Xv7SYSaVYEp5kNA04AZkdew39BBPljZjYO8FtgI0SoPhDfayJglpxf9F4EYX438Gt33y/awTtoo+8o4DflpkhBnA8GfuXuF7bB7EQikeh1SNI8kUgkEokeiNLjx8yWQHqqb7j7U+21LJFIJMY8mFl/4HJgKLAl8LK7f2Bm9wGTA6u7+93ttDHRfSh07IcjqYtPgNeBQcCiwMXArqFh/h3kcf49YIumCcjC1mHAfci7+H7gU5Tk8XVgb3e/1MwmRrIx26Ckn08DS0XSz24n9xOjH/HcL0dzwnUjqmBvpL3/MUr2uj9wsru/Xty3LNo8mQlYx91vaNr2RCKR6G3IRKCJRCKRSPRAFIT5WcCyiLR5xMzOdPej22pcIpFIjHmYHpFJv3L3JwDMbE1gPmBPd7875QvGXAQJ3Q84DXgF2KpoB2chmZNT0WbKw2a2N5Lu2RLoVtK8TEzrATPrAxwGvA1s5u7/jmvfjOPV93oD2M7MLkWRE9eldnWvRyUVNZGZTYoiCG5CGyYfAx8AB6Kmc1Llce7uN5nZgSih7d+aNzuRSCR6H5I0TyQSiUSiB6HmYX44sDgKp/4K+Cmwp5mN5+77t9HMRCKRGNMwGfLUfBHAzNYHzgH2cvcjQupidzM7xd2fa5+ZiW7EYGAu4AzgGQAzWwdYD9jD3f9mZkPc/WN3f8jMNqyu62aMC7xbHgg5ofmARwrCfEPkAV95mQ8F+rj7B+7+9+remGckYd570R+4Gfg58C/gEeAXwCexobJTXHcAQI04vwa4Jo7nJmAikUh8A/q024BEIpFIJBItFIT5JCiU+gDgHHc/F4VXX4e8xg5sm5GJRCLRixGJEzGhciJ6GW1Ozm5mP0SE+T7uXnntLgj8CJi1aXsT3Q8zM2AqpGP+SMiXbAicD+wXGyeDgZPMbDkAd38qyOtuW1Ob2UzAq2a2QeVtbmb9IunoZEiKBTPbCDgLtdlDzWwg0rZeq/43kyjtvYhog0+Bk4GJgYHAS8BX0Rb7xfPdETge2A/YMjzSOyHbQSKRSHwz0tM8kUgkEokehiDE9wVeAzapFuXu/i8zOygu287MOtw9yfNEIpH4lqgle9wNeNHM/oS0ns8CjgP6Ar9w9z/EPbMiuYMXgevbY3lidKLU8y7kT54CHgU2iI3r04F93f3QuO27wLTA+OXf6uaEmsNRwsczzexzd78Y+BJ408zuBjY0s+eQVMx+xSbPHMCcwGPdaFuiYRTSPMsjPfv/AMsAx5rZju7+YZEkdkegAzgIEetntMvuRCKR6K1IT/NEIpFIJHoe7gduACYEpoxjfWJh/2+0ALoc2N/M9myTjYlEItGrEJuPX0ayxzuBHyKC/MMgUM9Gfe9nwBAzm8fMNkVe58OAtbrbszjR/YiNE+/iOTrwF+DHwB+BA9z9YDPra2azoCSKH6CkoI3A3R9AXsN/AS40s9Jz/Cy0nj8FafH/GsDM5gJOAD5H3saJXo6yrbp7h7uf4e6LIdm+a1CbPdrMhgZh3jc2c3YGdkJ9WFO2WlP/K5FIJLoblgmzE4lEIpFoH0pvt9rxFVBY7XeApd393pAR+CoW+7MDOwBHVcnKEolEIjFqhGzFDchbdyvgqVKmwMwWQ0kfN4pr/gM8DmwYhHsmUOzFKLxwhwFHoiTbjwKXxTg7DDgXWBL4KyKfFwNWAwYBC0Y76NPNHuZ1b/gFULTDisC67n5RtOUdkLZ13/g+cwILxOeFQ2Ymtat7MYromAHAdMCkSMf8M3f/JKJmfgesAFwF7ODuH9WfexN9V/F+9QMmcfeXu/P/JRKJRHcjSfNEIpFIJNqEWtLPcVESss/c/Z04thxK6jUrsEwXxHl/d/+iXfYnEolEb4OZLYE8dHcGrgiCx0DSB8V1M6Bon1eAl6LPTcJ8DICZDUGRBn2Bj4AZgHcQ2XhNEOcHINmLORBB+RCS7GnbxomZLRh2rQis7+4XBHG+LLAxMA/wPJLtOCA3eXo/ChJ6OHAp0tyfEuVgOBU4392fiDZdEedXAju7+4cN21qR+8NQ9MPbwEnu/kiTdiQSicToRJLmiUQikUi0ATXC/ChgYWAu5NF4gbsfHed+hIjz2YCl3P3+9BpL9CSMLFoikeiJMLNNkFb19O7+n0LPuvo5BBjk7m/X7ut2z+JE96HcGDGz1VCUwdbu/pSZrY707acFtnD3q4oEsdOjaIMvmto4Kf9Hvd2Z2cIo58nXxHlxbjx3f7f4nHOFMQDRJ90DvIV0yd8F1gTWBS5A0jxPmBLVHgv8DNjT3Q9v0MY+IV01HLgDbUL9HkVwfNqUHYlEIjG6kYlAE4lEIpFoAwrC/CIU+n0RcBPyGPutmc3o7tu4+19jsX8gcK+ZLRAap4lE4yi83r4mykvCsd32JRLfAp8h7ep5zOz5GmHeH9gM+NjMzioJxyTMey8KD9g+6NkPAR5y96cA3P1SM/sMSaKdYmabu/s1ce8zxXhtDclbVN66BwAzmtkLwCPufoq7321KFg5wnpl9FclBAT4s/o4lYd67UYyrPwMGANu7+4Nx+s9m9jSwN/C4mR0RUi07AM8gqZ7GEIT5AOAK4A1gc+D5mC8MimuSPE8kEr0OSZonEolEItEmmNk6wPeQt9BtsVD+I7ApsK+ZvebuB7n7dWbWF9gV+KR9FifGZhSE+VDgCDObAHgf2Nvd32yzeYlEJ4zCy/YK5Dm8I3C3mb0ehHlfYGZgE+QdmYTjGABrJX8dBpwUXrvfAW43swHu/jmAu18dzuj7ACeb2dbufnlt46TbNwYLvfX7kIb6S0ij/Bdmtqy7rxdSbQehDYALzGyQu59dEvq5idn7UTzDGVBb+BdA1W7dfT8zmxnYAnmYf+buHwOHxXXdHmlQi4SYGZgC+KW7Pxvnf4LmtNOb2VXuvl932pNIJBKjG5n5PZFIJBKJboaZDQkt0jqmj5+PVYvdWGicAvwJLZJniuPXACu5++NN2JxI1BFkzhDgfmApYBYUIn6HmS1WyR8kEu1GeBZ/ZWaDzWxNM9vczKYJEuljJMUxL3AhsGoQT2sg2RaAI9pjeWJ0Ijx1O8LT9V5gPpREsQNYGVg6vM8BEefAQSgaYfOGbe1b2YySjr4A/MjdFwe+C+wJrGJm54Wtd6MItLuBXxT3JsYQWAD4CuW8mTlI6s/DqxvgMmAqJOHXCQ0Q5v3i/RrXzOZH781MwAxmNo+ZnQBcHra/AuxjZlt0p02JRCIxupGkeSKRSCQS3YjQRb0a+Fm5OA8MACZAC6LqWtz9ReB8YLI4Txz/uAmbE4kSVbuMxfvGKPR7BZQkbyXkbX4esESSNol2o5LQKLR1T0YbkQ+ifngY8GdEik4NXAw8ARyO5C0Wj/v7tsP+xOhBbJBUEQSLIC/dHwLLAxsBT6F2sVSNOL8mzq/WpL3FpuTvgHWAfwJPxrnXwtYDgLXMbLM4fh+SE1oiPqd3+RgEDwBnA+MiHf6+0cd9HpeNi5K/vtEG+6oIjjtQhE4HcBLwB5SMdBlgdXdfEfglmjtM2rSdiUQi8f9BkuaJRCKRSHQjwoP8CGCX8MiZqTh9JyJpDjOzoYXmaoVXgY8aNDeRGAHRLocC+wMLAg+4+wvu/j5KTrYpWrCfTRLniTaiIEr7oH73VeDHiFS8ChGSWwND3f1SYE5EUK4PbAD80N2/qDzV2/IlEqMFVaQBcA7y0v7S3V929w+Q1/lmwOvAmYxInN8R9ze9cbI+Ih8XAV6sdPaDJH0POCtsnquw9YmYW+S6fgxEPPsH0YbJL4BjgDmLCMbNgUeQ5FRTNpXvxbooQekx7v5M2PkD9H6t6O6XxZxgKPAp8GJTdiYSicTogOWGdCKRSCQS3YOa1iNmdiiwNrCJu98W4bV/BH6EPHX3dfcPzGxS4Ci0MF7W3d9qg/mJxNcwsx8C18XHg9x9/9r5uVBbnhD4ubvf0LCJiQQAQZQuA/wUON/d/xTH+yHSfAuUPO90d3+9i/s79duJ3ovYpL4TGAZc6e5r185X/dZEyBP2unZ7a5vZ7khX/QNgGXd/wsz6u/sXcf5e4GlgvXbbmhg9sFai2q819ru4ZhJEkB8IvAt8jnLcvAcsGpt9jfVdERXxG5RU9zl3P3Ak1w0GZgeORxr838sNyUQi0ZuQO9KJRCKRSHQTuli8PAN8CRxuZkvF4mgL4BYke/GwmV2HwlpXADZOwjzRLlQe4+Hpdj3SAP4YWMPMFiivdfdHkWdZP0JfN5FoEy5FXuVzAndBi5RCxOgpSLd6EzObuH5zEuZjBoJAfAol234S6YH/vLym6Lf6AFs2SUKPzIvd3Q9H7bMf8Aczm7UiRM1sTmBK4OkkzMcMFHJS4wBHm9l8XV3n7q+7+6Eo2us04FzgSGDhIjqmyb5rQxRlti4hDWNmA8sLzGxcYF/gVESYL92mCI5EIpH4n5Ge5olEIpFIjEbEYmBZ4DV3fziOHQ1c4e5/M7NNgL2At4E93f3vsdDYCHlHTgo8Cpzo7k+05UskxmqExEWXnmBmtgaKivgLsI+7P1I7PwPwn/QkS7QLEalzIzAHkhQ6PBLn9QkZC0Nej78ANnL3c9tobmI04Rv6rbmAixA5foS7/7F2vtF+q7I1vHU3RrrUf0VJwT+La/YGdkA5T34HTAHMDYwDLFglD0/0XhR9Un8kGfQasI27Pzmq67s4PtK2310Iybadge2R3fO5+2elLbG5vi5KEHpAbA70y7abSCR6E5I0TyQSiURiNCIIm/NRks8tgUOBpYAlK4LRzDZFGqtvA3u4+83tsTaR6IwiTHwwsBYwOVrwnge8HefWRvrlXRLn8XcaX8T3RIQXYU62uwmjIJEmQl7mQxCxc2Gl+1wQ5zsjHd4kcHo5in5rKBpbpwMM+BNwq7u/YWbzoLG5L3CYu5/exd9prN+KBIp3oYTfQxChfxBwpisZOGa2G/LU/Ry4ARH/VwU5meRjL0Y1NoTTxETIa/wwd3/o297b7Ua2/l+X70W8bzsBuyEZpFXd/eMacT5O5D/JeUEikeiVSNI8kUgkEonRDDNbDLgWSVkA/Njd768tJDalRZzv4u63t8XYRCJQEIrDgVuRDvBEwGDgeeAwRD5+aGZroaR01wK/dvd/tMvunggzmxbo5+5Pt9uWMRWlDjAwPTAJ8CBK+PhJbGDejcjI3WkR552ImyQfezcK8nE48tb9HHm+TgGMh4jp7d39xfA4vwAR6ie6+/FttHcvYGEUeQaSidkJkacnuPt/4vq949yTwLbu/pSZDaw80hO9F+Fh/lcUFfMesIi7v91eqzqj6GcHoWjIGYB/o8iMfwdxvguK3HkYWCX630767LmBnEgkeitS0zyRSCQSidEMd78DeA5JrbxEjLcRjt0vfj8DeaGPA5xmZgu3xdhEIhCE4kBEhL+Pwqq/AywBvImS064Vi+iLgQ2AVVFy20QgdLJ/BzxgZqfUdZQT/38E8f1lEKV/Ba4HbgL+BewQOtCvAQsheYvDUNsdwdMxCfPejSCg+6HolzdRn/Qjd58TeAJYDpg7NgUfRf3apMDiVd6GJlDpOBfE4WTAPe7+zyi7AAcjAnJrM5smrj8YOBMlBj/OzGZLwnyMwUDUZ70fvwMj17tvGrV+9g6UNPd3KCn4tWa2ort/BPwWOBHJB11qZkO8ltA0CfNEItFbkaR5IpFIJBKjAeUiJzwfT0NajzMBvzGzhUAETbF4PgM4GvgIecYlEu3GQsC0wG/c/T53f97d70XJ9P6FoiPGA3D3S5F+/z5tsrVHwt3fALYC1kfe+oeY2e1mtnpoGCf+nyj0oG8HOhDRuCRwMSIe9zSzidz9ddSmv0Sk6jJtMjnRvZgYmBE4192fCSJ9FWBpYH93vxYYaGbDgjhfCNgwrut24rzQMB9qZrua2e7AhMB9cb4/gLvvS4s4/6WZTR/HDwJOQFJvB1fXJ3oX6m3N3T8E9kb91lQoCqLq39pOnIcdA5E00NvAesBQ4KfAq8BVZrZCfI8jURtdDrXhRCKRGCPQr90GJBKJRCLR21GTXfk58CmSAnjNzB4BLgOOMLPd3f3uWIgMA6Z291PN7KJK8zGRaAJmtgSwKbBFzQNsfGBKQlooFvl93P0LM9sBuBlYBzghwq3/HtelxAWdQtBfcferzOxWYBbgVJR88kIzO9Dd322nnb0ZRR1vCDiStHg4IiXGR5uVt7v7m2bWP/SsF0f1/7f2WZ7oRoyLNqg/ADCzdVEehr3d/beF9vItZnaruz8T1zWisVyM+fehTcdhSMd8FjO7193frmxx933NrANpmT9vZn+I44eZ2efAle7+RXfbnBi9KGRODHEwfYAOd3/HzH6DJIO2NLM/ufsaFXHeAzTAv4s20n8K3Bbj/Blm9jRwOHCsmT0ZskFHAS+iDcpEIpEYI5Ce5olEIpFI/D8QId8VYX4+Sog0HS1Jlr8DqwPzAoea2RJmNiHyMD+1TJKUSDSB8GBbEPioi5Dp1xERuWBxrKM49znhdFHem4R5ZxR183546n8XEbbrAMeY2bhtM66XovLSLOp2LpRw+V9BmG8IXI2S054SdbxQSAW86u5r9hQPzsT/jkrirIaPgQ+Bmc1sA4IwR6QeyLN8BWBcLxLHdjchWbN1J+BZ5Ik7NfAHREaeYGYTlG3T3fcHfg6cXDt+lLs/2Z02J0Y/CsJ8GHAKGgseQM9+fnd/B3lqnwIsbWaXwNebLY3yNV1EMcyA8kXc760cErj7rWgzeCbkJY+7f+zuZ2Q/m0gkxiQkaZ5IJBKJxP8D1QLczE4EFkPeOEe5+yvFNTcBqwHzAVegBdPaKDlZEuaJRhFE0R/cffuQC9i/0Nq/CyX4PNDMfuSBuHVS4A1SSqhLhFegm1l/M5savtZb7hv6rpsAfwZ+BGxXkQ+JkcPM+lmgqNvhcbofSvr5mZmtj9rtXu5+SBBN26Boik713AM8NxP/I6IdfGlmQ8zs92Y2E4C7P4+kIfZGXq57uvuhsZkyC3AQkpe4qkl7w9ahZrYb8i6/yt0fCpJ0e0TuL4XI0/G9c96TU+L+ftlmey+KNjsM+AewAEqk+QSwCnCTmX3P3d8CjgBOBpY0s79Ba47ZzTaOY2aTx//7wsyGm9lP4vRjSN7qp3H+82LsuiR+zlT/m9lmE4nEmIIkzROJRCKR+H8iFu5LAscBd7j7B8W5yjvyb8DitEjzhd39vjaYmxiLEfxjX3f/JA6tBuwPnFR4hp0E3AVcaWZ7mNmPzGw14FjkbX5x44b3cFTEVhAj5wH7mNn80NKnDW/87YH7gS1RktURdG4TgpmNg7Thvx+E+TDgQUQyAlwKzGlm56FEifu4+2Fxbja0OfEB8F6jhie6BfGOeWyIzIPaxr5mNmNccioiHB0Yz8xWMbOt0fs4FFg1SPSm17+rokS0uyDysfounwM7AxeinBHHm3T4O0XtZBRP70a0WaOVv2ZVd/+pu68GbI4I9MvD4/xt1FYuBj5poq2aNMvXBU40s9ni8EPA2uF1/hzqdzcx5QmoiPN+KILjtbgmkUgkxkjYiFG5iUQikUgk/huY9KFvAX7k7jcUXpGV9i6xGH4zFhqeXjiJJhGE41cVWW5KojgN8BSwNZIxuNDdN4nzCwM/Q566fZBO6ZPACuGJ1hO0VnsEQqKpIzyg7wTeQvrZV7r7p8V1A4JsGAo8Atzj7uu2x+qeD5M++cmI/N4ckUmvA2u4+ytR30cCGwM3uftKZjYISWEdE39miUpHuAspokQvgbUSaQ4Hfgf0BVZC+uBXANu5+/MR4fFTRKgPAh5HHr0/K7y2GyWhzWxiFFn2K+BeYC13/6D4Tn2Rh/GOwEEhzZIYgxDk89+BJ919U+ucB2dltOFzMYo+/DLGiI+rTaLu9jY3SVsdCrwCTI68y3+KcnN0mNmcwG2IID8bOANJuO0Wf+J7OR9IJBJjKpI0TyQSiUTi/4kgzW8EtgNOiUVGSZivhjQfTy08fBOJRhAE+WbA3MAvo30+DVzt7tsFObkJIs4vqIjzuHdBYELgXeDeuDeTftYQpMhf0AbDT4HngxAbjObbVWLV/rHpsD4iKTZy91vaZngPRnhnTowkbeZHBOjK7v5Ccc08wC+BLRCpMz7wBfAJsHRu8Iw5iH7sfuAl4DRE4C2PCPLbgZ+HTAtmNiUizd/ySLrbRL81srZmZpMC66GNnwtRAubPa8T51sAJ2VbHPIQ394PAv919lTj2dXs0sytRLpwFIgKhuq+xzT4z2w74LfKG38Ddr47j1Zg1J3rv5kWSV68iL/kfZj+bSCTGZHSVSCWRSCQSiUQXGJnHj7vfZmb/RIm7rgFeKEJyJwY2QN6nuVOdaBzu/nEQ42sBk5nZvGix+5s4/46ZnRmXHx5qIT9196/qEkLxDiRhPiJmQh56O7r7s/C1B+EWwHRmdoO77+juX8T1d6DEhXOgKJVEDdGHvo2kNfoCUwJzmdlLVT/s7g+Z2S5IW3cF4DNETl1S6UNnex1jsDHaFFnP3R8EMLN7EJF+CnCsme3i7k+7+0vljUE+djdhXiV7HAR8H/UH7wGXuftrZnY6YIg4NzPbwqXHX7XR4+LvJPk45uEL4GZgDTNb1d0vi7ZSPet3URRNp+feBGFe2DAt8Ch6x/Yxszfc/R7gyyDO/2lmKyEHkNlRUtvcSB8DMKo+J6O0Eon0NE8kEolE4luhFk47JTAQeMeV0Asz+xFKRPcM8GvgHqSruwUic5Zy93+1w/ZEAsDMjkXejG8iKaGHy42gwuP8MOBc5LmZC+FvAVOywUeBPRA58jO0iXYV8DnSjt/Z3Y8p7vkVSg68TuWJnuiUB8LDu3gRRIYfCsyCPPmv+yZiMcnHMQtmtifSBZ/X3V8oZNCGAwcCOyD98t3d/aUmZC0K20r5mL8DEyFyESRrtYW732pm46Kon0OBC4Ct3P2zJmxMtBcRFXMTmiMe7O6XxfGZgMuBv7n7Ng3a04kMjbb7Cepfd0PzhO3d/e7qemBAvb1mP9u7UVvbbALMiXIv3OXuV8TxJM4TYzUyEWgikUgkEt+A2qTyaKShegfwgJn9wJSs6W8oud8EiCh7ATgHWAKFryZhnmgcZtanIiGR5+OLyNtxX5POfkdIAxAbQGcCuyNiZ7eu/ubYDmslTC3xGtJaPhK4DL33q7r7yki26d+obygTf16K+ogkzQLR15aL8y/d/SZ3vx21yaeA04Hlqno0sylMSR+HlX8riZwxDi8C46CIA4C+QeZ8APwVeB9F0xwJ0BRhHv/rq/AwvyHs2BR57m6GktFeZGaLu/t7aENyD7RBuWtTNibah9jAeQhYBZgeOMXMrjSzc9B48SXa9GkkMXTVz8bcFTMbz90/cPcv3f1k9A5NjKI3FojbJgfOCm/zr5H9bO9FtMtqbXMBSgq/SJQLzGwb6JTMNpEYK5Ge5olEIpFIdIGuPCvM7EJgYeAQlFzsdGAYsJu7nxHXDATWB8ZFHkX310PFE4kmUMgFDACGI4/ngYgU3wBt/PzS3V+vbQz1A9ZEEhfpaV7AWsk8ByKN+IFB6GJmE6Lokn7As67EhH2Qd/TFwHHufkrZt5jZYM88B0Cn9joM9bGzIGmWc5HExatmNiPqd2dEmzr/QUk/DVgwveF6P0bmIW5mU6CNpklQ5Fapbb8JShh7I0qquHrlyduAvZXH+/fRJthGwI1xrB+SYPojMAT4TrTxCZGEy6XZx44dsFbC6O+gCMSlgDdQ0s0dvaFEtUU/OxSR47OjjahjUXt8Oa77OYrs+AL1wSuhee082WbHLJjZiaj/3MzdbzGzI9CzB9jT3Q+P69LjfAxERot8M9LTPJFIJBKJGiKE+pyQYamO7YlIsnXCE2ch5HnzHPB7M9vEzIa6+2fufrq7H+PuVyRhnmgHYhL8ZYRcX4rCv+d29zfdfVckY7AYarvjh6fklGZ2EjCDu19QLeLb+DV6BMxsRjObAyAI83FRZMl1wN/N7G4zm8Pd33L329395iDMhyD5lT8ib9M/xt/4etGZhLkQi/GKML8fbU5+hDz4fw+cYWaLufvTSPrmMeBspGXeASyS3nC9H0HodZhZfzOb3cy+GxslBJl3HMoNcouZLWZmM5jZd1GU1xsoGezHtLzRu8PGKcxsOTP7qZlNUrzP0wGTAv+pCPMgFx8DjgdmBn4c3+Utd78o+9jej5FEHo1wPNp1H3d/GEUfLYhk0rZtkDDvU8wL7kUbOrcCF6F3axeT1Bju/gfgYKTLvzUaw+aN+7v8zoneBzP7Huqbtg/CfHdgJ2BHlLT40PQ4H7MR8//BZrZAvttdIwfpRCKRSCQKBNF1K/Ku+SCODUSeuqe5+91mthPSLd8YLTwuBI4CPjezy5IIS7QTQUB+FQTkvUgq6Bjgoeoad9/FzBxFRVxkZqcC2yP5g62L68ZqjzKTzvs/gHvNbDvgceR19xGqpwmBbYErw9v19lhYjockGJaLa5eJZ5IePV0g6qwvIshfR7IWzwTR9HtElB8T1/7blENiY5Q473zPpJ+9HrWNvj+jTekpgefN7Dfufra7nxf91nYod8BHSNrieeQZORPwDkqsONo9I81sYdQOJ0P9whOmhIkOVBJsywBPlkSomd2MktkOr//NbLO9F8XzHQwsjXTsnwfucPcP6u3PWwmMHUV+VX+n2xPVVv8/5rMXAi+hpLpvRhTlp0giZni8b/929zPM7DoUofa8Z9LPMRHvos3G68xsHRSJuKm7n2NKtLwOcJxJzu+Adnia16Lz0tt9NKE2H70A6dlvYWY3dxXtNTYjSfNEIpFIJDpjXUSELeLu75vZz9z9VDO7CngqQmu3RQTjxbGI+AuwNyLTNoqfiURbEARkHxRu/Q5KNvc0yNMMyfN95e67mtkniHw8CXgYmC/J3Rbc/R0z2xrVz0HIG+9L4FBvybLcDpyGPJ83QgvQKZBH7BXAr5LU/VYYDMwD/NndnwIws/WRF/E+7v4Xk260u5LRnVndWBGu7TA68f9HsdE3FLgdETk/B/oD5wNnmtkwdz/R3c83s78hcnoKFI1wXozFB6AN75uhc1THaLBxMeB69J7v6e5/r13yHNI039fMXnT3a4JQNeTJ+QLw6uiyJ9Fe1Ly2b0VSUtMiz+zXzWxtd//nt/lbDZOACyK1gf2CML8IWBT4LpJgORT42MxOdPfH3f2V6sbqOzdoa2I0okY+93H3DldC+Ofd/YsYb69COvu4+51BnA8EdjCz44G3mmqv1Ty0tvGUhPloQLHhNwQ5d7wG/AQ4ANjfzG5J4ryFJM0TiUQikeiMQUi3cQEzOw5YxMyudvc7AMzsB3HNHcWE4hO0S/868j5LJNqNPsD8iMB9rjpYhYgXn/czs/ORB+R96Uk2IsLj6nO0GTY98hC8uzj/oJltCpyBEqVt5O63m9lB7v4xJKn7LTEJ8tR8CcDMNgTOAvZy98NicXcUkhv6a3ljbvD0bsRGXz/gaDSObuDur5mS030B3AScYGafu/tp7v4qItMBMLPFIwJsaWBZd39xdNpnZjOh9/t01B7fj+Nfby66+8sxZzgMONnMfoXI++lRgr0X4nskxgDEWDkIyXS9CfwSJXyeF0VKXGaSlHqjfVZ2mSPgOeAPwN1mtgeSGlzb3f8Zm+i/BLYCJjGznUrSPEm03gvrnLemLyLCP47T70VU3XeAa939w7huTjTf+TVwt7u/2aC9pfb+DsA0yBHhLOARVwLoxP+AKrIlolHvQtJmj6PcOz9C4/AOZnZrvvNCkuaJRCKRSHTG6cDOSH/YgeXd/ZVi4TEhIhgnCvJxHOQd+SSwf5I3iR6CiVCCr0q64uuFcyz2x0NJ6W5x90pWIMndAhZJOqPuLgqP0dPRYvMHwF+qa939kSDOTwNuNLOFXNq11fnsFwp0FW7t7s+Y2TPA6mb2BvIk38/dD4vb5kJ97V3tsTrRzZgY+Aw4Ogjzc4DFgR+ihNtXAqeY2VceibcBTLlHlkaRCku5+6Ojy6CinS6LCKZTKsIcWu910Yavin6iik4BeZc/Cfwgo3jGOCyCZIR+hjadPzezyYABSM7va8K8HbISBfE4EEWR3eXuL5nZFTEPWAa4zt3vjFteBJ4FHgGmRt6niV6OmMNUfdURaKNkqJn93pWDyYF3TDJSa5jZFYgsXws5Ed3h7m83bG+pvf8Fck6aACWpP9/MDik3dBLfHrFJ3Rc4GT3nLd39STPrj/LJnI9kyHZMj3MhE4EmEolEYqyGmQ0Lbxvg68R8zwPjoUnaNHG8mjScgTzhTkO78hegRf3ZuRBO9AQEafM28oZex8xmqXuYo3DMA81s+vLesb0Nm9kEZraRmQ0Kwnwi5JE3hbtfiDTgvwC2NrO5ynvd/RHkoXce8K3C8sdGBJFTJhQrE4udACyJvMl3cvdfxz2zI++n95E8RmIMQxAg5wE3mNnqiDDfJCQi7kNj74fAH+N8dd9LaPG/3ugkzONvVyTnCsAH7v7QyK6r2rO7XwmsHfZvBKyHchp8EW1/rO5jxzDMhpK/3h6E+QbIE3b/iI4Z18z2jA3YpgnzMkfANSj6YRX4OvHfMGD8sL/CvEh7f3t3X6KLeUOilyE2azri93OQBOUbaBPwNDP7jZlNGJcfgeYu1wB/AlZBfXBjhDl87djRn1YE72poQ3Qm4D+IzJ+lSZvGQDgwK/BPd38yjn3p7rehee70wIHAUtkHJGmeSCQSicThwEIRZouZTQs8gbTdOoDfmNma1aQhQgKXRJ5j06EFxvfc/Yk22J4Yy2FdZLoPj8fPkS7lPMD2ZjZrLET6mdmsyBPyTbQASbQwDbAbcKuZTYDkbfqhhJO4+2WICFsOOKgL4vwf7v7TyqO0Uct7AQoiZxjyGr4B+JuZbRIbFBcDpyBy/MdmtqqZHYiIqCHASlm3vR8je37ufqdLr76SBXiiuH5a4HL0fl5Ru+8Nd3+vm2ztgzZ2PovP/UdyaZ84vyowJL7Lue5+c/S9GcUz5uFpNAec08xWQxt6ewdhbmicWAKYsWnDvJUj4G40fu2CNPmr8x+i8W1ZMzvRzHZGOTu+IiTdSsI10fsQHttVRNd8SAJtQ3dfCxHRewM7AvuZ2XB3fwxYEW36bQQs7O4PtsV4zcWmRxEbT4UTwyrAfMCR7n6zmfUfRX+cGAliTBuGxqy+caxfsbF3N/A3tNb9FW3ov3oaUp4lkUgkEmM79gE+dfdPzWx1d7/UzH4RnmOLICmAIwDM7FJX4pyXzGx5NNnoF97piUSjsM6JfDYCZkKL+Nvd/RF3P9rMpkMapYuZ2SVIM3rR+BPLVp5kuTD+Gk8CR6Ikqs8D9wA/JggzAHe/OAiRcwA3s329i4Rv6VE6IoLIGQLchzz2X0YLt9ORDvC+UR4GtgGORxs7dwE7RntPzf1ejKLfGoy8HgcAD7l7KbvTB5EmQ2JDezIkg3GKu59X/p1usnFeYHd3Xy/6yLeARU3JSD/sSmIl2vZEwH6I2H+1fr47bE10P0YhqfM6ysFwGpJD283dj4xzswDboTG5kcijciyPMepA5FG8beXYEYRZ7K37TtFmV0dOIg8CK+e8YMxA0RaORkmVO9DYi7u/bWbHonH4MF1m+7v7O8AlTdtajAuVjNH4iDR/K86vh/LK7O3uR0YExQ7IOeSRpu3tTai/y/H7+yYZnr3N7Hh3v6N6BhE18waK/FsLzck2bo/1PQPpaZ5IJBKJsRYxOXsnPBh+AVxiZodVu+3u/jKwGNpkPgJp7ZZJFL9IwjzRDhQLjOEo2dyOiAw/EjjWzNYBcPftkYfZm8BewALIi2TBgoDMhXHA3T9C2skfIM/mcYHPghDrX1x3EbABsDzwe6vJ3CQ6o+ZZvDnwCgr9XtHdl0WyNssjr6aBLp3VBZBm8NLuvm201/TW7cWIMbfqt+5CkV5HA7eZ2S5xHCS38s+45lrgRkSiXFT9rW5uB8OBlYKoIf7vOMCJ8b9HiHYIknIFtJn+UjfalmgQFWFuZoPNbLOIipkXwCXXcwhKoPgUcH9Ec62A5IQGA5uHE0a38S5mVpcRrKSF5kcJaJ8ujndQSGK5+8bIo3QJFMnzRc4LxhyY9OwXRs4TU6GcLAC4EpX/HtgD2AJF1o7XBjMpxoX9IhLtA0TyT2dmKxOEOSL4QbrsPwambIe9vQXVuxxe+ROacoBUOBW4E7jazBavxlQzmwP1aTchx4UVzWzmGOPGSiRpnkgkEomxEmXYYuAK5F2xnpkdXh109xcRGdkPODjOZ8hqonHEpHVW+HqBMRiFW3+AEtYugbyIFgN2N7O14tpjUcjt9MCi7v7z9NgdJSZBYep7orDU26KuvqgR5xcjb2hImZtRovIwD8+2uZBn8TNx3Nz9ZLTxszoiHiu85O5fwNeEa3rr9lIE+ViRh4ciT+zlUFLd3yEyZLfw5n4F2AR5EX4EXEdro68JaZ5/AX8N+0ARJ1cBq5nZYfB1my6jtmdAmz+PAI83YGOiAXhL//seRJCfDlxqko3C3U8Ffo4I8ouQ9/lRwHvAIsVmX7fMGc1sTuDmIOqrY/1ifjAd8E7lwVuRXkGijWtma8Tnf7v704WHec4LxgBEu/sMbUifD8wBbFxsTlbE+QmoT16VglTvZtssfpZ96MEoAvLDiIz4A9pUvQzYzt0PjTFkVhRF8SrqpxNdwDonVL0SJVW938z2M7P+7v4Ciox6BPUhF5vZBUjPvq+7/xn4EkWrvFVbM49VsLH4uycSiURiLEUZahs76q9GqOKkaPG+KHCeu+9e3DMl0ld9EmmYf9AG0xNjKcxsSbRw+KUrISVmtgvytNnQ3V80s8uQ3uMBqB0/jxKSXRzXdwrdHpsnwCVsJKH3QZRsgLxh/4Xe+4rAnRwtKl4srs9w9lHAzBYD/o42IM92903ieF+gIxbDt6Bw8R8SEgLtsjcx+hFE3qLAz4Ar3P2COD4e2jTZB5HnBweZg5kNcOVo6FZJli5sXRFpqK/m7leZ2VSIeFoQEejboggeUHvdFxgKLBBERfYHvRzVM4zNvlmA/VGC+CMRAfknd98hrp0XmACYGkVJ/CPu7dY2G1FOy7n7SUGEfVGcOxFYE1jX3W8sx/0g2Q8Bfubu93eXfYnmMLK5TJwbBlyIIgp2Ai4q1zHRNw/2BpJ+mtk8qO2t44XclZmdCQxy93XiuvmA3YE1kDf8Peg93ArNI76bfW3XqN71iDS4FfVbtwNTIDnHc4Ad3P0dM5sCRRr8GCUIfRDlPepAY11fYE13f7/xL9JDkJrmiUQikRirUCPMf490Uy80s4vc/TUz2xYRjuubGRVx7tIxnxkYloR5okmYktOehhboFxZt+D7UHl80s9+hcMo13P0+M/sq7tnGzIa4+5ldhG6P9bDOuvBbIC/z24EH3P0VMzsPhbIfihJWroYkWy4D3gGWrBYnuWj7RtwLrIS82pY1s4Xd/e6iP+6PvJo+y7ocY3Ei0kZ9AW1GVYv7d82s0oLeG/jKzI52yad9XlzXmAesu19jZqchzdeH3P0Fk+zVIcgj8zm0MTkUJa79D7BURvH0flRjbNEPfQqc4+73xPnNgGOAtaP739G7SJjYnV7bQXJ+7u7PAicFOfZnM3vM3XeJy65GSe33ifnsjWY2AJgZybW9DDzQHfYlmkVtbbM50tifEM1Vbg3HoDWBS5H3NmZ2oSshLC6pyW6Vm6y8y1E02Q+QJOYaLlk8kArG89X17v6AmR2B2un+KEnt08iBaZPsa1uobYhVm319UeTpa8Cu7v54zHXvQNGUfc1sR5cU6YFmdlS1vjWzGZAX+mLA4mMzYQ5JmicSiURiLEJMKqpJ5cXIK/dw4CZ3/yzOv2Zm26MJxfpm9pW77wXgChlPJJrG5IjMPTs+/93MdnP3v5vZbWY2GbAM0t2vEiI9h5JXLgY8A5zZrMm9A95ZX3ncKNsjjcd93f3fZnZuXP4rtFh7B3gXWDb+Rm5A1NCVx5tL3uZW5KF7BnCUme3srQSQ0yPN1esbNTbRJHYFxgNWRoTjs9Vi3N0/COK8AxEkLwCnVDe26T27GnnGLwC84O4vm9k2KFHwKogwfw/1Hzc14Vmc6F4UXq9DgJ+icXQ59IyrjdaXCweLtc3sS3fftf63umvzz8zmRrr/WwP/iMMToXdrdTP7wN0PjAiJg9BG1EVmdk1cMx3aoMxk4GMAuljbLIJkrfohmasLzOy37n6/SZLnYjRfHGRmZ1bEeQPoE+/WscgZYXvg8iDO30Pt8uX4Hv2Ar9z9H8A/zOwkYBCK7nklvKizr21hHDQWVfJLA1EukPeAL9z98Tj3sZmdgTYgTgA6zGz3WN9+CGBmi6NnMz+KsHy06S/T05DyLIlEIpEYK1Dbhd8XeZWujTxKP4sFUl9gSBDnU6IQ3FWAI9z9gDaZnhjLYZIQugAtMoYgr5E1wzsEM/suSu65trtfEt48qwDfRwvrx0YWsju2olxsmbRpFwF2Ax5D3jUbIV3iHcI7Zygiz36EyIb90supaxSk01AUBt4Pydtc5u6fxmJuGaQN3IES2b4LzAMMoyVvkRJCvRgje35mNhHqz+ZDGyh/9iKhtpmNA6wFnNkT3i0zuxSY0d3n+RbXJvnYi1G1WZOUxb3AZEiuYBzgj8Avom+r+rhJkcf5Okhz+fiG7FwEuAYlH/0Z8GgQZdOjDZ15gdPdff+4fkVE/C8PPIvkF/bJMWzMgpkdjEjyjYH7kef2eiiZ45+BHd39+Wjf1wLTAnMHYd3dti0GzAZcEMTtIJSkfmvgUTS3ughp8G8ZkWf9UZSHA9NFVEX193J+EDBJQ12KZJqejGP9UH2uiuZfPygdvyLiZCPUX/wN2Njd34lzk6L52OPu/jyJJM0TiUQiMeYiFt/rupLMVcf6Iy+L19z953FsTrTwmRiRNhu7+x1BnP8aOKSaiCQS7UBEPxyMSMblo31WIZhTownzp0j3sR+SEHjB3deN+0eqdTm2IkjdrYApEenwx+LcHsAvEIm+gyspVf3+rNORIOr2HrTJMwHSKb8F2MjdPwrifGnkqTkT6n+fAE5OD7Lej4JU7IPaQF/gE29JrUyI+qw5kEdbJ+K8+DttawdF/zodcANqm0e0w5ZE98NaUl190Di6BNpInQQ5WGwBHODuB8X1VfuYHPhlnGtkPAjZhYWBs1CSvo3RGPZlEOfHIdLra+I87hvoSgz59d/JMaz3otjkMRT1ci1ykvh57fxmSK5vq2o9FGP0BK5kkN1uJ3AJ8Jy771y8O4OBndEY8BSSk3GUVLcv8obuj9ZlV7n7et1ta2+Ema0MzObuR1jn3EWDgN+iueyeaAx7p7hvAJoDrwZ8Pzd8R44kzROJRCIxRiImaYcDSyKd0a8TiQHnoTDAX6GkXnuinfbHge8hYnI5d38rFxWJdqIgn55E5NPnKNxydXd/plgUbYc8dmYG3kD6uot7kRQs0RkRcXIgCmNexd1vMrPBFXkXxPnPEXG+q7s/1j5reweKxfBuSL5me+AtJMuxIfJ4WtWV/Gsw6p9PAx4Gdq5CiBuw82uCLBeKoxdFnzUM+ANK3DYMRRQc6u7/iesq4nw2YAfgco/knz0JEYX2W5T/ZENX4rT0chwDEUTiekhv+bbKc9zMpkFtdAeUXLsizjvND5uYL1ok+wwHkIWQx/m9yGv3kXj3SuL8NHc/MO7NzcgxBNZZw7wPIpufB64NT+3qWB+0pvkrMByNy581va6xSOgc/emPgJujLx2M5gfrAzMgrf03aeWKGIrI89Oz7Y4aQZJfCvzO3a+NYwNRxOm6aK17hhfJXq0lg+M5Hxo5+rTbgEQikUgkugOxoD0OaTZ+bmbLxfEvgSvQJPIilJBmL3df3t13AO5E8gvvxPVJmCcaR3iSgRY9oLDqSoN/GHCpmc1UETfufhzSX90ILZ4XjYV15q8ZOc5Di4nBwJagZFixyMDdDwNOQjI3m7fLyN6Aqp1558R517v7E+7+Jtqg/D0wF3CZmQ2NzYlbkQfngsCJZjZXE/Z6K/nr2WY2VRP/c2xALLorwvxOpFN/MlrIbwBcbGYzAbj7W8DqaFPqXGDx9lg9agSRfzwim9aPY0mYj5nYFbXXZZDnKwAhUXAUiog50Mz2juP1vA3dTZj3jXF9HDR+7YySNy6LkuzOFdc8C2yHZFg2MbPfhH1JOo4hKAjzvwLnRZ/0GPA9MxsWY3GV0NaRc0CHu3/cYETELGY2W3ysHDh+jcaD1cxsvJgH/Aa151dRW77Q3U9w97Pd/SR3PyXG7JzP1lDNVwPzAHMCJ5jZMgARWbIFcCFKaL+JmY1f3eDuX1bRCkmYjxxJmicSiURijIMF3P3FIME2B64N70fc/RxgM5QkcUN3/23cNz6SaHkWGBDe6olEowhvsEoT+jgz2xL40N1fd/eTkNfjcOCSioACcPfb3f3cWGhUuqu5SOZrT6xOcPengcOQVu0apuRUuHIcVMT54UgzdrcGze1VqNqZmQ01s1+b2WGozqrz5u4foXb7OyTJ8WczGx4L5r+izZ4lgcMjZLgJzIC8Spdv6P+Nsag2+SLKYABwDsq9sIq7nwLMiBIqTomI8+nj+reQ9MWJwE0N2jtCf9DVseq4u/8TyWP9oqmNnUTzcOWuORbNA39pkj6rzr2I+rCjgIPMbNM22PdVeObejmSvzkL9154oifLpdCbOt0dE5Iw5nx0zUDhUYGa/QIniq2TlRwBToM3gPt7K2zIp8th+3Mz6N9EWTAnqrwbOMLPZio3G/ZC++jFo3lUS56eg5JOXx8ZQJ+R8VjCzcc1shnjGn5nZOGa2jrvfDWyDok3PMLMqWf3naE52Adq02NbMhpd/MzeCR42UZ0kkEonEGIOYCHbaLTezcVESpwOBTYE9gwir3zsvmmysjmQt/tWEzYlEiULaYDjywv0UyVecCXxRTWzN7JfIy+x9lBT06SZCw3sjCimOgcB3gKmBJ4Hn3f09M5sBkQ5rAWe5+3Zx3yB3/7T4O43Ub2+SfqhsjQ2ef6C+9nNEOj2INiWfKa4fhJKD/hqFEG8fx/sg784X3P3fDdk+BOW36I+S6L7bxP8dk2BmMwOvuvsHxXu2ELA3cLC732NmF6NEu1UywiOA+1C+kWdqf6/b5SNq/cFswFB3v+Nb3LcgcD4iVU/oLe9oomuMSorAzE5E0lyHA8d55wR60wIrAye2g8Qzs3WAE4CVq3Yb/epiaJ7wAtJYrzTOJ0c5fDp609iSGDXMbGkUBTcARct+FeudnwP7I8mzU5E2+LJoc2XRJtc2ZnYA0tt/Cti++t8x9p4X9u8A/Mnd340NoR2pzQ8asrVXzJ9jrrQdipL+NfAAms9eB2wRkSiroDF4UmAzd78p7h0A/Ak53SyTfcG3R5LmiUQikRgjEBOJ1YCJ3P0PcewCRIztFov7PZCH+R5eJPQys92RhuW0wFru/lDjXyAxVsM661MOQkkTP0AJfJ71LrTJgzjfHk2AFwpPuESB2ibEX1Eug0nRZsT9iNT9TxDneyCv1zNcUk1ts7f4/DWJ2NMID+uc7HEdJF2xDTAQEeC/RXq7O3uRbCza99rAuQ2GiZfJscrff4rkGBZ397t7Wh33ZMRG8z+QnvKP3P29OG5Iv/58lGdhe/SeVQTfnSiE/CPUb3V7IrrC5mqTZzhwPcoBMT5wI7APcN+o2qSZHQnc4O5/acTgRLegtnGyOPLOfQZ40t3fiGtOQ/PFI4BjS+K8/ncaNB0z+zny0p3f3f9V9MPlhuQNiDS7v6t+L9G7YWZrI6/hL4Ffufuvi3PjAT9Ez39WlAPnGZQE9OGG7CvH2N2AbVHOqO09csMEcX4uWnvtCFxSEOdrA+c0TWLH5v/W3sMTPpvZnGjsfQqNX/9CmuXvFPPFldGYNhmwaUGc90MyPbmJ9l8gSfNEIpFIjBGIkMWj0WL9N2ghtCDwY3e/L64pifPd3f03cXxbYFxE4jzbBvMTYynMbEaXTEh5bHXgEGCNkAXAzJYCfoJCbP/u7hfG8Z2BhYH1eoOXTDsQi7A7gLdRnoMHkcbjBsAgYJEgzqdD/cOWiOg9umE7y42TA5CMyXQoSfH57v5gTyM+YuF7ACIfn0CRPB4EzlpIE/4aYKeuyNEmvLuslZx0AFr7fFacG4bq93lg/fJcYuSwVnKxjYBXkKTZj+ve+mZ2HkpgvL67fxzv4p3IG/YtYPOmN06CNLgC6IfkLQah5HOfIq/Hm+pEaP29S7Kh96K2kXo9kjWZHOUPuRo42d2vjmtPRblCDgN+3xM2pk2SC9ejd+rC2LSspJG+C1yOiLJz3X2jNpqa6CaY2QQomuBAJGu1Wb1tRj83H5LqeM/d32nYxpI4r7zf/wlsV/M4Pxd5nO8I/Nk7J6ls1PvbzA5F87+53f3lpv7vf4NiHFsUyTS9D2zr7mfH+f6Vk00Q53shR5Gt3f2a+t9p/hv0TqSmeSKRSCTGCMTEanu0IN8bkearu/t9xaLiSbT4OR1p5+4ax38HHJGEeaJJmPTI7wyvoU6ngEmA8c1s2pjI34hCbFcCjjCzJQFcevzrBAnQl0RXWB6RCPsDV7v7f+L33ZHO8plmNq67P4fC8fdA2tuNoiDML0Gk/idIF3ol4FYzW7oHLnJWQ4lnlwRerIhEl6zNBShSYgXgN7Ep0QkNEOZ9Y4E5GEmxPGZm65vZHPH/P0RemYujd26k2taJFmJz4fz4eC+S5bkyvBwxs37RH00NTO5KpgkiKF8DDnD3TZvqt4LkrjZOFkME+f7ufo67n4r6iD7ovV82CKfKa576e5eEee9F4ZV9M2oHmwHfBbZC5N2BZrZiXPsztDm0B9q0bgyjeC8eAK4E/mBmi7p7R9E+p0cbxHMhOcJEL0dX41EQyych54rvA1tYoQEe496X7n6vuz/XBGFuZhOb5GEqG6v+FiQ1ODF6z44rxt+PkfPCX5Geeadk0G1wBLkQjWWrNvx/vzWiXvugpJ//RuPWbkWf9YWZ9Y/fr0CRJ30o8sxUf6dRw3s5clKYSCQSiTECESbraNd9APAV8EMzG1h4l5XE+amION8hjn/egI2ZiClR4mPkIXKRdU5++BqaDF8AXIuiJzZz9/nRxHdiYLzq4vDstfQ0HylmQknT7o6Q/AFRV39CupoLoPB83P1Zdz8iruvXtKFmth1aWK6O9Cl/giJohgKr9bQ+xN3PRR5v4wLbm9nCxbkvELG6FQq33rxJ28KT6qsgE3YEHgLuBo4H/mJmh5nZd4BDgQ4kJZKLyW8Jl0TJuWg9eSVKrHq5KbHbl/GO/Q6Y18yuNrPDgYvQu/gAfE1mN+Vp3hcR/KcCU7j7ndVxl47+Ssjb+DhgmWJOkRjz8GMka7Cvu1/v7v+IzZNVgdmBn4U3L+6+FSLNT2nKuMIbfoiZ7Rhl7bDnHeD3SHLjL7EJOI9J43oHtBHwr9xI7/2oNn3j97nNbGEzWwTA3d9Ea5kjkQzHThVx3vRc0CRv9wQi78ctbP88oh/uQZtPR6I8EsfWiPNNkMPCtU3aXSLelYeBS4BNTIlMewzKuV9slJ3k7rMBi6LN6cPNbKU4/4WZ9Y257lXAGijyL/E/IknzRCKRSIwRKMKpTwa+hxKN/QLY08wGBwnWN659EjgYOBGFuXYbTJnqK093j8/jftN9iTEbQRa9HOHVA4AbzOxcAHe/DYXdHhPlR1XoJdoU+g/yQv4aSe6MiGKR8SRK9rgqaIMsQli/Av6ICOkZ6/fXJRoawpzAYyiJ2+dmNj2SmzoLJftyM5u0DXaN1PPR3U9CpPREwD5mtkBx7gtElK6I2nQjKDyLByOCdnbgdHdfHy0e/4BkF65EC/XXge+Z2RRN2dhbUdu4uQct2M9Dmw+zE8R5nL8VJSyeHSVPfB5YrPKWa6rfcuErlEBxJmAhM/tBnPsqbHkaEedfoaiE+ZqwLdEWTIokWV4E9W3RZ9yA+rKfIMkpAJreSI02OQxt8u2E+s4LzOwPcf6vKFLqRjQ23IM2gfujDfbcSO/lqDZ94/fTEJl7J/B3M/uTmc3n7h8hebQjgX3RxnU71hcvAXeFDRuZ2YTRhucH/o42z7d1aa//DhHnx5jZ7ADu/pG779nUO9bVXMbdv4oNir8C8xNzwq48/ZtGbEB49FNDS0LfJeG4JBqHDzOz5eLUhCiKck13vy830f5/SE3zRCKRSPRa2Cj07kxaeZcC8xJhjEFCDUXk2XXA293pVRiT1/VQIsfrTCHBN4UtV3XX/030fIQHyOdBQA1DJN4PgD+5+y+6uh4ldToJeZL9MD1iO2Nk/YGZzQNchbz393T3e+J4P9QXHAus5O4PNmftiLrIsTi7CfjC3X8YhPn9aGPvp+7+kZltjnTOD3H3T7r6u91ka5U4bzCqs+kR4fSQR+JkM9sJebzdgaQv7h/Z3+lmWyvNz77I+/lY5IH5TPm/zWwq9M6tgxKn9UGJoP/Unfb1RpjZ3ChZ6kldtNvHgNvcfUsz2wWRfE8Bq7j7O/EchqCExa/E4r+JdvC1ndY5oe46iMT5C7C3u1de71W7mRURURsm6ThmwpQA+BSUN+SyOFZ5dy+C+rC13f2Shu2q+llDEUazo/epH9p02hvNETaI64ehSKnp0Ib6FfEdGk9QmugemNlZKLH2r4A3EeG8Pcol8Qt3v8vMxkcyaXtGOaJpRwpTnouzUDvdEm2QXgOcg9rwJ4XX/K4oQu0dJKP5XIN2VsmgBwN/RuvEO939keKa+9FG+sqx8d82FP3SMDSXmRfoi3LzfJ0TxMzmQpvUbyHJuXmR5Nws2Rf8/5GkeSKRSCR6Jaxz0rw10S77cOB4j0QyMcm4BPgOcCaavG2DSJ+F3f35brZxHOT9MyfyXjoESW+s7u6vduf/TvQ8mNmEaBH8lLu/GpsqeyEPzcHIS2cd4EJ3/2Vx30QofHUtpHe+RIRfZiKfQLGwGILkbAz4B/CPOL4BcDZK+ngS8jBeBL2TnwI/aLIua/3XcHf/IIiS3yJv1/1RCP5fgZ+7+3tBov8Wkf/7e0NJKwsycThwC/IoHwf1t48Bf3T3o+LaHRFxfhtwqLvf1YSNXdg8CNXdIOBdlKTy82LBXE/suCLqoweghfJ77bC7J8IkYXMn6qP+gjZ2zqnGMDPbDBE2qyCiZGdgWxThsYqPmBy02/utgnzsiwjHidz9peL8ZsBpKCHogXXivLiu0UR0idGLUWyk9kek08doPvZCcW4FFLG4vrvf2qCtVd80lMjJA9zurQR/E6Cx7QhCQmIk3y3b7BgCM1sCRfHsBFwa47AhCbdLgX+6+3Jx7fjAdsBFHok222DvQLTOWg1Jnp2DZOaquU457/kV0t5fs4HxYKB3TgA+EFgCRWvMBQxEUYc3uvtfzGwvFIm2mrs/0q65djH3GoaiSd5CRH8f1A9cDWzq7m/F9XOgte4ANBavHmuF7BP+v3D3LFmyZMmSpVcVoE/x+7nA48C/4uczyCtjUJwfihbGHyIvjdeABRq0tSKWPkKLtGnbXX9Z2lOQjupziFScEYW0XgtMEOenRETpW8AJxX1rIs+RE4F+caxfu79PTyvIY/9R4GW0YHsBLSwGxPkNov47UALQV5BHYf8436chO/sWvx+GCJCZ4vP8iMTvAK4qrpsEaTE/XV3bcN0OBG5HodYLIl39xZFG9AvAjsW124b9R7SxLcyJiPs3gGuK431q15Vjyc7I822GdtndEwvwc7Tx8G+k+XpN9FHbA3NH23geeW1XbWX3OPZPYFjD9vaNn8MQ4fRoPNeLELFf9aGbRTu9DJi33fWcZbS3g6rfrzZStwHmKJ7/SsCr0YetiuRYlkGSKH9rYjyI/7lg8bkPkg7sAN4Dlq9dPx4iRj8Bzqi+Y5YxsyCv7a+A73VxbpNoJ2sVx6wH2Dww5iodiOwft3a+HHOtfqwb7Bk3xrCfxuf+MZfZIj4vHmP/C2hO/udiDnNgD6jPAcDlaA0wcRz7E/KE/wDNySYqrh8HzRerus21wuh4Du02IEuWLFmyZPlfCwqvfa6aUCLt34osWx4YGMcHI5mUn9EGQiTs+QppUf84JzFjb4mFbgfwNnAzMF4crya4JXF+fHHfDMU1fZu0uaeXasEV7/+1KFx9RkSGvYg8yysCZW5ElmwXPyuCrZF3slzUIrL8CUSSzFQc/zEi9e8BdgV2Qxt/bwHztKluF0Mk6Gq17zArkpB5GJizOL5Wu/s5FElwVbxvO9S/U/2ZAAsjkn25dtrdE0u8Lw/GAn11lDT1MVqbgKciAnK2uL4/cBBa7DfWXxXPcijaRL8DyVz8GpEMLyOCpCJOK+LpVmDmhut0BIKrq2NZ/qs6nTee6eD4PC5KAPwW8AVyXtgFkc+Gci08Guc+Q04Xt9PaSO2Wthv/e2JE0t0GfLc4NzXKZdIBHAWMU7t3PLQB0IESmba93rOMljYxQluLuUAHin4CRc1UfdzMaPNk63bb3oXdg4ALUSTHNsQ8tzhvXf3eTbaMG/OAl+LdfzbGsWlq102DEmbejjaIO9CabcY21WE191oAbf4uGZ8vRmvKhZEMTrXxO9HI/kaW0fA82m1AlixZsmTJ8r+UWOzcg5Ikgsilz5F27e0xqViuWjy12dYfAgsBj8SibOVqUZblv65LG9Xnnlro7F3TEW31aFqeI32KSXJFnL8OnN8bv29Dddq39vkQFKpafZ4Ahaq+gojzLt+5rharDdi+fyzIvkeLwCvbyJJIy/wpRPqcCczegF1TR/+0Z+34StFuF6lsLdrrEnFu/S7+XrcT56N6frGwvBZ5bf6iOF4nzvuhRf6bwBRNt4eeWmptcicU6XALMAVKprgZIs5fQV5vy1NsRNGGjT5ESP4WbeTMWhyfOOYMLyG5nur4ViiJXWMEA52jTQYBQ9r9rHtziWduyGv8y2iXgxHpfC2Ss1gAJSH8Cm2iVBFe/RDR/rPo+xrbSEWSUK+GjQsXx6dE8kGfIS/ZQbX7JkARaOmAMQaUWn+wMrB0/D4O2lR5CZiuds98iABep932j+Q7DaRFnG9NzeO8gf8/rJijjIMSgn+KopInj+PV+fq6YgVgPzSvWbura7rB3gmAyag5diGv8fXQnGt7NCdcPM4NRzJoHWh9OU532jg2l0YyQCcSiUQiMToRmn7voXDrG81sE0RCbRLHXkKTtSOBvczsam9Ij67QVq70Kfu6+/VxbiUU2n5MfL7KpVc3OSLV/+bu7zdhZ29EoVP7daK/sq7bbd+oEPb2QYvhi9CCYnvgfTP7vbu/ZmZ94ru8ZGYHIY+yCUo9xZ7+PZtCTcN8K0QurIgI5qqtvG1m2wPHAT8BvjSzHb2W2Mkb1nqM/msp5O10t0eSpqqNuHuHu99qZiujhE+f63T3JqSKBHi/j4+Dzewyb2mjvo8WZsuZ2cPu/nG0ZxCR+iEiUTvBuz/ZY9UnDEU5AWYOW/7h7se6+93xLu0FHGZmuPuJUddlv+GI/F3B3V/uTpt7E2pt8igz+wp5al8A/NLdTzezy9G7NzFwV9EnV4k3rbveMTObESX0fqew2U2JS1909yfiuoHu/kaMwY8hqaar4vqT0KZaU3rrpa7vIWhjZyIzewZ57T/t7p92pw1jGqr32MyWQiTj4YhEnwo4y93vjUvvN7OPUH/gZnZivO9nln8vnlG39V3FO3W0mX2KSPwDzOxAd78r5gD7IEL/2LjnzKpduPL2XBLHM+lnL0a0hao/OBtJtF0U4+zbZnYCcgi40czWRaTpRGj+2Ac5CTVp79fJakc1H3X3z8xsY/RuHQYMM7MT3P3DBmxcIP7vSmb2sru/H7rgX6AopDVQJGdH2ecXffNf3P1aM5sf2DHWkB91o73fRX3WzEAfMzvH3XcHcPfXzeyCGNeWQOT4/XHuAzN7EUWtjosiaRLdgXaz9lmyZMmSJcs3FWpeWfFzCJo4DkCJyQ6nJccyFHkTfIQmmEObtDP+//GIWDiJ8CaOc9OicOCngI2QB9R9wI2kF/G3qdthwFkoyd81wNzttu0b7B6p9yJKTNkB/AqYtDg+QZTSUybDLFv1U3mvDkMSDG/RCr8/h5YUS9VmxgNOj7reud22I3LxfVoa0CN4CwJTNmzXosgj7PcUHo+1ay5DXpErEJ6x8X0WQTI4a7SxHTyBFpOXIxmRl1ESvera76Lkr28Bu7SzDfTGQmeP8+3QBsMtRH4QtLnTaF+FNiA/pdD0jeNDkSb1zeXYX/QLR6CIgklpRXlY0+MvCrN/EW2i/x4lLn4D2JyaZ3GWb1Wf1bMcjLT0P0DzrCpfRD2XxFfAgU33tYUN5Tv1CyTZdi0RzRPHJ0fk3yfAFvSAyMks3dYezkCe4ysQURDFuc1ifPs8xrZ/x89522TrUCS/NfSb+nvkIHI9Wqc10seijYd94vdqnrAMck66D0X8bltcbyP5eWT0Jd0WCYSiCj9Cm7jHRD11ACcX1/RBa977getoyUfNEePcssW1Kd/YHc+p3QZkyZIlS5Ysoyq1hc5OSIZlsuLYREiK5bDi2GKIhF6w6QVRTCIfQ6HhD8Qi+FU6J3uaBhE7HUiC475iEpTE+cjrdnDU7f2INH8SJajrkWHKtBbx/YHZYiI/Ze2ac6Id7I+kMSaOSfNBxTVJmI9Yp32iL7gGmB1JhByNQvMPL66viPPxkRdn2xYU5buNNJTvJcJpy/aLktJdDkzSkF3Tx8LwBIrwXlokaFWH0wF3omTKB0Sdr4kS593VjrpFZO1FsXCcoTh+frxXqxbHFg77r8t+9n+q6zpx/iwizueNY02TzoMJsgBtnpdtd594/j/u4r7fIYK6bWMGIkCfRvJMdZmjfUn5tv+1Xkvi/J6oz8NpbfKVbfiQOP+zNtpbJ87fomvivNr0XaXddZylW9rB4tGfblSbC5TrnxmBXyLJoW2oybU0bO860R7n/ZbX92ckUijdbOfgmEstWvz/adEa4lk6E+eTRf2OU9h8NpobjduNz/2TeKaVXNTUaC72Yb1+gY2j3s9Gm7/3oLwdjdft2FbabkCWLFmy1Et2+lmqUltQnIe8hvaiIB6RF+kjKCR3aZTo7w+IlBq/ITvLSe7WseiZHmmVfh8RSq/XFkL9kKzExjScjLA3laJuDIXUX402HfoDsyDv1w9iEt9j6q+wezgidh9Hur//ofAKiWsqj/N70abAUyRpMqq6HRqLm/OBnYrjU6Aw9w66IM5H9rm720AXxw0RY2+h5KXDinMTAyfHQmjibrav8qbaEG3wLfAt7pkWuBR5+HagheeNdHPivFHYMw6S5NmNFmG2Oto82Sk+l/U7Ry4wv127GMm5OnH+DPLqXrC77RqFTf3QxvPZRDI0NC+4EXmU/4TwOAfmQoTJ6W2u4+PiHa+IkpmiPziPVhLLHAP+x/YQPwfFs34b+CmtSIM6Ud14Euja8W9DnE+FNoJ6zBwny2htGxsj8nTasq301DEKEcyPUCRZ/5b3dbsDCJ03GmaL9+lRFG1W9Q3TxZjxdLxX86EN9ZuL+cFiaN4+bzfZOV3MU66rz5vQZupXwEL1+kPOY2+jdcLVtOZe6VzTjaV6IROJRKJHoKb1ONzdP2i3TYn2w8z+iDSAfwo86O7vxfFKN3whFP43kEJ7190fatDGocCeSFfuTXc/MI73QSGBR6GF8U/c/e4u7v+67Sc6I3Srf4ue74fuvl0cNxSifxxKtvoz4E/eZn3Pol0ORRsm76Aw8A7k9dIX2MTdLynu+TXSM3wfJSz8MrVKwcyqaJHLi2O7Iu/Bt4Et3P3PxbnJkBfWnsAR7r5nwyZXdpRj2S/Ru/8ccKu7P2BmVZKsxdFmyRHIY34Z4EfAku7+SEO2no2SjC74X9yzONq8eAe436UN2u3ttd5Phqb1k+h9OtvM1gPORdI3h5rZYLRB8Y/a+9bt2tW9DV3k4+jyedY0YLdFbfeP7r51g7YOdvdPis8HAHsApwD7ufs7oWt7BHqnbkOk1NRI4mBB/xa6vN1gd5WPo4p2+JGZzYLGib8ir+cPzWz3sHW7bKf/PQrd5crjfDLUPs5298/r73939l2hrz+eK09Fl+2t9k79Am3+3g0cWJ8v5rxgzIOZbY4iYJapnnfZVsxsbeBTd7+iDbaVdpTt9CSUIHxud3+36b50VLaa2SBgFnd/OHTJz0Lz7o2BB6JvmA5ttM6PxoSngUW9yB1jZhO48gd0h63zI5mohYAN3f0qMxsQ/dMMwBWoD3gHkfeXA++E7ROhPCxvj2qsToxGtJu1z5IlS5aq0Hl3eF+0+ztHu+3K0vZ28R3kfbsWLQ+AKYEdEZG6VBybFSUo24pa9vGG7PwhIkU70EKnfn4RlLDnFUSItb1ue0sB5kQeGR3AKV2cnwr4E5pcbkoP0PRD3o+nI2/HiePYxUhK6GaUuHK12j0Dyvvb/R16QkHkwdXIO7v0yPtVtIfr6+87Ikiq879os/0XIommZ1C47T+BlePcICQp82TY+hqKkGlUpz9svPMbrumDFp0/Gtn5Bu0dQuiuI8/8h1F00VZRj3vS8tRbFiVcXbOd7aCnl6K+BpVtcGR9ae1dXKuJPhdJLK1Gy2N4QkQsTIw2VHeMceIEYHhcM060h78iTfuDaXkbdnsfO7L3AiXx+wjpl7+OJIYqWYCp0cbPH+hGLd0xvdBZquWRqOfNiNw3DdkwHtqweQ/4Xhz7Nh7nW4W99wBztrsus3R7O6nmuMdQyw+BIiv/DOzeRJ9Vs6uyo6u8KzNEG/1Vu+uvsMmi/u4AzqhsR1Kd/0S5rkqP88liTFmfIuJ3ZP12N9j7HRRV8hGdpeSuibnMCyhXTwfKf3EtirKcov6MsnTzs2q3AVmyZMniPsJk8QJEMOxWDgxZxs6CtOg6YqIzMCY3byJZgDeRh8DibbKt1CgeiLSIX0Z6qbN2cf3CiCC7qt312tMLLRKnmrTPhzxBXkWSN1a7fipERl/fBlsnRqGWZXuYEhGiP4nP58UEeG7kWfIykpVZeVTtamwvwCZI0ma8+FxuLBwWfcMxwDS1+6YAtmzDIrPc/P0+CgteBskJrR6LuZeIDZNY4I2PNtWmqL5nQ7ZW79avEKmz1DdcP3Es4NZrc5v4E/DP4vPBtDYsD6q+G4rcuB1turR9I62nFloEQl8U5fBh9E8jJFCs3deo7BEKWX8QEUjjxVh6GzBhnB9MZ+J8/OLewU3aWv8fKAJtUPF5YSQd8gXwt+L4ZMAfUVTKzO1uG7290Jk4fzD6iJUatmFtJP3wHC0nj29DnO+CSLIkxcbgUozD+0X7PBiYMY7NBZwac4ZG+4PCrsFow/ESRD6PF8eHo03LO+v9a7sLSuD5dlGPBixAF8R57b6mpPvKtcI8iCT/EPgBkpx8DkVXD0abJj9E3MhLMeZln9B0m2q3AVmyZMlSFhRa+x8Usj5uHKuTY0kojUUFETV/iwnF/Ygo/y1KjrQA8tw+oGGbRkYiDEKJ8d5DmdCn7+KaOZuamPXGMqq6iQn7q0jOYsku+oaJm55MIjL/OqQJPV/t3FIoQd1aSH9wmeLcybSIvu+3u957akFeP48Cx5XHit+Pijo8Fph6ZH+jDXbvjrwaf1uzd/lY9LxMkdStnYugeK++Ak6j0FGvLez60Er62VbPR6TB/jawbnHsd9EOTgk7dwtbH6RFnOVCc8S6LHMvnBd92eNRl28g2Z5R9ssN2joe2uB5K8bYG5FEUPl+lcT5cYTGee3vdPscks7k5zExPtwM7Fsc3xh5QL+CpEMORyH4bwLztLu+e2oZWVscxfHq/R9CyDQ0ZGfZf66K5i3P8d8R51Y/lmXMLGhNUyWnfQltCj4W/cO8DdtSjQvjRN90YmHLXdGex0VOIB3A6u2uv7C3el8WRM53v6Wzo8UCaD75KG1ytqrbGr/PA/wl6vIdYLaR3DMeZE6WdpTUNE8kEj0GZjYbChM/3N3Pi2NTocQ4EwCPuvsJbTQx0SaEZvlPkCbpA+5+bRyfAS0yf+PuZzVkS6WVOQQlppwUebuf5u5vxTVrIe+QW1F29me7+DupYV5DrW43Rx4WjmRO/uPuH0dbuBJ5be8I3Oa1yUxTesVmthjyerweuNfdj43jnbQdzexXyNvs++7+Uhw7B+mXPwcc5alH2CXMrC/yKF8OSa3cHse/1nA0s6OAHRA59buu3rcmYWZLoY0+gGPcfadKqzLOL4ckyKYGdnT3S9tkaqkBuh+wP9KAPtbdXy2vQaHYZ6HF/LpNvF8jQ2iR3gzc6O4/LY7/Gm1KzImSfD1O5gf4RoTu891IHug45Dn4UxSpMSGwmLv/q51jVtFOJ0eJXycErnP3FeN8+X4NRvIWhyLZk629TflxzOxEpPt7LWqXCwKXufu6cX55YEXgx0jq4AHUZzzRDnt7Ogrd/aFEYkzkaHNCtI+R6fB3Ot5Uf1DTg14V2Btt7m/i7jePQuO8vK/tWtGJZmBm/VDU2VpoQ/Bh4Mp2zGniHXsIeUEfhgjzrZA39I+BJ9BG0GLIg3tT4KMm22oX73X53pyH6nJud/+ouGZ+tDl8vbuv35StXaFm7/zArkguZg13v7q4rp7LJXOyNI12s/ZZsmQZews1zwkUSl1pPA5HSf3eQ6FUT6Ad2J+22+4s3dIWRuYhVPckLj1wpkDeuk9Sk2boRjurHf7hyFPhn0hn7nVEJm0CDEOhgGsC7yJSP8Os/7u6fQQRXi8ir7t3gb2AyeKa79LyePlBm+ydmxbJNHVxvH8X3+lY5B05O1oITYdIv02Ka1PDfOR1PWW8Y5dQyJfQ2cP0yBgjtu8B9g5Bi8t/x9g1QRwvPZ5+FH3Iv6o+owfU8fHI4/x8RPT1ASZBi7g70AK+W722q3pAUiF1+Y8+xflforwAS9SuGQdttpXvYb5bo67zH0cfuyydJUVWRpJYb/ANUi3dbN/XbQ6YA3kP/i7GhkuLfrZ85gOBA9DGdZN6++UcZXy0wbtSfJ4QbUx9CVxSu29Y+V2zjLKOh6K515NoHvAu2qSsvGN7QlRE6UVatsvV+JYe51l6fxlZWxzZMy/Gt7ZEFtT6/2XivZqxbMNx7oco38zzaN71djFGdGt7jn60tHMocq4bUDs+I3JM+XUXf2PWntBP1OsLmJeWxvmP221bluI5tduALFmyjJ2lq0EVaRKfHwu0JxFhdhgiIGaNY4e12/Yso60N9GHE5H7jf8t7N0W6tq/TfNjiAOCmmEzOHRO4cRC58CStcPZ+wBoxoTyi3fXdG0rU7Y1EIrogHaZHsgEdKEx0cFy7YBw7rWEbLdruUUjPcbLa+X6I8Juyas+IeHw6FhjXow2BB3rKpL0nlfrYUCwi10Ak6Ql0JiHK37elTYmyujg+BHnqvoWSufWP4yVxviwwXQM2Tvdt2hrSU9416vkzJCn0JvI2u5IGEijW6wMtiPcH5q8dnwttOpyKCNIubaq3pyxd1tHPoi+ttMHLNronrSS1s8axxgmdaAebEokxUZj6IbSI84ow7QNMBExSPv8mbGZEImfWaJ+TFscnQh7SXwIXF8f7l/Zm6bJ+q2e5NZIymA5F+u2ESLt7aCWJbdvYWrbFqi3Uzq9OEudjfKHz2uanKBpui//ybzTeLmhpmF8OnDoqW9D6Z1skhXJqA7bNGX3+dyqbaOU0eRBtlFbONQNRpNF9wJRdfYd29hMje860NM7fIxOY95jSdgOyZMkydhfgJCS3UX3+bkyItweWLY5PGhPiHdttc5bR8twNWA84sDh2C5LnGSUhg4imC5Fm+OxtsH1+RICuXCyK1olF8O61awcib430HhuxHkeYrKJM8s8DG3Zx7nyk9TdLcWy2dk16kYTBObVj06Dkn/8EPkVJCNeKc7PEIuQviEj5Ovleu59FTyl0Tkg4LsWGRCzkdo/37GQ6e/cP6urvNGBvSZJNEQu6vrTInaGIOK8InYoYG9hgnU6CPDEv/rZtDXnzbo40lndB+QOqvq47CfMZ0OJ3leLY7rF4/AJ5wq9cnDsU5bqYIj6n7u9/V99VO50j6nfX4lxFPk6JIiaeRJt9bUnOTiuSZDdCdx9tqh6KSJQ/xXg7FZKaKQnpJjTMS9LjJJR/5VWUu2CZ2rUTIuL8E+DadreDnl7qfQ7aPPlV8XkosEUX/Ww7cln0K2w6ATlYPA78vDaeVcT5s8D32l3HWUbb8x8aY+b0xbGLo496M/qwq+ki31FPKcAKSPLofeDoONa/i+uqzSFDyYsfIiJmutG2aYFfxu/VnGSiGMMuR7KN7yLyfFZamuvrt7E+v9X4UxtDvhN92Q3tbg9Z4pm024AsWbKMvSUWOHuhMKTrR3HdtCi51/M9eaKR5b969v2RHngHSj53RUzSFvmW989EIdPQsO2rIkJ05vhcfY894vN4yANucO2+JM5bdbEocEMXdfQ9JA+xdnzuU0zMZ4xF8cHVueK+RonnWCTci3QRB6IETsuj6JivEFl+DvLOfK1cFNfszjZRe4ZInuciJNHzTNTxPIiMHoY2VD9GkR7r1J9L0/bG78cir+dPEAmyGS1iryTO76Dw4m3IzvGQt/CHKDfAKN+VUdUh3UxKI8/RNeP3MoJgDpS/4FkUiXYFIvKnR+Rkt3u4jQllZM8eEeNXRhteq7wekXvXIzmct+hiQ7NB+y9C+UP2oDNxfggiSp5HyeoepguSpxvtKvv008KO09DmfgdwNjBD7Z4JaXnKT9nuttFTSzEuDEP5Fk6Od37/2nWDEXH+FtrQbrSfLdtBjGH/RI4gB4fdX8XPGYvrV0cSc5/ScMRklm5rA1vEO39U9KvrRn+0BNpUXx/NCW+mcADpaSXsfDT624Xi2AjjP62N1/WiL2skSTiad98SdpYyfQsix5WXY65wHNrwfYI2bPjS2RFkHJTPYFBxflTzrZm6qvMs7SltNyBLlixjT+lqcIjJ5baIOL+xfi0KabuM9mQPH1j7nOGTo7d+hyLd3w7kSbjo/9KG2mD3/MjbdSWkS9wB7FWcXyEWdUu229aeWBDhvA5K+Fs/N320hROLY9VCdOLoBw5qs/2VPWtHv/UkImq+RJIr2xbXrhjtY7eu6qHdz6KnlegTHkebDvsib8z7YvGzXnHdoohUfxr4O0pENUODdpYeQReEHVsiL9cnEdm/BzBR8b0qCYwbm7KzsHE8FBr+Gd+COK++YzEOd7dG6Xi1Ou2PiIaTa9fNGvX4JCIeHop37zFCOiTLSOu4Ih+HRFvYC5F2ldzJUsij/FHk3V9tBN4B/CGueZcGJPLq7ZNiLoY8yr+gM3E+Lpornoq0zrtdRqiwp2y30yAv82Wq/482ezoQ2Vsnzieo+ogso6zjalx4MX5+Ej8XrF03uOhn27KRhsi8a9FGU9X/Xxg2dwC/pzNxvgHaYMmIszGkRN/agbydf4UI9K+jH9C64RVE+raVOGcUpCyap/8bbVYvOLLro81fiYjpbuvPauPA+LTmhqsy4np90RgjXo1nccOovms32Vs6glyO5GPeQZv+q4zivpHm8srSvtJ2A7JkyTJ2lJEMtNWCfDiwHTWPc2AhFNZ2ATBbQ3ZOSEHexqLmqHbX35haUKj1R2gRfCYNeod9C9tG5pU3GZKGqUIttynOzYr0uC/Mic4o67YiNYYgMmHC4tyBUa9b1+6ZH5FlW8bndidOHB6T9ZuB22KCPkvtmn6IaDq43XXekwtB0CJPvDspEuciua4O5FFUElQTIJ3zvyCvvmuAuRuwtfQq3Q2Ru4vE5x0QMX1//CyJvWEoUXBbyF20yKzs+1bEeUN2fQdtgKxTHJsSOCOe+wgkLSLVt0Gexx1R39nffnNdD0Ok+HMx7layJuPE+e+hBf3nUa8fxPs4CG1o/of/UpP3/2HrYGCF4nOdOK88zjtplxfXNJ3b4EiU1PdZIiKS1hx3u6jPU2hjtGSt/+zRm7Z0ln5YEc25pom+YU0UbXQNNWcaNKdYuYnnjyTX6mP+kig6auH4fDGSjJgL2Bt5nP+2fl/5nbP0vhLttIw+Oyje+feBPWvX9qFFnN9EG2Qmw45qHj4QbZquQ81THG3qVFF/C1T2164ZD20SfbcbbBwfmKf2uYrqnQZJ3byD5uIjvPNovbYVtTwDDdbx0BgXbkeyPftEXbVVMibL//As221AlixZxq6CFuulV25JnO8UA8llxfnpiQVdA7YZLYmFXeLY08ibbbx2192YUKh5LsZCYl5aZM5ZNKj3Owo7qwnW0Fjo7EFnT9c1EVH3Cgq/nDSO3Q38o5iMJpEzYt2WsguVp/4NtJJmzob0yzuQ1966iGy8F3mWtEvDfGSbKAO66qOiP/khIprWbne994aCyIYLaXllrYdIht3j87gjWRjNiSRcvlUi4f/BriEoImq8+NwHLTQPIiIfkGzMp4QHEdpIeQMR65NWbaLN9dvjiHNEgn2MvMVXK8aG6YBjqBHn9fEh+pDsb0dev2Xo+tFowT4P0oE9AkmJ3AiMG9dMgcjATYClo633QZvaL9JM4lpDnnmvAOt29eyRPNMbyCt+kvr9bajno6Ovf5dWwtSSRNsOEf3nN1GHXdhXzWn6F+9LTyfOh0Q/dUX0BSXp/xNaxPk8I7m/W4jzaJ9TRt+0Ue3c1CiCw5As1nO0NlVnRgT6J0iypy35AbKM1rbQlUNY9a7tEm3kdgpHgOo+4AfRJ1xNww5DdPaCvgkl/X4JzQ12KfsoRJw/jJxWuowI7o53DUmarIVI+43i2DMounBofJ4u+oCKOO9b/47daeO3+A6HoAjUMrpkn2gXmaOtF5W2G5AlS5Yxu9QWOf1peYZtVxwvk6bdGufvaZO9MwAnhg1vxGRm0p6+uOgNpTaZGb92biJE5nwai4lqUTcAhTdP3gZ7hyJi/DkkGfIecH5xfk0UkvgZWij/E/gzmeCxq7ochyJsE3k8LhW/rw28jjy2x4tjsyJ5jneQ7Mmz5cKi6botnukgpE25avQLlYem1a7rg4inOxG5k21h1PXbJ+r2MeCkOFbPFdAfRSUcVNzXSL+MyMUOpE87bvW/Y7yYLNrrs4gYGxznt417OqIPa4zQHVV7Q9FU20e/dUY72yathfuUaMH+FIoe6Io4P7y4r6uNk8wPMGKdVPU4DNgQ2A/YoDg/GBF7L1IQ57W/8RO0kfUmDUrkAQvT0icvbR4YPysZjhGIy6bqNX4vI0/2QkTuzQTpxIiRKW/T8HymGJeGAZcgOZBBTdrwP9q9RtTXG0SS2hgrqnb9E5Sr4Sq6wcv1W9hXyfAMoDPJWNX39cDvi+MDEeF3DSJSc5OvF5eYA2wAHFgcuwO4ovi8W/RRx1AkL49zfdDGZFskWtAa5yE0R10AzdOfRVFIRwDTFNeuhyTRLm7YxgWQ3NG78f+vQXPvsl+dlpbH+Wr0oPk22vwtk1KvE+2hcswbh4Z04LP8P59luw3IkiXLmFfQ7vAStUHtcBROPyXKKN8B7BDnygXIqTGAPwVM2yb756alP1gu1HvMQNzbSq0tHIY2R65HHtzVAmNiROZ8gryxVkThzB3UvDS62dZqQbZHTNZmQqTYwYhourK4dlLktbdcXFPpXSeB06qjgSg88qJq0YC8Rc6I3wfHRPJ1pPE4XnHvNIg8mb1ddUvnaJj7Y/LeERP0Y+sT3mgTGyNP43/QJqK/JxdGQhZE3/Am0gH9is5RSfPH2LBXEzZ2Ydv5aNF2KK3NnYr0XQsRO3MU12+PSP7TyuMN2FlKH+2DiPHjUPh19Q5NRIs4P72dbZP/jjgvPc6TcOq6PucHlq8d2y/q79PqHJEoERF+eyIP2OsoiHNECu2KJPK6rQ0zEtmQ+C5PIE/D9Wv37BS27dvkmFB/V6iRz0he7EVE4kwXx8r5T7dEw4zC3jI55WNo3rUbRRJuerBTCNKqfxXNDxav24xyy3QAv226TuP3fmhj53IK6S0UFXUf8Kfi2MIUGyr1v5Wld5UYY6u8TKehDalngSVq1+3NSIjzBm0dUPvcB0XH3EhL4upS5CT0h7D3cAo5KRQ52fhcAW0sfIocaHYvjpdRVNPSks1cvx3vVf1/xvh5E3BtfF6LER1B9kQRi0Pa0S6y/BfPt90GZMmSZcwrwHxIbuHC+HxJDGSzxOdpUTKcTuFJaCF/UQwsjUiy1OyuFhfLx6Th3LBx7+Ka+oKpxy42ekqh8yL4HBRyfSZKivIG0nysiMWJgV8g76G3ULjzvA3Z2a/2eRsKLcJon7ujcMorRvF3chE0Yp1sEc/9NiQHcB1KmlgtfEvi/GZGQiw0XbdFn9AfRRXcBKwSfdwxYe8NBHEefdtdaOFxPjSXkK63lKJO+qMNhjIC4ftIc/krWskH+yMZpzuRl15bogzi94vimR9KZ3JxdbSJsnF8nhh55+7fsK1lyPUDiMy5AC3kH0XRPHXi/CNE+LRjkVm9/1X/Pyri/GhCsqldbbcnF7RAH4zG1L1q5+ZGGyefAccXx6t6HxBj25fAMXGsT/F3h3ej3VWb7Rvtdpra+QUQcf4QrXwWc6GxpMwn0oSGdRkttw8imf6FEv2V+usH0SLOpy3rs01tYyAau65HkodVnQ+jSPjbzjKqfh1FFTyDxtZFiuNV/7B4E8+//n+Lz/tH33QGnYnz49Em+/HR994Vz6FPV38nS+8o0V8Oit/Ho5X4831a0kx1ArUizn9Lw/JMwHfRfLWUCBmCIuB+Fp/PRHPzeaO/uBxFzRxY3hfXdvscrNbXrgdcFu/Ou9U4EOfK+dk0SMbxL21oE2V09LTxu6Fx91kk09KBxtmq/50PjWN7Nm1vlv/hGbfbgCxZsox5Bemm/gaFVf4HeTDNyoi7wsfT0i3enRahOmXD9o5Mq3gW5CnYAexTOzdBu+u5NxQ6e+QMRQTj0lW9I/LpFaRZWS3gByLtx9WBqZpsA2HjPjGxvZ0Rk1GOH231MwoPoizfqo73QAlf3wa+X28jtIjz15D3y0TtsLNsD/H7ABQ5cxMidctNoO0QSXV0tNsJUNTBcsX3Sg/zEZ/1cLRx8hzyxj+guOZnyLP0deTpdD4tPft2yfOU7WEE4hwRUXcjYueGKG/RkId5rZ8djCI2biI0c9EC+HM0Hm9fPIcJ0WL+7zRI6o3q+SFN4Jfpmjg/HRFPSTaNvP4q/fzBFB6PKFdE5UG4T3G8HHc3qrX1bq1nOpO3ZyFi/Dm00TMpncmFuxFh8ny8Z1/nDmlDHf8JkeJXIuL8HTTP/XlxzYGILLmNNniX1vqE+ZAe8Y+LYysC50VftT3tHW8rwmkw0tI/CNgSWLK45hfRJ9xNSyO8E+HfRHug86Zv6YW7Ay3ivIw4ugCNF6+ipNXV+5bOFSPWbY+fK0UbvQfYrBibDkLyjR3AmfW2UnzeM645pMm+i5aG9nG1NjtjtOMlo39YqehzK1mZDmDbhuu47A9WJbywgYXQRuS7tb7WgGHx+3hNv1t0dla4GkVSzxfHpkLzmU4b/igPz53ISajHt/ssSZpnyZJlNJdiEjEIeeB0ANcV5wcUv0+KQmzfQ8Tpw8B3Gra31CpeDekrz1Kcn40WcV5m7P4XhXRLlm+s57MR+XU1MGFxfDiSYngVETuNJsOp2TgsnuvraGHeEZOa2WvXjY/CwjuAQ9tdtz250Hnh/ruo3xdiojhXdQ2difO1o26Pb4O9M9XtjzbwKtKsHx7Hy1wNx6GNgBFIh6Yn772hoE2ImxGxezCSQPoCOKu45geIlH4ARaLsTcNe+4zoTdgVcX4YsYGKZJrORJttl9OATiVdkHHA5oiomz4+/zn6s+8Dj0db3YHWQm9cWuN2t7fX4jkOjb7/DBTV9QNahO/UtDzOVy/sm5z00hxV3fYhiMR4x14DVizOd+kIwIih+014ElbPsRp3/w5sjUjTDhRqP2fRTmdAxOnvav1B0xto28W7vxit/AU/RBu9rwJrFNcegcaNRknzos7GRyTSPCiK4MfA95BTwFfI8/yOOPfDdrXZ+DkcrQFeQBvRHWiT74Di2q0QuXc78L022Fpqw1+G5AN/WJzfkRZxPldxfDbkCJLyfSOv23J8XRP4JZpnT9mT6gttLv6G1lywDzAHsChwACMS5/Xo5D1pUK6t+L+VRNcJwAy1c5shL/lys2dftBmwRpP1T2cC+g40Z9mhOL8wrcSfm8exKePaXYrrGpl70zlvyOPIGWRDIlFpnFsAEefPoHXwBSjS+l5SvrHXlLYbkCVLljGvxCRi9hgYzkKL9DKBYn2BNlUMeo1qPRb/f3gMYK/GpOJxOmvplsT5LcgL8tH698gy0vqdAi2AP45JQrXQrCYLwxB58gLSLG6LPikKAbwaeV/MRCuR3xmMSKZOGBOjHjOZ72mF1gJzYNSnIf3PHZA34c3A3HGN1X4u23TdxnN/HVi3dvwnRd9QehdVmsCLxLkVm7S3rK+eXui8eTIdIsrnjc+ToMVZB3BO7b7Gybz6/0GJmsan2CiJ410R50Pj5+AGbJwTLcKWqx2fpRq/gCPjmoXi88LAB2gz4oDac+n2tkRnguxxNO7egsiy95EubCXjNmWMCU+gZGtdJl/M0rnNFv3TvIh8fBhYqdY+qvlMu/IDfN2HIk/t64lNR7RJ9hqK1Lidgjgf2Xdu2PaTEUHTt9Yml0Ke5ZdS6JzTJg9uJL/wKq3cIVfTIqKfBFYtrn0d2K0ddhbt4BY0/5s3Pi+EIhDfpZC5QpFIHwAnN2xjSY49hjZ51mJETfuKOD+dLsjR7Lu6rNtyHLoo2ujLSNbzNWBnYLIeYGedAD8Gjf/VmmYyFGHSQWcngMHIc7txpyA6z2Uq206gs8f5JtHfboWc2WaJvrdMcNrkumxIjFs3orwWg2vnF47+7HMk/3o/2pxsi9MV4jxORQ42M5XHi9+nRjmQ/oKcBHYj5Rt7VWm7AVmyZBkzSlcTQUSQTUBLquWC2rmBtI8oLycSl6BF2zJI++0mROodWlwzY0zc/ooW9jnY/Xf1PW/UWwewa9kO4ucw5P30BA1JshQ2DEHea5eUk8Q4VyX5OYMacV7/Dlk61UnpLfLXmNSuWpzfkRZxPnscmxKFi5eSAk1O1CcH1o7f62Ttssiz5XZEkpdkyZpoYb9ww3X8dR8U78/ktfM9glCnczj7REi65pTaNZPQWtCVXlrVxkRj36U2NhyCyJEnYlyYtnZtRZwfTMOSXYTnbVnHxbk+8e7di+Skqg3KuRAR8TaSmGi8jUR7vRyFMM9ISxv21rDt+0WbmQp5xF7YsI094t35H+wegjzZZo7Ps8ez7oo4Pynet00asm02YvOmqmNEiJ9NeOvG+/QCIkpWRREoV9FA1MZIbO5qXnsx8O/ic9lf7IcSmU/S1b0N2Fu9N4Y2xb7enIzjG6KkejNW1yMvyMeBtdpRx2HHPEjuZj06E02zxPN/Fli0OP4T2rNh0jfa630U3rpR36XdO8S7dTk1jf4so6zfYxBhvkxVv2jcfZ9acuM22ff1xiTa2LkXkfv70town4LWXOZcNF+sZLFmaafd8XtJnJdt+G9Rz88CT9MG+StaG1O7IBL8O8W5PnSed8+H1m33ovwxbVuTh20PIsnZeoTiKB0T2tGPZfkfn3O7DciSJUvvL7UBeVJaSfEqr7KJkcfbW8B5cWwgWrT9PSbu7Vi8D0Ghqkej0PBqwJ4KEQov0Jk4t9p3TbJ0FG2hi3Pz0EquOkICLxSuP3EbbN4CJR59gyAQymeLiPOvgD8Cs7W7jnt6Kd6joSjs/gZElA6pXbdDTNAfRCT6HTFRbsekt5yMD4h+6YLaNcshD7c7kATGhMAKyLvkNhokSei8KXEFin75DElxbNjuNtBFWxiOPAmfRqTSC8B3a9dOgoieLxhFot0G28GFaAG/B9LXfQfJhSxYu+f86B/2a2oco/NCbCDyXjqsds30Udd7Vt8Nbf78kTbKnCCPq3/SOZnXalGHu8bnAbQ0Sice1bjSDfaVY3y3JcDsJtvXQePrKsWx2eiaOJ8Dbag0oQM9JN6lxyg2F9Em2kqIjNwq+ocl4twwFBHREfdN23Bdlu1g6uL3/ZCH4/rQWSIGSS88T5EkuA1tYCiSuTmZlqRgV+T/QOTMcGv0zU2+Y1W9DUGbqd+L57xYVZ+0xo6F49xmo3pGDdk9QbTJX3dxrqvkoHd3VfdZuqzbyREBuhOtzfJp0Lz8LGoe/W229Tvxcwja1Hk5nndFnE+OJKQ+RBvBz1NsXjVkYz0RaTm3KYnzaoPVUMTf8cgJoC3yV/E/z0KONnXnlfp3Goi8+Ku+oi1rB+Tw8ymwU1d2IIms+Zu2LctoftbtNiBLliy9u9QWFscg8uYT5Jm3IaFfjRZHv0H65Y8iTbIPgAXaZHcfpD/bgTwFZ4rj1WRtCkScPw8c3MX9vdITrcG2sE1Mvk6kSCKDPMvOYyTEeRtt3yMmuP8uJpElMbVl2Lx3u+u5NxRaWePvq+qzqtNavW6FFqGvoWiPtuv7RV91Tth0Uu3ccog8rYic65Hn4cCm7aa1KXEL0v7cFnnufwrs2APawNf6rSh5481Ip/wUWgmgp63dMwlwFA1vQnRh+0HI+7JKOLcrLbL/FUYkzk+nQS8yWgvaAUiT/E4kw1LKik2MPB3/DWyKvDPvAK4prumW9krnBbqV/wv4TvS1a8bn9aI9VOR+Jde1QK2vaEJnuxzD9gZ+XfZfvaHEu3Zb7VhFnD9EFzJSNEOcL468ie9E+r/1dnE22vwp895cgcaRCxruW+vz2juAH8XnYWh++zidNycmRNFqN1Lo2bbh+W9CK4HfLiO5ZlwU+XdnlMbG3eK5j4PGhB/Hu/4OmjOOW2sXg5HDTdvnXkha7B1g95GcH0bhEV181yTOv7luZ0Frwk3i86zRZ11IKxHkVhSyIm2yc1c076rWCYPRerZOnI+HNqU2oOFoAzpH982Extypa9eUxHmXc5cm+9za//0z8FDxuZwHDEee6HXJlkY1zLv4/UbEbUxbPoP4fRPkiNN4Qugso/HZt9uALFmy9N7CiF55T6NETdMjD9InkaRJpfc6IfIu/QtKljFXO+wubF4decF2ABtV36mYcEyBwoW/oMjUneUb28KfkJbmTYhYfAsRe5Vm6Ry0PM53bdjOUXnC7xUT3+tohS+Xk7VVyeiC/6aub0Xkc907pP55GtqYJIuuQyYnRwv4txiROF8WeQ89jKQkOmmcN2j3gYgEm4UWwbA38tjdus3PvnqWA9GC7WxaWtWGNqk6oo6nrd07Pm0gG4o6nBxt9m0Zn3dBnqXrooikN2Osm69NdVuSTpcjCY5pkMbnfyjIJeTBfTutzeHbaRFk3bbxixbr/aOvn7l2blpEPO0DrBK27VV8r6WRh+ZP2tFm4/fz4xnvSg9d6NafH615y3rRRtevHZ8NeW2+SiF10aStSKf6dYI4L84PRuPuHbTmCXNGey0TLTZG6sbvF6N57HZ03vydJdrHu/EOHoXmku8ReTra2C6Go3n4J3QhKRXXTI02I35Lg7IGRd/TB2003k2LZLow6m9jCuIcSSa+BKzXznoNeyZCsnJXE5EwZbtBkR4nESRpHEsHmxHrsdyUqvqGadB8a1s0tr2N1l9Vws3vRP+wTptt3zxs+2lxrE6cD2mjfWUU4nUoqustJLeycu3aijj/HW2QjmEk8zsUKfMR4bldO/fd+E6rtcHeqq/sE31TOWfYKer5jKJP64vmZzejDdXcPOvFpe0GZMmSpfcXRIA8QssrbwdEMjyMkj/uTMvjvJo0NzqpGMXgvAIKCfwQ+HEcK4nzqVGoWuqOfbt63g9tmCxB55DlDgoiDy2Ir0SeJV+TZN1sW/VMByNiYW+0cTJ/cc3+yJu0JM7ryX+SOP/muh6GFronFMdKMmI8wtO0dl+TJGn5nhsjhoJOibxwuiLOfxST+r8ibcV2yEtdBvy5+Fx57O4Wn4fTYEgo8mwuvWv6I03dZ2Is6KRPjhIhdUmc19tLN9nbH+mCL1hrm/1RgreJkXfsC8DmxfkqUuaTJus3/nfVp/ZD3vg30EqmOyMt4nzf4p45EBG9Unl/N9o4OyLjnqbl8fpXRJCPE9ccBHwZ58pIpNnie13ZZF9Qs//kaLNL0CJsehTxxShC56Pf+jeRfD36tmreNTdyWmiHFEe1kbYILeL86/wQaFOqA3mXH4+ilO5s0taa3TshgnSpwnYr7B0fESQPIhLnYhrWXh9Z3SBP8h3iHTuBLpKR0tmjv9vqGEmvbFx8HgSsgTYbVi7axyC00f5+2LwUItDvQuR6WyINuji3VdTr/hTEOdpIuQNFRfSo/qInFToT5puijYbx4vNxyEnpE5RYsUqwORGKjLgXmLJBW7scJ5ETwKuV3XGsIs7/Q5EctOG6LZPVPoyclZZB69w3o3+tJ7rfP47v3LCtpTf8zCjfysRxbOp475+p7Ir6nT/esZuaHhdozZ2GoY2xG5BzxU+Ka06Men4MSZ+dhCJpH6Q2DmbpfaXtBmTJkqX3ldqkZxBwBJFAEdgeyQOsjBYY98TkYieCOG+DveXgPC0KmZu0OP/jGIhfpTNx3r/2d5I4/+a6vjImtxXZUHmPnMmImtazNzUBprXoHY42eJ6L5/1pTGpKqZi9kSzPNcCs7a7T3lYICRbkJfQsXXg1xiT+LmCeNtg3bu3zMKSh+HcUJbEUrRDbkjg/sXbfcsjj6J7u/h71iTYiTa8B/hKfKy3jSsN2QLTjfWhg8YZCgD9kRNmS3yPS+Q0iwW9t/NgVERDnAJM12AaGo02Hp6IPuK1sF7QWnzshGYbpi3O/Ay6N+xvrHwqbBtEi7L6WuYhzXRLntb/TnQTZoogsvxLNC1ZGBELllbt/vG/TxDv3BSLQf4C8Y++L/rgtC8xoxw/RmeSbBsnF/JHw3m5HQfOWjWhJQQ1G3oNnAKvXrv1p9Ac/KI7VdVablpL6ffUeIY/z1xApvhit8XlLWtrnf2YUmwMN2Hwh2uypexR3SuwW7Xmc6rk0ZFsfWhshlRPAWhR5IsKmnVH/ejxdEOfVd+hGOxeK/39s1JUhDei34zlPFtdVbXoAIp3fiPb7bDyDJuVjyhw7h0Y7vBJ5QE8a3+HY+F5/QUkgD0fSDGXflcR5F+22+P08FMVxQNEOFkVk5CfAz6MNL4siU9+hTVEcaCN1A1pzmGkRoXsunR0FBqG5xL9G9r41YGs/NFbdAEwSxy5A87Db4r1ao3bP5jToDERnb/jrac0PXgI2i3dsZrQu/xBtSj4U7eXeJvuDmt1D0frxkeiXXo56LdeP20e/8GHYehINRvNk6cbn324DsmTJ0jsKmqQPrx2bP37OhELa54iJ8Da0PAR2ikH6SxRy1XTSsXJw/jvywOqIAfjw4roVaRHnKzVp45hSkPfw64QGPJ01CSsSchfgF22ybyAKk7uRkFZAHu9PxgSnzNS+NyJ0jmp3vfbkMqpJK/Im+xwtOqsEX/3QZsmtyNOsaVLsO7FwqPSUB6AFzsNoYfxc9AFb0tr4mRKRDq8zYnLQn8Skuds0K4sJ9wCKEFpE3r6MQmy/QhE/VnzP2yk0rrvRvrmQJ/N6VZugIJDCvo+Q1/kU9XaDCMnbm2oLaCH+VIwHv0QeQS8Df6+3a+T59hqtcPvxEWG+DQ2SZGVbiHfnq/gOU8dxo0U8zoiIqWeoJQftZtuWRJFlv2PEPAZThN0dKPKoDxofDkQbUm+iBeaZNCsXUY8imjPqdg2U5O2naDH/BBonOugiQqabbaze6bvRPGqT6AsmQJrrz6Bx9lrkADABrc3hU9BCv60EHiJCOoAli2N14rz6npOG/W1J7hbv0uB43mdWbbiL6xrPx4M8LZcoPo+DiNqXon6fAvavnd8ZzWWOI0i0hmwdhoily+LzIGAqFNlTzcP3KK7vX/w+G/JQn4MGZduKNjc83vl/Iq/WR1FU5C2EowdKIP9U9F33IbmZJMe+XT2fjNaKyzKiE8P3Ecn7Fcof8mT0fd9p2s6wZ+Voqx8jB4rN4vgeYVvlaFURuYNoSNILRcNNWzs2NfJ4Xj4+n4dyScyGIufeie+zehd/r0nifEi8V7egDYl10Ty7Azig+C5bIAecU4AdaSBarmZnOVf9PopCrvTsF0LrhreA7Wv3TUpnh4bsE3p5absBWbJk6fkFLSJWQ55C08axy9FO9tDiuvXRIqgkdnZGYXbnAXO0yf4hiBT7W9i4fDE4n1pctzythf1i7a73nlwYySIceV/ehEIC30KEeRWSPzsinHZpxwQCeeo9EZPgSiriJ4iI2DE+Dyqu34RmvfF6lWcSrQXikFhAnIo8rspF/dbAZ4iMPiXawyNoof+1vmmDNn8fbZDcFe1gGSQHMAUiewcjUv19RKiWxPk5iJiqe313W9I3Om/6XRW2LRXHJoi67ACOL+6ptD9v7e72i4iN94mcD2hj6nbkuVS+S4cgYufPdE2cN6JhHvX4DNo4m7Y4vn/YV4+GmQPp7N6EJEcuRSTJDA222XLhNTj6z4cRUbpArZ1UBNMM0cb/1ES/gkjPj6KOyufep3y20TbeAr5XXDMlWtBPRPuI0r2jDxiHFmHzBNpAOzyOzxzHjm3StsLGgYice4MgzuP4jEjG4sE4dz+SljkL9bvTtcPeLuy/m2JjKo5VxPkdFMR52X4asGtkc5lTwrbvxOeyv1oy2vI8DdbfsOiHOmiNAZcgT80lwqbLog0cWdw3DiKbOuhCI7gb7Z0Akc5/BCaLd+ewOLcA8i59ikIuglp0Z5PtoPhffaPfvJvOEUZ7oAjEv9Py4J0AbQSMV1zXJPE4MtnJHisBgcbUx9HGc7lRUnqhD42+YZ1oK415bXdVd2je+hqa496PNndnRcT/+cV1jeW1QbKAfwkb5q6dWwptrK6N5jtLF+eOQxsAHcBybXj+1Ri/C4qUmr04t0HYtdWo2jDNe5gPQZGdxwNH1M4tiNYQb9HZ47yMQOhVa7ssI2kH7TYgS5YsvaMgT6FX0S7rDci78ru1a9ZBXlnrxOeJ0Q7xHk3bW7Nra+RNOictou6XiCzdo3bt6sAfmh6Ue1Oh8+KxTiDujOQOPgEuL45PgGRb/lkuRLrZzvoCfPWYkE0bn6sJ2p7xeXjYP3vtvu4mHiejpvfc0wstwnx4THwfQQvNlxB5U+oUr4YI5/+gRf9RtNEjC0lBvIhI5YuBs+J4uWirtFVL4nxiWqRkY2QOIkseR+TIanTeqFwEEagvI53Ni1EUTbeHsCKS5nO0CKsiiyaOZ/wu2qAcXFx/KC3ifPIu6ry7NcwHIdLxGVokc/XerYe8H3+Lxqz1aYViL4c8yp6Lem3M461ob/1pJccbhhaVr8X36fSci3umLH7vTgmGccKWD4GF6rbXbJsx2sAl39TuG6jb6v36OfBqcXy2eO+3BZYpjk8R9b1dU8+/+N9VfzkQ9a9vIi/4wbXrfo4W959EP9AB/LphWzslPyza4LbRTpavHV8o+q+naKMmOCPOZTYIey+hcPgAJkFzxAeqfqxBe3+AouU+Q1IWh1MQXyjq8zS0oVYS5+MiT86mN6N2RPPsV9DGyGTFuUUQcf4QnYnzxpM/x+9VfzAR8oA9oG4PSlj8AbDVSP5eY/O3mu0LoiiThWjNV3okcY7ywXQAC9fqvewzhjVtVxc2VPrahiKRr0IJgZdCG0A3IkesDhqOnkUbjK+iefX2o7juoGjLlfxN3+jPzkIbxW3zfkabaXfSmjtWOS12j88TEM4JTb5XI7F12ejDOoBD4liZE2JB5Ej4OrBrO23N0o3toN0GZMmSpWcXOu+W7oC8yT6mpokW52dABNqTaOH2V7T72hYP88KuPwD3F5/Xp3PCvHGJELvafUmcj1gn5QJid0TU7Utnz8HfR/1eQCSBAs5HRFojhFMxER9QTMqWRsTOD4ENKQjzOL9OtNv5GqzPWRBZcCA9nDhHkQKLFp8HI3L5Jlohy1ciIvUZOid+7cOIXrxNe4uUC6Ll0cbfR8DviuOlrMgtiHzYtbSdZhf1fZDH411EYtp63cXi4nhERp+HNn66dVMCWBgRN4dTeBbHuSkQef8hIxLnhyBvvVtoWPMTkUyPoMXmqsXxYYgw/zfamLg3+oaTidwXyNNoQiJqpmG7B4ZNB9FKqD0MEaTvRNvopP1MF6RlN9u4OtpkuorOMlf1jcuB0UZfppDgaKgeh8Z7Mkvt+JbRLmxkdYXCxE9GGyeNbPp2YUOdOH8DOTOMIBMErBnv4JXd1QeMxMaKCO8qQekk8dxPq7cP5Cl9VVf3daOtZR+6Z9TXcRSyBSgJ/BtIY30bNE5fToNzmbKe4velEAH9Zdg2T/l9gOkQcf4WNa/Ish01ZPfUaL3wVdTlkNpzXxTNFR4C1m7KrvjfM0Yf+mM6z2unQNFFh3RVZ8gB59Imbe3C9tLec5H2e9UeHgbmaqd932D7cmiOuC5dE+ZrAD9rsp12YeOh8ZyXic/D0Hrmsto116K5wv10Y8Rhzba50RzmdxSygHQmcat6PTLa8lRo3JgWEf1rFdc2Ln8VP/8E3Bm/r0XnnDx9kfTYBU3V6zfZHDY+EO9YJc9SRkosgKKPrqWHruGy/D/bQbsNyJIlS88siBDbES3KqnD6vZDnzavI23yWON6H1mJpAbQovhctghr1HBrJdzkaeCp+X7M2OPdDHlAn0qDeY28vyMPhrXjOXyAP8p8X5w9BXnlfIK+Mq5tuC/FsHwD2js990eL3pbCrOt4Hhd7fEm23SVJ0HJRI8lkU/tsjiXNEanyEvBurSe+WSC5kuvh8GSJEl4/v8zo14rz4vV25DUq5iB8gEuc9ik1AOhPn/0Kbf215HtFm70cbUXX95bpnZP1zd3mYL4oI8Vfo7FlcklBTMnLi/IRoK417wsUzvwUtfH4Yxx5FHk8z00pIdwZa2C/djufehd03I/JpN1rE+VBaxPmdtCl5ZmHjqsjD+WoK2YrifavmCLvEOzdxk+8V8hbrQETyDMXxXYBb4/cR5CGQpuoV0d7nbbhOR0biD0RE4xvApkW7LfvY8Yu6b5IorSI6TqJIRBrntkfjyLKjuL/pzdTz0VhV9QsvA/sU53+JNtM+R9FSbZnX0plYXDbes6+ATap6K96x6dBmawfFGNy0rUj26goka/FV9F9Da9csijYsXwW+35B9i6CNsn8CO9TOjRv96YMUshe0EpzfApzXdJ2O5Hucgjby1kSyJz9B3vvv0KbNvcK2Lt9jtAH9HPLUnrBoB4aiLi9Fa7bGc4YUNm4b71eVRHcOFIHwDkWCbURg70MDjmFRP30QWX4ltcTptCLOpqLlKDQVmsO+jKRc/o3WRE1uTo5sDFsfzQ/PK/qGqi3Mg5xxDm/Kzm9hr8V79iSKVK3y3NRzMXR7dF+W9pS2G5AlS5aeV5AH2M0x2J5bDMBTIM+R3RA5dgMwa5zrQ40Uo+Ed4vpgVwzAv0ALtT/GJGi34po5EfE3gkdOlhHrMn6vkil+Lz4vgrwdn6GzpttEyDt5HNoQbhnt+ApESldhfgsh4vx1pGk9DfKSvCsmk40RT7SI3HHiXXqRHkicIwL0EeCU+DwALdBnp7Xx8Nt4/gvF5+/FO3cfhTd/m+wvtde3RKGtVd0vG/V+L7BycU9JnI/gvdug7ZNEPe7TlQ0o+e4yDdqzJNpwugURMpfQ2bO4HAOmjPMfIvmTUuu6EQ3z+v+L33+IIiQqguzvaFwrr5k2vl+3J1L9BrvLBdmliLjbnRGJ8zcRWdLW6ChgFUScX0Vn4rxaSA5BZMQVbbCtHyL230YRRTPF8aMJ0ryLtvJdtIFyMTBb0/bGzwHR1y4T/UFFOg5CXqV14ry+udb0BuWswG8QCfo8GoMXRGTk5Ih4PrwrWxuyr9zcmxmNUdVcZnYkz/Q2cGBx3cDoIwZTi5hq2PaybS4T/fBnhf0lcT4T8qBvp8fueMhLdwLgGESO7c6IHudLxTvW7e0BRUm9izZ1Fi+Ol2NXJeV3Op2J81mQE8gB7arTwpbZEAm6Ca012qzx3c6llluiYdvKd2whFOU5bnFsLSRzcxWaUwyO606PfqORvrbeN9ber3HRhtlraM2wK1pLPlq2mzY893sponXi2NRI9vBhtMa9jvAmRwT0hcj54xRqUWndbGs5hs0BTE+L3J8ZeWV/BlwVxwYirfa7kNd2dX9Tkm1lNNdiKBpi2uL96oMiIZ5CzlcVcT6g9nd6pDRSlv9n+2i3AVmyZOlZBU1wq4zxSxaDRf/adXvSIs6rxecQtOvejuQi5eC8QExuy3C1a9Ak+GJai84FkUdJ6aXXI4jKnlTqkyvkdXw+nSUr/o+9+w6TqyzfOH7PpjcSAkiX3kECIh0RBMQGiiICKioWrKBSBUSw81MBu4CagHQQqdITpPfQew8l9EDo2ZnfH/dzMu+cnd1sMHPOTPb7ua5zbfbMbPbZM6e87/O2DaKQ85Ckb/b2syXEvlsUyrJ5VIfJSf675J6D3XKy/By1eA7ovo6t2jhxHoXb5yR9Pr6/Q9LHs/jlysVNco/NLO615cTDDDkJUVpP7fg6Rl7Y63pJn1djMnIbNU+cD8n/Py2OtUcFLu5nl8i9SlfLv0/u+XK5kqlbWhjflnJv5yPi+6/EPfUM9Z04Py3Og93VZAhxgedCPnE+WU7wfjX/HrmS/5ikj5Z0vqZJh7QB50zVE+cLx75Rkr4v9yQrfUox9ZE4l8sU16jgOWDT4ysnxF6SK+xLyAne85L3pOfownJvvTElnQdj5B6Z0+Jamy7pl6ovTpn1OJ8uP+sK753Z2zknT3+xj/yszRbTfa88qu8ZJVMLlHQu/EGe13eiGkfCrCb3fnxBSXJUJSafc3Hnp2q5Si7jbJ59HurZgaSMtUPyz7OF1UfifE7n0zyKaSm5A8CfJI3vK+64p1bj+vqVPF3E1NhKPxfk53G3YtSDnER/Xk6QZsf2qyp4SrHc+Xl8XEfVuIftIifIh8jTNj4V5+4MudH3ERWwuK4an69NO1sl368X5+2MOL6Pxz14RKvj7CX26yRdFv9+lzzdTfZ8uDbuXa/IjZNpo1D6XGv5+at6490YeaTOkxHn6dk5KY8yuSCO7cVyI+DN8XcUWh9T4zP3Mrku+4LcaeVA1TteZYnz++MYlzqig624rfQA2NjY2meTC9vHyT3vVuzlPWlC5MB4aFwpr9L9V7lX4WpFxJvEkRVys8RYtmDHRMXwerkx4PyI7/p4KN8hVzgKT5Z2ypb7vH8SheD/REFnjJJFv1RPnN+nPhanmdefe7PPTo0JzylyQjTteTNITp5/VE4KZwW8MiqX2fk3VvUESdskzuWeFhdHXI/IvXSXSF5fSU7kfS+LV54G41i5klpaT+34vaPiWr9I7jnabA7gj8hJ0mtV8Nyq6XkXBfL84n7flivHRyuGAcu9ZleJz+J0tbhnS1zrj8Y9fnSy/6uac4/zJeK8vqSE49rrPT0+8//KCbxPJvvHxbl7S3qeFxjzSLmh6UvJvjRxfo5ckdtX9cXKhif34dKfY6onzs9TPcG7tPx8uLjIGPO/K+5PO8gV9QtVn+Zisjy67gE50fugXFYoa1G6kXHfulxeg+Njck/B7rje1srODbnRsirpIwXHmN23hkv6oNyQtqHqC/1mr+8d94BZcWwb1hNpcYyj5B6i6TNrLXkKsapiUdq4p2bX0Kpy8mm6pF+U8fnP4W9qljh/XfUe523Z01GejuNIebTSPkVfW3ID+T2qj4jLyibj5PLrd+RFlkfH/k/F9fe8nMw7QQX21J3D37JWHMet5cbpF+SEeRb7ZnJZffMCY8qvE3C/PMrsM3KD7+vyFE1Zx6VF5LWyDpbXFFq6gBiHx70+HRXb43rJXWNj5OT5ZXHPeKCEczero3xR7rzwkPx8qMoNOd9J3vv+2P+Dvv6uAmIdFvemKyR9Sx7d8bT8nB0X71lF7tF9sqSj5NGg2XVZ9Hzro+RGskuTe8Rjcf3/VvWpKLMyxCtK5rlnm7+30gNgY2Nrn00eQnlz9qBVY+JjE7mQe4CkTyf7946C0Uy5ElLYIoq52AfJld9L5J6k2Sr3U5T0fJeH2/1Knk7i82U9nDthyxUaT5YrkNlCr92Sdm7yvvXlkQpTs0JRC+PLetNkn+EI9ZxDtSJXmJ9SLPCl3FC65L1FTRXRaxJZrrxdpvZLnO8S19PralxEqEuuCP9HToZ8VtKH5YXKzs3/zSXFfqDcaLJMcuzXkXtp76Z6BW5buRJ6bMHxZTGNlpPSl8m9MbdP3nN4xHabvBjdMcr1emv1+SvPkzs8fz6q3uO8r8T5wkVdX83OOTmJ+434vN+X7P+w6lO1fDL2HS0npQtb6C8X9+pyQvdmSZ9N9mfTbywmP2sfkns/jk3eU/rIlNwxf11O8n8o7gm3q8BG6tw5sIs85HpE3Ld2kJ9p2TQMv5L0YzmB8yN5PubCFzFXPXH7TflZu07u9QMi5p+q/gwcLncSKGOU1Bi5gelhOSn+vDzlyVq594+W9Em5k8V5KqjMpXqP4R8rFvaN/R+Ty4evSdo09qWJ81Xk0RIPq+BFi+fmPIl/b676lFkTCo5jrj5Hubzw24h114Jj/Za8YPHKyb7V5Ya81yOmLCma9SwdJ2lRSQu+07/5f4y5t5Ecy8rlgWvimjtJ9efzQnIHqMkqYa0meUTJX5SMKIp71CS5Z/meiinGSojtPXJj6NNqbJieY/lErk98R7EQZEnxj5OfZRfKnTz2y8cjP+NelPSzEuKbvY6G3GnmX2occfZ5eWqT+5SUXZr8P0WvbTFITtpflF0zcpn2IXkNr6qcN0h7nH+g6DjZyttKD4CNja19NnlKhVcl7Z7sGyv3rngpKVBWJR2SvOc9clJ9yYLjzfcgO0HSBsn3O0bB6EpJH+7v/8PWI+H1Xrln+UZR8N1Y7rX/miKxp8YK3HsVLfItjG91uZfFRvH94IjpTTkJtqXqC9guIPcuOiv5+bJ6PWcJztHygj7nyT0xvqmYxzEKxVmP8/1UUuI8KghZj5ErIp7b5J4XW+Te+2m5IlKVe+5erXpyrOyE/1FyUqcSx/YHcoXiWbmx7wzVK5vvK+N+IPdwuVNueDhPrgTfL2nv5D3flBsnXpYrS39OzqeWVuLVcwjz7AVV4/s5Js6bfV9EvPL0ME/H+TtL7uX0q+T1bI7zp+LrTJXX+JtVONeTK5W3Kkmcx2uLxOf/dMTbNonyJn/P9nJjW1VuBMjuCYUND49/Hy/3HP+J6j3chkR8z8i9ilvey7GXOBdUkpBL9h8uD2nPEuPp8Pq/xfnaI/FUxLFNftdwOWl3sdyzNUuMz4jjmi5Gmn19V/LvohLn/yc39B+mxh7nH47zcoYi2ZzGJI+iKrVcO4f3pvfgbeREZRmj5bK1Ffo1MifuYXsWHas8srAa19aOclngZbk88Fe5DrSP3Gv7SjUflVbk4sVpo9+2ckPPSsn187n4e55UTCUml7//Lpchyliw9ii5bnCHevboHywnzt+QR9CVlTjfQC5LPaPG+m6v5ZMyrqt+/B3jetm/lTwysPBRk/H7h8hl7rvkTiDp9FeD5aT/E3K9LJuqpdT6QsS8n2LhZLkR+lFJa8b3Z8e94lfq2UhBDmEAbKUHwMbG1j6bPH/ubXKvzC/Jw+buladeOFPSBLnH2KVyr4zNSow1HRa8aRQSblfM7ZsUKj8lJxf+K2nrso9xp22Sfi1PVXCpGucwf4/cC6tp4ryAuD4tTxVyd1IwX0Ye2ndVFG6ulLSr3INgx6hE7FDisczOydFxXd0g9w76j+qNOxvEexaQExGPSPpZ0QV21Ss52dexcsX4k/JUAI9J2jL3M6vLCcjtVN7wyoYpe+RE+T5xb7hM7kUyM+5tq8s93p5UbjqqIgrBaqwQZw1RWS+WVeRRM49I2j953xC5F1maEGx1wjw7b4cqlxRR88T5aSqhl7aaD7E+Sq74fEBO4I2N662a3gvivJ0qN6RMKDDmvqaP2VBuOLlVSY9MOSlynFz5zBq1Chty3d/9yeufiuuusIR57vf/Pe5XH1Sux3BcT9kc5+crWYCuoGO6tqR/y8/SZdLfK+nncjJvnWRfdgw/GedwaQvSRRxbyj3xtlS94XFnOSm2f+7vyXdyKHrkyW/imOUT59vKCZ6mifOCY0wXrf66POJhQ/XdI7PZiLUiGqXS59cecWz3lbTYO/mbCzzGP1NjB6AzlUzPFe+ZKDdKldKQ1iTmk+LZVI1nwqHJvX83OQH5hDwqImt8X7ukWJeTn7lVebROFufsKRDjnlyNc7zIekPa8JjVZV9QjJpN42znLX/MkvtGRW5UuVYeZVBKMlcua/1CbpS4Wx4VkXbCyRLnj8nPuFHtcDzlESVD5ZzCA3JdJuu0tE9yz/hu2ecAWwnnSdkBsLGxtceWPMw2iIdF9nC4Qh5ONSZ57zbKJR0KjjWdw/wmOUH6dBR+PhivpYWjHVRv1X5f0fF26haFnEfis76xyetZ4nyGypkH+jNyQukB1XucZ+fxHpLOitgvkXsa3inPp1n4YmlJzIPkoX7XROUii/dkOdGwgxoT1bfKlboiKxZpb/h/yNPELJu8voN6SZzn/9aij23uHMj+jkXk3iFnxeefTs/xZTmhvlRJ58OIuIZOk/RHNSahV5OTjQ9L2jfZnybMW3peJMeyS04s/VM9GxjSmHePa+4yFbA4afJ7x8rPqrWTfePjOjtA9d6674r71TFKGgHjtQ+qwMUJk/NzlNwD+jS5p/4eqs9VvpGcAHlAbgD4qtzYdrnqz8GWV/KTWIfJU0Fsp5g/+Z38PwUe443lHvuzp2Jr8p5BqiehTy0qxojtifjcf9Tk9VXlRum/KZmzPl77kpyYWrmIWPv4G74ld6DIkvm7KpmvXC6jfU8tnqptLuKdU+L8OUnrlRzjmHgmPROf/9vyc6uw+2k/YkynFDtc7lxRlcviB6mEKUH6EXN6/Xwk7gnbqvF5mv1dx8jrI41tg7i/I5ddd5BHc1wkj5r6QxLvBnLj5KHy6IlCRkeo9+TtEnL5cJqkTyWvp0nTP6nA9a9yn/Pv5IaIbAHN1yTt1uy9JX7uQ3Lf91nWk8u5X5DLQTep2GnQmjXcLSGXvd6Mz7pZ48lX5EbjUuoKvf0dcjnrFTXWew6QE+dfUhuOOmBr/VZ6AGxs8+s2pwdcO29RaN9e0ra5/VkBbSe5F0bhvZzUOMzvRDk58ym5EvRYxJX1Nk8T55+T51Ytcs7PhmHJnbQlhd9Bqi9+8331TDStGYW0J1XQwji5wu9nVU+cb5B73xC5B+l5coNJVdKFJR/XcVGgPTDZ92l56Pg+8f0IxdyrckKt8N6kqlfcr4qC7dDc+z4Vf8ejiqlayjzPk/vCKHnamzPlitF7Y382H3TWGzJbSPNqucGirCGhH5IbpmYo5p+M8zb7e1aT5658QNKPC44tHc2zpjz/7+ty8nb53HvThMSeck+noqZiGSHPoXy9Guf3XiOu+WzthZXlhtVTVU+if1mxWHTBxzZt+L1HToxfISd4X5bvuUvFe9aNmJ+N6+0CFTiUOTkXx8gJ+/vlaW6yqY3aJpnXJPYd5Ur7ern96fma9ST7uKRVCoprgjzy6feKHuaxP/tcu+RG6x/Iz4a/yz3OF5CnkLpOfq6VmtyRp4t4RV6U8DNqTJhX5HLXGUp68Je9qffEeXYvflRuHCp8Go44ZofIox7eIy/weHDE+3eV3EiSi3mUPGLuMknfje3cuDf8SG2eOO9tv/zMvU3SUSXFmB+R8R25B39WNltEnoryKTlxXso9oEmc+anY3h0xPqDGxHnZC6hOimt8R3mkzy7yFE3Pq3GO88LLhHJD/2LJ92PVj85pklaQe5Y/JJdnC5m2L/0d8cwak3ttibh/dcvlxnziPB2tUsh5oca6wo8jrp2UNDTFs+xpucF3tDwq9Vo11ttInA+wrfQA2Njmxy33IFixjIfv/xB7syHu6RyPC8ot9NeopMWRVJ9X+3QlCz/KvcXujYddljgf0uTnW/pw7u3/b+fzoK9jIifOr5eH0X1dyfx08frqKngYqxoT5zvLifP7Fb2I1TgUcLycQPupCp43L1+wkivB01VPkH9WrhBnQ9lHypX57XLXXWHnrOor3l8WhfHsmA1RY+Uym8f8TUnrFvn59/I3jJKTj9kUU4/LFaGGpH7cwz4b97CblRT6S4p7Z3n+z9eVzAGqeuF+1Yjz9ALP27Tx5CZ5tMb5cWy75flfl8v9TCX/7yKOqTxP7dOKecjl3nYLyENtp8m9g9aSE+anKCp28qLF58vPjaKOa376oH/LlbHlk/2HxLl7ieo9zsfJ00+9R7mRFAXFPTyuqcvkqW7WUb139llqMid3O2xyo8jrikUp88dMrix/sMB4KnF//Ueci4s0Oz/k50AlzpG94294Ic7zB+KzmJ1gL/H4riFPbXOz/ByYPSWL3Eh1RfytRTTu9Pt3qPfE+QeVaxAs8FhmU7KcIulrudf2Vj1xXtoihOlxlqc5uV9JQ5OcYPqdnDg/SHM5VUuR8Sffpz1f15Mb0tNyQVlzmO8gP9suV0wHoXqZYCHVE+dHFH0PyMW5j9yB6RxJh+belybOP1lkjL3EvZLcwed7ub9hM3l6xFfUOFVLoSM85al27lY0jsX9/hpFZ48+fna8/DzeRk0S0q0+D+K6nxixniRpl+Q9i6ueOD9SBXYC6iPuUXKZ+5E4xq/L5ZjV4/WF5PLX9HjPg+k9gW1gbqUHwMY2P2/y3KnHS1q87FiSmEYql+yYw/vT5OTq8vzWLysqoQXHnvW+uiQK5XcqeuQm79lO7rmXJs6LTC6kc1LuKS9A9TPlpjRopy1XePyupF/KiZuxuWN/vVxB3kO5xHnRcTZ5bRd5TuIH1Jh4bNYI1KMhpcVxj1KMypCTX/fIlYwvKXrmJQXJjaLg+fmCYltDuelq5PlpZzdAxL6t5Ar7qYqEf3Lc/9bXZ1PUORHH88Lkut9GrnC+rZhGRq6YHBHn8mkqtkdOX+fvTnLC/xFJG2bvV71SsowKrmzIjSQXyUmENWLfkvJiSVVJR6uXHudxny4qzk/Kz4O95MWanlEkluQE1EvyM+vU5GcWlJ9lN6iAoexyJSyfrHlXfOYHx/fps/aQiHn3Xv6/opMkO8i94NdPzslsEbp9y4wtPe+a7F9KngLl4iavLS732v9lEdd/8nsHyxX23+T2Lyk3+FwnT8l0iuqV+FXlXnE/kadAKmXNiF7+np3jPLhTTj4Nkae9uEZucGt58lEub/1Sc7GWgupTivxYbTB3tTyFQVXuBZs1AA5LXv9BvH5sdl6UHO/RcllmVG7/GLkx8pV4VixSRny9xJw9n7ZQMiWbPJpnYpyz/1WBU1v0Eudpkl6NZ8BrcS8YnsYkJ0onyY1VvyowtvQ5dUqcr0fL5cA3JJ2Ve//S8Z4XJW1X8ue/blxD28b3Q5LXtovXnpf0zZLie7+cnJ0pN/if/U7uTSrwGRz33jvlkaknyQ3+j0k6LHnP4nIj2pvyeixljezMytDfUrKGiaQD5WfuFMUUf3L57CBJf5Y7XM0efV1G7Gzlb6UHwMY2P21qTOBsI1eMNm+Xm6yc+Dw9Hsj9Hi4bD8UT5GT1PSpogZnkAZcvLK4r93isygs/5qeO2C4e4lUVNLdfLt4xqvd4vS8exjPk3g1tN2Q1if9UuRfGY3KF53EllVDVE+fPxt/SZ++HeRxb2hjxVbnC+z1JH07es6t6Js7LHr5ekfQXuZdgNuXKznLPhqqkHybvXVXu4X1hEfcMuRfQNEl75PZvHvHuGDFlvfIulwvGTysZbpv8XFkVzFFywuE3yk1hIi/ok0+cLyz3li2yR046f/We8rDqfSR9PHnPLvKIiUdUXxC2oeGnyPNZHlo7TTHdQnY+x9f95Z5Dv1MbNAjKPbZflxPkmyf7F4/rKXtWLCknTI6XK/Etb/yVE833K7fAqJxMmCnpkPx5Ev9+QNJJZR/biOUA+dkwIr7PEqX7xffjJX2xpNjSctcYuWFyVHw/Uq4QvywnIBaKa3BNuQf0Eyp4yos4Vk9J+n18PzbOyQfjmN4q99B+Pf7dNL6C7ltD+/m+neN6elwu69wR110hyUfVFyE+QXMxT7K81kVV0g+LOJ59fX5xXv47+TuyczhN7H1PuXJD0VvyDPi9XFZcLP/3qN4z/lVJX419ZY6IqCRxZ9MIpb1h94579E9VQoNU7tjtEtfPNpI+ISftuiX9NP9+uSxzdNH3sPjdv41jtnF8/0M5KVqVdFnuvcvIPahLKSskn/1YeQqTf6o+RVt6fd0e9+H75OdIGVO0fCyO4duSPprFX0YsfcSYTie1tjxV2HKx711xH3tc0s+Tn1ks7rdXFH0vyF/L8nRHB+b2fV9u3JmieuI8f49ui1wOWzlb6QGwsc2Pm9wT6K9yb9LCEov9iKtL7gE0NQoGc0ycx8+8R048/U4FDV2Nws13VW8JXkiu4G4a368Rf8Odcs/Y/Hx6n4njX3RFaKjce22y3DN/dBzDm+Wkw9plnwdJrPmhoDfLScZ3ycNCb5Ir9+sl7+uKAuUjKmhxLzU2RtwRhbFpUah8RdIvk/fuIi/odW92rpS9yUn+ZxXDU+VpIw6UexCdGq8fFMf7FhWXaBgp6SPx72HJ711d0sVycvwhOXm3U7y2tpwU+WLZxzX5O7aOY1lVDA/OndubRkH4DUkfa3ZuFXj+3hXXz61xbU2X9NvkvZ9R/f68WcnHdfk4b7PE6Oweo3KDy11yD+8jJC1QYFyj5UaS8apXhs+Iz/91ObGUTcHSJQ/JvlBO6r0ecd+gueiV+j/Gu5gi4SE3gmQxLxRx3KCk52jE3CX38D++zHMgiWmPOHajVa/UZ3NXd8kLkBW6+Gt2PJN//0pu2H9A0r9Un5LlXXIP7ZfkXoQPxzkwTbmGjALizT77H8qJsEvlJMIbclJpn+Q9Wc/iz2bHuaAYx8sdExaI78fKSYY+G/zl58aH5Clx3pfc94paWPWA+HxP0twlzn8yN++fxzE3jPyU12c4R16Q9MeqN1Klib2dizqm8ft6m25wLbnR7+gmr31f7tiQdRgoZKHt3mJNXv+CnNjdJ/9eNU7TU9T8yvnRRx+Tn6e/Uj0xuZQ8iqKqWPckjbHV9wV5aq5maxn9S9KO8f3+cnl8N9VHop2d+5l2OGeHyD3in1Ay1aT8XF5drrftogI7WzX5PPeQR6nfKjc69doBKH/+FBzvCLmecK48SqNL9WfXknF+PJ47ZxdK3lPU8yydQuaouC/drEiaq7Gjwvfl8sGlitE+bGzZVnoAbAV8yE3mGWVr6fHOhng9qUjmtdNxjwfbFnLy8SH1s7IgJ3yK7Fm8fDyQX5UrYHfLc7+mBdu15Jbh2+S5KJs+hFtdAM49dFeRE16fVb3S+NkoUM6e77Odzoso6O4j935NF3XZWO5Z3ixx3u8pfuZRjEPlpMxk1XsBrBMF4KqkXyTv3Smuv1NKPq5pD+HrJF2RfL+IXPm9M87hyyX9UQVNF5KLbXAUEq9WfcHM98Z58RnVp7rokhewu0P9WJyowOM8Su4Vf18cz3c3+Rs3idf+G98Xeu3JlbX/xHHOplwYE597VdFbK/ZnCy2fUWB8vU1vMSU+79kLqMbXQXLj4NkR/xcKjHV/OUme9RRbQJ4zc+2I6XW58jMu93ObyM/nNSUtVFCs6bMhS4h9TvVnQzbFyV/VmDhfWe7Fd3DB52lvyYZN5efatRHvXslrq8d5/Ncirys1lm1Plnu97is3mjwlJx7XS86RdSX9PO6z35a0bJHHNhf7YnLv1odU7+G6du494+NYf7fg2D4X98qvyCM1npQTIGPewf9VRKNk2nByoJyknavEecHHN+2lOVFuzEnnBR8pPyueVmPiPD+isshF/obLU+9slcYT9+KqpGPkkUkLxP31GnmqoS3lJPUnCox1RNznvycnoVeL/WPlkbKHqrFskE9cFzH//gLKLUAt6fNxLKdJ+kbutcVVT5wf2ur40nNVnq7mWkmjk/0LyY16Y+UONtMl7Zb8bfdGrDcVFWsac/LvXeRFafdTfaThSHnh8Cfk3vKLyWWDY+VE9biC4813+BoT19vWcv3rVdVHHs5e86Lo49ok7k3lxucXJf0hOV+y63BJuZz2sGJUVfKzha4hE5/5vRHLI/I9N60rpOfMXnIj9h/KPsZs7bWVHgBbSR98myTr5tdN9Zb2pyW9t+x4msTXFYXZLHHe76laCoyxEjHeLRe6r1GTOapVT5zfKjcGFNV6PUHSpOT7rKCwtZwgf098v6saF3ocK/fYL2UR1SZ/xwYRX1XSH5t8Blni/HHFXMslxbmiXJn4cq6As6w81/ZLkrZO9n9QxY8y6FGJVVR04zx4UdFrMHl9tNwTcniyr2VxJ4XItHFkkDz3/uNyr5EejWNyT/R15Olj/lv0se3t2CR/zxjVV7y/UvWpcNLK8XuKiFu5OeJj39JyUv+LqjdMfFLSW5J+EN+PTN5f2PmbngvxdWjy2uZyEuo/StYxiPvfFXH/OEseJTFGxVWGsmO4h3I9YOVe5VmP87FFn6O5WNJ71SLys+E+uZEnS55l5YUb5YUJD5VHnExtdk9pdaxy0ukzcq/hNJH/W7l39A3yfXdQnB/Xyc+IwhfOi9/3E7lCnK0FsJc88mSa3BO29EWK+4h9QTWZ8znuyzvIDQFbFxzTYLkB9WV5pMllatOFXtPjlfy7bRPnakzsfkFOmlfjWl81eV+WOH9KTvoVniRT47P1ujim3XKZPEvivSvuX9kczA/EOTs1Xt8yzqGWjvpT42iuW+K4vRXH9jHFdHJxDy51ioW4vo5Vk3KUpMMj5qvUc6HtxeX1kaqSDioo1hHyM/Y5eQqONHGePYN/H/eIhZPXzpXXQ7lfBTZOqrEh9TS5TJuNjJ0l9+CvyB0tTpNHplTlsvlTKn7kUXY/GCppQ7mMOj55/UOqJ87XjX1LyD2lty/zPI5YPqZ6Q3o6lUyaOJ8i6UwVXy5I6ziflzssvDti+lJ83mldIS2r7VT2fYKt/bbSA2Br8QfsAs3Gkn4RD+NdFHOKFX0Dmx+3vm6qco+nmXIPnTXKjjWJKysID1KbJs5VTzQOTx7IL6g+VUt+frI1428opJEiHsI/jULYP3OvLSdX2L8WBZ78vNUflJMjhVaE+/hbhkn6tNzr4g7lFpiKAtBGUfC8R00Sgi2KK1+Z2CyO5eb5c0DuQThL0rfn9P8UEPdouWKzfW7/MnLB/bjkuBY63FLuHbRt8gxYQJ4Pc1m5kv7jKEieq8YFyBaSFya8Vm68KmWRLDUmHHaVpzj4tqRlavVzeUe519NVapI4b3XcchLxT8r1ZJZ7MlWz+5PqjWnZFBej4p6ySZHnr9QwdPVEuSJ/ueoL146IY/y83DPnR7FNVb3X/vGSri/oHEiTY5+WkzinqueC0GniPJtmouhKW9rLKVvYb3G5kfehOFezZM8ucqJyRhzbk5LzvbDrLM6DqXENZfNrfyV5/Qg5MfZ8/A13yQmTsu4JS8oJqC/G9/vIDRM7Svq4nGx4SfWpWkpJ7Pfzb0mnP1pRvtdemL9/tTiG7H6wgOrTHR2o+qiOUtcIycWav6+3deI8uR+MlstSl8jz6p8Xx/kB9UycnxefQ9MFgVt9bOUE77/kUZ/byY2+18f94cPZe+XpEo+QR3Hsn5xHZ8gjQRctIOZhcc1cKveCHSInvy6LY1j66Dg5qX+gpA8n19Sauff8X8T7G+WmtYn73SEqcCHYOK67xWd+rurP0644xlMkXZm8P1tgeQcVOG1bLuZfyc+nLeNeNlKeKqiqGPUQsa8pJ1Q/roIXA1Zjo9TV8oieqjx672PJ+7aJa+5NeXqRG+JvG1JgrH3lOj4a8T2t+nSPaeJ8keR+UnQZbJSkI+XnwG9y+3eMmNO6AnOYs/W6lR4AWws/XA+vv0geUvuCpGdUH/r10bLj6/RNja2SH5Ar8FsrhvvE/h/JLdinq6TE+RwedoPlJO5cTdXS4nizh+vCcuH3G/L0JnfIFfVsaoN84vy98uIjRfXOHC8P9X5GyWJtsf+f8blXJX0neW0VuWX7DJVQ+eztd0aBcie5Z9m/FUnI5PWKvJhd0VOyjJC0Ufx7aTmxf7Ji+KQaE+dPKVkoqaxN0vZyD6en5QrG1oqeI/Lc5W9K+mBJsW0cx/Boudf443GNLRKvj1I9cX6O6j2JNpV7Ex+hgqaPaRJ72pPsNrkBYoY8jHKGpM/F61ni/Ck5AbxEwXEeKOkvTfYvFzF9T048zE6Yx+sflZ/XW5ZwXoyQE+LXx+d8axzXL8frw+McuEyuOD8m9xwaGq/9N+55w1R8peiXchL6NMWCdMlrF8a5caDewdQS8yi+QXGsJquebFgsjmGWOM8STAvKvcjSudqLmg+6IidBjo3jton83P2v3Mtwz+S9m8pTd3xXbhgudO7qJrHvLK8TsZliNFLy2j9UH0lV+Bylc3tM5AbKT8rlhKkqsDEiOQ8HyQ3Rl8ojSF6R9C1FL1O1QeJcjeXvpeL+umTuPQepDRLnuVi75Ea+m5X0wJUXfLxHPRPno+TkaVHl2jTWYXK570wlU4nI5djL5B7kH24WW/zciXI5eO2CYt9QLndtp8ay4QZx/31YJSyYmcSxgPz8/Lfqa25kC6Z+KPfe36n3xHmhI9Di3+9XfdHcE5U8T+XyTLfc6P9lefTE4yq47JXEM0JOQv9U9amEVpCfYyfE66U2mubutVeoPpf69+I8nSrpM7njf6I8oupfKrAcnvyukfIi9n+SR8PtmLxnO7nBKm1Mq+TvfQUf28HySPTs+f+z3PuGq8S6AlvnbaUHwNaiD9aVmmfl+X4/IbeoDpUTkLfFDSRLMrRdj5t239TYo+VEORE1I47r5Urmo5Mr7C/Kyb61C44zv5r9MXJF6LNZQUw9E+el9ThXvfI9RO6Fc4vqK3J/RLnEeexfUtH7uNnf3eI4F5QLkvnE+Qfl3gDPyEPFl5GH4l4Xf1PDdAglnAubS/qUPAQ/nRZkZ7mC/G/lEuclnAsVuWJ2SbJvopzY/4FiuLhc6FxPTpbsVkKczXqLryhXHu6O+/BNclJ0yyic/VUlLRCseiXtJTkxMy79O9SYOD9b9cT5YkpGqRTx+TfZNyyO32VyRXiE3Chxhpzk3SXeN1puxKxK+nNJx3mUfO9fOdl3gdxo8rakHyXn70rxWfyrlfcENQ5dTufV3VHu0biMnNRZVtJxEevXcveOZVRvBFpYTkq+qBYnpfLnQy6mX8qV9GaJ82vlHlzjWxnfHGL/jZy8WzrZl0+cl7LIV/5alhfJSivDG8iNfy+pj7m1C7onzGmRv+/JPd+XT/YdI09zcY4KKtvIybFRyfejNYdFZ+O6W04un98f97QyEiMj5HJAeq5eKZcLvq3G6RnGqIAexH2dB3Jy8Xq5rHW/pO1y780S5/9UjDYoMM6Vevmcb5I0SY0L5w2SG0velBNmPZK7rbzG8rGqvhBxVn4ZlXt9RdUbUbdVY4J1tbiP3FjkMZfLs9Xs3FXjNGM7q0lyusDYxsS9/iIljTtyWfwSuaPFtrmfyRLnhyvpjFVQvGlZ4ST5OXqF6r2hz1E98b+I6tPGvCA3/KxdYKxDct8vJ4/cyHIcq0Vcp2TnsZz03aikcyG75ofLDX5HK5kWRq4r3CLXd9Nn8RC5F39hDerquYj9I/Ko41flEdV/S967XdwznpD0yZKP7QJyeXAROR82K+LaIvf+4Sq5rsDWOVvpAbC14EN1b5tsGE+PeZPjIZ0NV9um7Hg7eZOTX49GoXE5eUGse+IBvWXyvgPieE9UbjGfFsaWJvZPjgLbSXIi7MWIPZumIUuc3yJXjgvvjZEWBORW9YvlBUCHJO/5aBQknpF7wq0pF+gfkJM/RS5ClibOD4+YTkle30quqM2UE723yz2MCu+pmzsX/hkFn7dju1+urGUL/WWJ89OVJB/K2OTV7V9T9FyIfZfH8Twlztmvyz0cblB504UMkZOJqyg3h7LcUHl+3JPPjXvDC8r1Hiog1rQSVJULkSdm94DYnyVSR8lDgKcpmY4l//8UEW8u7nXkZP6nk31d8iiEf8W9K1vYZ6S8xkGRU1ukxylb1OtP2f1ULshfFcd+P3nhyt3jGE9VixvT8sc0jtEk+bn0l9x7F43X3pR7FY/Mvb5lnNePqUUV5DgPt8vHn372yb/7SpwXmnDIxydpnHzPnZR7fTG5/HC/vPhiWXN+ZnOYf1VOjGyWe9/74t71onIL1BUYa5oAmyCXcxdT4zz7v5d7E2Y9+sfG+bB7+r4WxzlE7pV9ttzIN1zuUDF7up0+fjaba/XTKrD3vur3/THyc3Sy3DCdNqhfJZcLvhHHdWG5oe37BZ8H+WTeY3ID9YfkpE63pC/lfiYrfx+r4srfK8gJ5V2SfYPlzksPSjo++3vU2AhwYcR6r2KKL7W+E0iPWGP/R1RPks4+J5PXV5TL6VUl693E37S8mszV38pzQn6eviGvC5Hty6Z6HCmXd79Z5Pkav3uUXG+5SrlnU7y+odyZqVs9E+dHxPH9aavPg15i/43ce3/zOIbvkqfAelk95zhfRZ6Tu+Wfu9zIlO+B/8nk33fJDaYryh2tTlU9yb+G3IFhj/w5XeBxHRzX+svptZ68vq1cH79dSXk3eb3IDldD5MaeKYoR83HPyM7NY5L3fkSuj59TwjFNO91dKzdGZdOybRXX1xT1nAJxhAquK7B15lZ6AGzz+AP1UJRZigX91FgYSwubH5RbC+9SbkgjW7+P9XJyouPrqiccF5RbYP+i3BAwuRKySglxHhkPsWzhnq+pvvDJP1TvyT04HtRXK0mkFRzrYHnY6lRJ1yT784nzG+NveFzuZVTI3G69PVTlIdXNEufj5WTqZvICJIUOuW8S59FyJXNHOQG5g9xz90VJO8d7hqneY+efZcUasawV5+4f1DjH9rFysqkqJ6POU8Fz6qox0fAfOfH1XHz9hHrOsbyznKR+W05Gl1EBqsiV9iPkylBVrlislLwn+7tGynNrnquCKxZy79bZn2myf/uI+X3xfVYh7pKTJq9L+lpvn1VB58MCisVe5bldq/LzIEucj5UrbA/EazfJjZotbUxrdkzlZ9hLEceJTX5mUTmh/qo8LDftTfgeudLZkmdFnKvZObpbur+3z1b1xPlJKmGobbPPTq7cD5Xn+r1P9Upndu4uJvcyPK3oeOP3j5Er5q/KjXlZgibfs3Q9eeqewuYGlstQ6+bOu3/K99mq3CD9F9XLNqvLz+DL5XV8zpQTJoU1/sbn/dGI8Qb5OXWB3kEjaZH3Xfl+P1VONKyn+vM0vV9cITdiXyQndB5q1f2qH/HuL9dfssVfvx+xXS0nR76Ye3+h5e+4d+4Y/x6ae+2QiDVt/M3Khv+UO7TcG9dby8+BOcT6Abl8eLmk9Zr87Kpyj+giG6d7K4ePlxPTD8pl3LQjzhZyg/u2RcUZv3sBecRhVa5vLZK8ljb6bqTeE+e/UoFzmCe/N1sQ+ITcfWABSd+Mv+kUlTBvuTzP94Wqz6F9jlwXWDzi/q3cEPSqpFOTn1soPodbVPAc5rn4u+Te7rfLz4plY396nD8k13WfUTI9UgmxLi0/x76lxvLWYnLnzJlqbLDYsMj7QfzO7FofFufnCXJjf3qNfUi9JM6T95A4Z+t1Kz0Atnn4YbqSeUDcwC5SfZGRtMKRJnH3VbKwHluvxzVbMGJ4bv8GSob7SVpZrnSemhz7HZVb5KWI8yD59/ui0LN9fL+/nLTbTu6VVZX0dzX2OB9ZZLxN4j8w4npL0qbJ/vRhvaacsNlH9WRVSytvqie1hssF8C/Jvd2zoaCLqEnivMn/U1bPhtXkRN0euXNkYbmi/LhiZIqc5NlBxQ1n73XxFTmB86pyvUXlit4GcuKvlDl15UTDnXLDw+5yj7d/xvn7A/VMPC0Qn8Ps+QwLiLHX800eup71wEsT54vIPcUGqV4YLWo+wkrcA37e5LVl5d6O6YI+WfJxgXjtB0WeA1nM8XWEXHE7TZG0lXSw6onz9Bi/W573dSG1uDFtDsd0FXkO85fkZF/+WnyX3Gt2svro6d2iuNeLY1lVkgRrEkdaxvmp3NvwH0VcX01iHiX32F4ut3+VuI8dmuzLEpPji4w1uf9U5OTyf+QhzJ+Up+aaKfd8zyfQNpafcUX0fq7IvVgfVfR8j8/2Efk+u7Xco/RZeaRG9p7t5Xvy43LSus9pUVoYf7bQ7wuS1i0jhrmMdw85Cf4+9RyRkiZyjpOTVSeoXiYqOkEyLs6F78T335NHxOwolw1vlpMjuxQZVxJfWr4aKidpTkv2rS83QNyjSJyrPk3XVfL6MkfE59HSTk1zijX2byX3iL1UTRLnyfuKKM9kHZSy+ZV/Is+rvnjsX0lOlj4Yry0rT0V4lVwXKvI+u0B8hlPkcsBb8sizdyXv6S1xXuoo8Lj/LiCPNPhL7Buc3BMWlssNVXnk+uiC49tY7k2c3f8fkcsLWXxLxDX2itxxbJz8bDheycLQRR7PJvsGy419L8pJ/Nn1r+Q926ukskwSw7pqXEA1rResIHdWOajJzxU+8leeAnWm3KCaLe7ZpXod8UNyx9JLVcL6QWydvZUeANs8/kBdkPihPJzqYtXn7+qxGINcaZ8p6etlx93Om7yYZ1XuUZ72dl1PLkh+JApq2Zxp2RCwzeUeRpsXGGu+Z2YlHsqLyBXi5yV9IXn9RtWHtJc6FUcu7j3imE9Sknzo7SHc6oez1NCr+Ia4vrIpLu5QvbdTljifLumEko9hPvmVFXx2zr8uF0Bfk3RwifGOlHtg5adWWEGuePxVrtQ1ncJAxfbKywqMB8Y1tEry2hfiOO/e22fR274WxJklNYbKyZAtlZtKQ/Wk7l/l3sOLynPY/iH/9xZ4fNOFh/6QPMcWlns+P69kmHXc5zaVE2w9hrK2ONZ0QacN5d7cK6gxkZsmzptOfdXq8zc5piPimKbDqleVkwx3ycnI/L1jQdXLDUWfC2vLU+/MKXHelfyN+/R2nAuI9wcR653xeS+h+gKKR8ojfSY0+9yLuCckv2uEPO3OqYq5X2P/MvJ82k0T5/nzqcUxbiSXT26UG6pPl8th6THbVR65c5Lqc+0PlXscFr74q+rPhn3kUSTT5Yr84mWcj3MR918k3d3k75g9lVPyWjpfe2HTx+T2bSn3dFxbLh/MPi9Un46l4Z5R4LFMy1bj5YaG6WqcxuCTcmP76/JIoxPlHsm3xOt7y8+zlp43fcR6dO59WeL8EknvLfh4riPp/5LvF4z76zQ5KTpTrnutGq+vFMf21TgHnpATu0UuqjtKTuheLJephstJ/lmS/qy+e5xnU/QUtmC8ei9X/1Gu264Z36cNaJPk5OO9KmEKNHkE74txTL+f7M8+5yXjunpMbkh/MM6LohPmsxsX5YaIhZR0aoxr/XG5YWfh9G/I/T9FLwad3U8XkkfQnqeon+XuGw9K+m3Rn3+T2EfJ+Zp75VElq+X+puzv2Saurz+UESdb526lB8A2Dz5E96xIe7CNkHsQZonz7OacrwivEjeOz5b9N7TzJhfMj5Z7snxTjXNoXif33n1RrrSlPcf+JiefesxhN4/j65J7BW+Q7DtDMaQ9eVAcrVi1XTGPotzz4lG50lFopW5OBQA52V+VC5hp4ryUhWvlQu8NcqVha7ngvqc8pPk11RPnC8nTBFSV9CosONa099AkuafNUnIF49DsPUlhYnQUMn5dRrwRw4/kSs5z8nDUTZI4j5FXlM96E5XSW79JzCfKvYjS+eCrkvaL7xds9fXfR2xpQ89lcoV8upxw/kruvVlS9wG5AHyPCpryqEncaS+bL0Vc56meON9Arvg8L0/fsYG8sPE1cT8uo3fxCDmhd4U8TLhHD8zkGM+e47yk4/uV5JimibA+E+fxnqJGG+TLKu9R88R5enxXkBtUvl3WsY04hsjThPxZrgg/KTdIrS4nfp/Lrr8Cj+d6yjWKy6NLuuUeequl8cjPijPkJNmuSjoLFBDrMDU+v94b96074r60fnack/f8QB5B12sv2ALizs/3vJCcLNshzoHrlJsySCVOfdYk/j/IZcG0F2y6YN2+ktbJ/UzRDWhbqOfaCjvJZZf3JvsOlqc2+ZVavEBxkxizYzZa9akjFpOnMHlejQvnvU9ueL83zo+/y0m0LrmceYFa2IO3H7Eek3v/VnIC9VYVNwpxiPzMrCoSc/JC5RfKDSZDVR+B8p/kXjZenrv6E3EPKXQ0YvzeiUqmZZI7AewV96q+EuebyXW1Qs5d5TrV5WL5sFwm+G8aT9zbzpdHWBY2OjkX2yflhZNvk0f4bped16qPQBwlN1x/TB6VWuiC4Gosh/9b7lH+vDx1WBZvljifpsbEedEjZ7Ny6yi5fLCPpHGx7zdyw8OPVa+HDYpr8HFJexQZa/Y5N9k3Xs4dzJB0aZPPIbsPbFD08WXr/K30ANj+xw/QN+Lb5EpFfxLnac/DveUePKUsktUJm+qFyoXkOdLekIcGZwtNvV8eCvqaXKBfQK6gHicn0ls+NYs8YuA4uVfDBnKPiyfUWImoyIXwG5J9S8s9zFcooSCRPpz3kYfM/UTSR3Pvy3rt/Ukx51uJ58I2cT1tpcZepNvIlYipiqG0cb58U+Uk8NIC8K/lBpEPyxXfo9VkTlp5sZw7JO2VnS8FxJnvKToi4jhCTt69JiebNpAL6E9I+lmZ50A+dnkarIvj3zvFsd0/+xzkOcH/rgKTTrn4RsW5eblcQV9bLphXJe2b+5nd5Yrcb5Lrs6gK5ihJC+a+X1uuMP8wPvsLVU+crx/H9WXVe5JdpILntU/i3UCutD8n6Z/J/nwFNJt6ap8Sz90REccTclImnzh/QJ5n8+MquXEq4sx6Nq2tJonzeG15uRL6mgqcDq2v80xOkCwmJyPvknvD/VKuMD+ughIN8rD0u5UbRSRXLv+j+vRM+ennlpJ7oc+egq6AWIfIPRcvU8/E+YMRyyHJdZ4lRhaWe+zuW0ScTeJOF4ReVe7Ismiybwc5sXu9Iikd58a/ijxf4/c2vabl+Wqr8nMgXQC0Eve3yxTD80s6xlkD6h65+L4jT3uxkZx8GitPHfNjFbToZ+5YZR1SLpP0++S1RdUkcR6vpQ3FS8odHV5q5bkxF7HmE+cfk5+1RY6KWU4eCTFDLp8coeaLvT4a97Smc9f3du63KOYxaiyLp1O47aU5J86HFxRn+jsPkRvTT1Dj6KO95fU4Ho/rb095dMTTkpYp8Jimx3OCXKcZKdfBrpQT59un7y/yPO0j7lHyM/gqufHxx3HNNYz8lZO9j8SxHltwjFkyeYzqjSQ/VGP58F9yDuQ/ckesPeXGvpuKPs6qP3O74vguoHrnpSxx/rqkC3PnQ0WNZQsS52z93koPgO1//ABdSPyYPFTtXiU92NQzcT57qha519MVcjKylJ677b7lHtBfjgdIVS64fS2O/RB5epY75CT5M3KS6g61eC7NXGHno3KFbGZ83vn5nytycvoZucD5CXnu5WkqeMG03MN5amznyvPTPaHcdEHx8Jsl9+QvrDd88lDOHsRZpW1sfJ9WdL4nF4LX7+s8anG8+cLAQnKh/EvJMd9Y9SHB35IbTLIE5NPKzcNbwLEdHPepRXKvrysXyJ6UGwT/KxfMHlTBi+mqSUVL9QrQ1+Kay3pt7p+8NkEuGJeS6I/7/B/lJFSWwDlVHqp6SpzL38//TP4zKiDO4fK99bfy9EaD5YrDL5LXD4pzIU2cj5cTe9vKC8aWMq998ndsGfeyqpIKvXomzr9Y4LHtbTqrEXJvzCfVPHH+qgqcXip338o+x90lPZV7X5o4/0LsW1FOmL+iZNqTAmJOpxA6VG74PVFOMObXMlhOfkZkC8Ld0ey+0qo4VZ+2YISSOZLliuZFcY/9oXpO77aMpJ8VeL6OktdaeVJu0E+vm3Xk0Ub3yg3XWeK8Ij8vnpf0+aI+/ySutCfhJfIzaoacJN897lMVuVfktPjsD5DLO08Veb9SY6eZZeO4LZq8fq6crP2K6sn9jeSE1H97u58UFPui8nP2dUnfUL1cNlzuuPJYnDOXymXxQsoJ8nN+dyUjUGP/zZK+lztHmiajk3N5W/kZ/YBy06iVHOvRvfx/RUwXkZWnlpFHHD4lP5+2jP3pyN8D4h5xrgoeYdDbcZHLiMvmXu9X4rzgmE9UvYx1n5wc/Uny+o7yc7Ya58RtrThH+3lMj5anC/lBsu9DcZ+aLuljyXH+fXZul3g+/DKuseWTfdnIw72SfYPlhPqZZdxr5efCf+TcULpWVFrX/T/VyzEPyCN6Cu2sktyjRssNjNfFOXtmdk7KnQWyxPkFyc+2xShlts7cSg+AbR58iL7RbiNXJuaUOB8hV5SyoexZIZrEee/H91/xkPiL3PP1LtWnaskeKoPkqRn2kFebb/WULAvIQ/9WT/ZdEA+yZyRtEfvSBTCWkiv2L8iVivuLLPTk4h8RD+ZLVF9I82K5MPySckPs5R4QVxX1wFO9oD4mjvNG8hz1VUnfSt6X9XR7V7xW+MJTcqVx8dy+w+WGhmnKLXYSf8dp8frrckPFQyoo4aTGRpOz5F6t96pJMlEeDfHNOFeqco/pos6BtRSjNXr7nXKCcYrc0+307JyQk3vXyoX4lt9j5V6L71HjlAULyaM3dojvj5N7Cq0hL1qcLeL0naLP2SbxZ70cT5B7i10mz0mcFY6bJs57O7daHGtfvYs/KFeO7lP0IMo++/zP5c/1FsSZzmH+afnZ9G7VGx1GqvfE+TJ9/Z3zOM5RcuP9Zrn934j7QlfuvE4T5/vIlaaZRd2/0nNA9YbfmyKO2+QpRL6lJtMqyAn+7ZOfb/VaHA2NEfLUQS+osfI+Lq63J+Se/U2nZSrgfE2nivh53KvOUM8e50/Kz4xvyFO5bCAn06arpNFocS3dISeWd5ZHHR0Z5+ihcueKYXJi5xY5wXuBip1jOT1nL5fLf9U4lv8Xry0sTyFQlcsO90Ws15cRa5P9C8uJ87fi889G0C6v+tQHF6rY0SZXxfH6iuqJ/KFq8gyIr1kyerp6Lrg5Vh6V0JLRv/My1oKO7aBcPCvEtd4t6aTkfelaU/vJCd/fFBVnLub0fnVaXF/rSU1HVu4lJ87/oKTxqqA40wbJNeWpOjeP71eSk/lVReeF5L0ryKMhCh2dnPz+k+WGkU+p55RjWY/zl+VnyPFyHWedMmJN4jpX0snJ99mo1L3j+wVUnzO+Kznfi+69vYZc/t6tyWtpGWycXN9YIom1qIb1rP44Wi4f3iw3jJwoP7Nmqj7V1Hi5s8Irkm4s8xxgmz+20gNg+x8/wOSGpTknzp+SC8s3yInfUoayd9ImJ+yek+eYy27Wq8oJqDflxYcKXTU8Ysha1fOLiewlT7nzhOo9MbpUL3xmD7utVNJcyxHHF+X58FaK78+UK8m7yAnSN9Vz3uXsXG/1gnnpQij/jXiWie0uOUGyVfL+wfJogycV83AXeByHycnPfdL45ZEEWaL5q/njJs+1vYncm3t7JfMutjjedI7UqXEO/zXOhao8N+XY9L3Jz+6afDatPgcWjOvoRc05cb65nDifISfzLo5z5Loi7rFyImmy3PCxRe61deVK8YflHpBbJ69lc8hX1aSQXPQm97B5K+5dmyX7Z4/4kJ9j05TMcV5wjOm0UgdL+oekoyR9Jjm3t43Pv2kiouB4x8T94YX4nJ+TnxPZnJRZ4jw7pqNzP19EgmyLiO18Na7L8UNJV8e/8/NFry1Xnqvys2JCCcd2hFyeukz1KWTOiJhekPRt1RcALXQh4OQ8zX/9iPwMu1vNE+fT5N6ahU5rkT8ecq/yE+SEx/HqmTh/LI7zPfEZ/LekcyC75n8gV97TOX93iRj3yP3McDlJVfjImLjeb4vP+rPy2gW/izjTns9fkUf+/E7SV1V/7hY9x+7q+d8pj0bKEuf5qVpGqqBpLZLfOUR+1r8o9yrOGiWnS/pM8r60A8viciPbBcm+IqbEmyexFnRc00bfLyh6Y8sNv8fIyeYjk/enifPPq5yeumkZe5zca3er3o5b/G3fjevvN0Ue3ySGIyUdJo/kTXvtLysn86tKRkuWcVxzn+sjcd+avVBx7rhvITegPaWCe8Pnz4Hse/n5dE58v6Map3EcKpd1DlXjAstllBc/GrFtEN/n771jlEyj2Nvf3IK4JkjaKT028ijam5U0lEvaVO6IN1Mx0j+uw4PlZx69zNn+p630ANje4QfXfAGEIXIytbfE+YFyBfMm1ZM5zOfU93H+hdzyulhu/7JyZe1lSbupwASOci27coVt7eT1T6ieOP9g7OuSKxSFJnX7+Bs2TQoNh8sJvSw5+bF4cL8o6YfN/vYCju1wSRvKBckNkv3vl3ux3CT3JhwvJySvioJRGYXe76o+x/5C8XWYnLy7VU6mZsPzK+nXguOcnfCO2M6VtELsGy+PJuiOa26B5OfyBbeiejTsJvdce0jS+7LYm52LckPaV+WenMfICbOWJxrk6XaelSu1X24WW3y/l5wQyxqpKnLv3mNU4HQhvfwN2X3s5Ljmq/LojpWavCebyqWqgnuSJdfOGPn5erf8DHhU7vl0uuqJhg/K9+C7Je1ecJyze+fJPXD+E+fJ6nICsiqPQFgi3jdSbowo85h+In7/RZI2jn2/kXR5s/fHv98nj/4qZEG6JrHvKjf6rRjf/yvOhbXl58Gz8nzLY/KxtziucXFNvz++X0DuRbiVfO/dRm7QaZY4v1i+B3+h4GOZ3ldPkhN0D8mj5qrydFL5qVqyeeI/ruLXZMknRv4mJyNHxPefVeOC0OPT+1lv/08BcX8zPvc1Va8DfCOO4wFz+Nmiez3+Qm582ir/u+VE7nlycuSL2TVW9KZI1ModJ66TG86/IjeqTlWSiG7ys2NUf14UMUKqk2JNR0VcK5e3f5TEkCXOZ0g6Kvm5/LoMpSR45bLVFCXrHPXx3pFxDRY+nYxcj50a96qL5fJVJfd6ljj/bRnHMhfvL+RnV346x/z9eGF5lOoiRcUWvzed/iobQd0lJ3gflDsFVeXRENk5vq5cjtivDY7v6sqtDZL8TYPk5PMPVGD9UR7l3a3cFDty2ft05UZxynX0J+RprrJ73igV1OmObf7eSg+A7R18aI3zAS8qD+nLehxnQ0DvU8/E+Uh5fuNSeo100pbcYI+SexBnPTLSIUrZIpVVFZgYST7/ijycqionRtJeejvIIwqekCsdY+Thdi9GgaLIh15aCEsfbkPkxpxb5KRN9oBbSk7wTZUrRoUmeOO6OjdieFzRsp4c983kIZez4tg/JSfMi57XLV9Q/H0UFJaJ74fKyemsEa3QucCzzziNVS6U/0dOgpyYe+9ouVDWLQ+tXKDIWJsdVzn5cbt6T5yn/+4xrUErzwW5gPuk3BtwiWR/ukhtdh/bR24w/YCcwFlOLnR+u9nPlXnc5YWSssT5Ksnr2XNriKTPFXWd5WIcLOnsuN5XSPZfGjFvm+zbSu4Re3IJcY6Ic/dkSZ/Ovfa3iPUw1RPno+TkU9GJsfR5+hHVE+erySMPLor7QvasGC4/97K4C+8RncS7sqIXsTzP56Oq99DaVB4SfJe8zsGIAuNaTe5Vdbuk7eLedWlyzLJRiffJPbXTxPn4uJ+UlWz6g1xmeb+cGF04ztfn5akO0rLEBvE3LF1wjNl9alhyTE+XdH38+9Nq7EnYFdfaqSpoVGKcA2s12f9nSbck32e94feN78dK+ngZn32TWFeVyy13yj1L84nzL6iE8nfy+7Pn0ULylBWD5DL3i3L5pRr337Pi/DhZLs9ep2RKNBWbhG77WJPfNVLu9HGZ3BCZTSeTn+P8JbVBQjeJe9E4dk/FudvWI7rlBvWz5EW0s7nA0/vsMnJZ7BV5lEdpU7nGM+DO5Pt8HehTJcaWzrN9rly+zno7L6t6A/Cfkp9ZQ54q9/Kyzw+5XDVebvyfnj+W8pQ9V0v6Q4ExLSw3mv0jvh8Z5+AguXxzXvLetN5zqlz2yq8twzTEbP/TVnoAbHP5gTXOB3y+XKh8PB56G8ZraY/zu5UkzpP/py0f4GUf1yb73xuFiT8m+7JC29fjIf5LFdRLQI1Jul3i68flRGN+ePsn5UJvNm/lC5LWLfi4pq3UQxU9oZPX14jYd8+OrVxBOlOuFBc2dDUX12FysuFN1RMhs1dilxP7G8uJpg+ohIao/DUsL+z6vFwxXib2DVXj6JMevd1aGN974nNcPjt35V6PN8Y5+V8l8yjHe0bLDShvyb0zCp+CI4s1+XfTxHlyH+iSe0Mcr5j+pJXna/J7D5V7By2V2z9MLlyuoWSu+zjer8i9th6WG6XKWjQzP1dpflqQ/VVPnGejEZaQ9GslyaD8NVBA3IvJcxd/PfkbtlPSE0aNc4Ov1+oY4zpbMPm+Ij+XZsq9m7LzI53GIEucH6pc0rGoY5q7xnaNr9koo4vkpM6rco+9W+U5mLMyzfUqsFGt2fUsJ58HxT3tBrmxJ3terSIvkvWynPQp+vn1iThWr8v326xBOj+d331y5XL5Jv9H0dfW2Lg3/VE950/9fZwXx6kxoVPoVBzJ7x0Wxy07b3eK6+3kuBfsmxzrteMcOLyI81RO2jVNJMf988H4dz65P1geIfUXSQsXfDx7K3+vqPqoiK3VuCDdF+Qyzy9U0qKPcmPjg3Lnmq44hjfL5Zfn5PLPKXIi+p/yKIpj1Mu6AcTaEO+e8dmvneyr5L4uI0/vV5W0Zxlx9hL7anGvqqpxCpkypzbpay2WDeTE7QuSPpAe4/j3u1XgdJ7q5XkpTyn0hmLKydxrK8vP4Z1aGVtf8cr1l3vkdRW+oMbpVjaQE+cPyHWFE+Qy+A1qo4aVuM/eErEeIHcS210uR9ykYuu4C8jlviPj+ycUa4rJjX0zlIyKU71M/he5vlNYZwW2gbGVHgDbXHxYjVNH3BU3sZ/IQ8HukRN8O8Z7sh7nd8m9CQrrjaPeC8BtOSwmfVDJhfSlVa9kLijpV3Li/DfJ+xaOh96fiypU5goxZ8q9GCbE959U83lhN5MTUL9XwT2NkwfYmIj3Lrnn5VGKqVji9Ytj/9aqz8V9ZhnnjRoTOd+Ve7HcpFhwVU6S9HZ+l9U7L52L8ki54PtX9Uyc3xkFoRULiutAOel1thrnnRuv+mJju6tn4nyUPGXPFSq3V0ufifPkfNhQTlDdXuQ5ICcWz8vtW1bS0RFnNufvD+K1cXHtnSTpCCUNWgUf13Re8J/JU9qcqdwiuvIQ1mq89i25l8vdZV1nEdNaEdP28f3O8f0Byd/0I8W0WOl50qJ4FpZ7tO2V27+6XBnLz0eazvt6dLz+lVbENoe4+3qW7RBxvSH32DpQfob9OP69t5IFsFsZnyK5lH2Gci+nIbn4l5IbK3+e7NtaTprMfl4UcS/LxfWQXG65Q8li0EoaeOXE+d3yM2OJVsc3h9gXijj+L9mXHfsFk3vaRUUcyySG5ZWbAkjurTtd9QbhZeXepW8o7slyGXxduafcVcnfUsR5sGESw4rJ/q/Lz+SJ8pzQ6TD8NeRpAv6v1fHlYs2Xv9+txga+lVRPnH9crv+Ml9eT+K0KbvjNxfs5uUFkOdUXhR8sP6ueVx9rhRQRdyfF2uR3/l3S1Cb7GxZJjPNjv5Ji7CsRvZpcR3xV0k+S/WVM4ZieB1+Qpwk5RLFgYux/r5xofEGxNk6R99leYh0bW3a+riY3oN8u6XPJ+5aQyzP3Kuo9ZcQd5+w1uXtuWo9YTh5NdYlcDj8geS4UcT/Ij9ZIywvpv7eSO168Jj9zH5bL6UUuBp31fP+TnMN6Sl67adF4fYKcU7g1u3fJ5bUV5TLPX8s4D9jm7630ANj6+UEliwbJ8zmeq8ZhtevLvc3TnrFD5F5wJxVxk8vii6/D5N6XWylJMrXblntQ/FUeYj1drjxkPfRWkJPOs+SGiv/IlaCX1eLKe/7zj38vHTFsocYhSU0T5/m/s+DjO0JejOUGufX393LF8tas0CPP/5v1iH8+Ch1Dyoo7d6y/H+fEpYreTGqjxh/Vhyi/P9l3lJonzj8en8MKBcaXLjK4bLJ/wTimz8uL++QT5yPUpGBX8rmQJc4flrRO7NtETvhNVfHT8/xbLhwuKhfGt5f0dNynLpEbHu6RC75Ne9+o+IRDOlLqTrnC/nfV59rOz1v4PbnA/KTc47hhup+CY6/IybGn5dEQX4qYD0jO1W3kHlsfLiimEYrRQ3IyKV0LYHm5x9Ajkr6e7E8T5/uXdQ7Ev3t7lmU9zk+RtGYJn/XC2WeenK+nyc+yKfJc5dn81YvF33CL3FP3o3Fe/0e5BE+B5+mwiOUbcQ+4RY2LV8+en1ieFue0omNs9n3EcZfqw9orSazZAsu3q7iFqxeXK+vnK0mcyxX2F9I45HL5+XJD+2Vyo+8taizPtHrUScNUeHI569LseMb+c+LaOl31+fbfF3Feo2KT+32Vv5dMXls+zouX5DLMFfJzoawe5iPlctbZSkYQJJ/z4PjsZ8hrnYxJ3lP0qJO2jzU559JnwyS5oWxQPha5cfonyo2IUEkjPeU1Y/4gN5R+S/U1htaQe+2/rJIS57njdppcHr9D7vHcHedG9rx7n1x+mS5pmyLP0ybH9NdyPfvB+PqB2L+R/Ex7QV54+4SI+XkVv+hnemyHyM+mo/LXTe68bjZqrZXTOC4o6VOql1cWkp9TPebaz/094+QGqa3kqbIKXbha9TLBJvII2Tcl/Tj3ni3kesQMeR2UM+PcvlUFPsfYBs5WegBsc/FhuVJ8rlxxuE6uGKU342yOx9NVb1FMH0KtLrDnF2+5X07gvCIPB+9zQZQSjmd67I6Ukwt7ywuQPRSFiywhsbBckT9Pbo0/RQUlzHMxHy4P/bpT9RbXSvKAyRLnZysWVCshxnQhuh2iQJPOrb96HN/bJK2RHN9t4yFY+pz7uXNjb/VMnLfFg1ju5fyKcovIqDFx/u7YN1QFTXeSu+8cot4T55fJhd3PKZc4b5fjrOaJ8wclfTnuxbepwIWVVS+8biYPV3xJHqlRlZ8LX0veu4acND+iHY5lxDRcTupfohjyG/erN+NvODj3/jXkKUgKK7Sr7x5kf1F9Lt2DY19FrmBcITdeF73A36C4P92hZFFEechyNrVJ08R5Uce0ScxzepZ9Ko7xBYoKc/aeFse1kpwo3TM7VnFcb5YbfW+RG07+rPpaJ1vGveBNeQHQK1VSw2/+3JNHQzRLnC8u6UP586iIc7WP13aL+9kxShKicsPg2XFOLNTqGHMx/SI+01NUf/6vI0/Hsrz8XM3O2RUkfUbuqHKUvNBiaeUZOYFXlZNlWVl2lJw4nyknoK+L8/sqFduTcE7l78cVjdPxnqFyYvJfciKylIR5xPKNOH7Pq76uweD8V3kaqaqk7Yh1jnGOivtrlsDdU+6l/T3lRvPKIzhuUglTccTvT5OLZ8jPg4vkhp3H5TJi9nesrPrUiaXNvR73sYfkOtao+MyPiM98h+R975PLDA+rSZm8hfGl94NT5TrDYRH3f+Rna7b2wgR5BHjWIesYFT+SOrt2FpA7rYyXpzr6Tvp68v5xKjipH793U7nscp5cz75fLqf2OQWXmif3CynX5o7tBfE5Xyg3lOY71qwtj0K8Jd57RP7+xsY2r7bSA2Cbiw/LvdxukFuBr0r2p/M/HhMPu7JWkx8RN+jJ8hDljeWKUDUKDqUs7jeHmBeX56L8VLLvA3Kv8ifVZB5wlTMn4WIR09NqXMxpkBqTDdvH8T5V5c35mS34eIKkk5L92TC7NaIQdGQvP98Oc7vlE+dZon/ZsmPLxXmEPCflsrn9R8W94kQVvFha/jOMQk1vifNL5GljvlbW+TqX58Jn4x5XVcEJ81xMw+RGkxPlRO13FQ0kufc9omTxoYJjXFzJfOVxn/qonLSZEPtOlyuaH1J9ftLv9fL/Fblo2ih5GPPx8TWd+uyEiPOQiPsbctJhqpr0mivoXPiS6kNYmyXO71PSoFLm9g6eZWcUdW+QkwZXyInSr8nTr5wlabnkHD427md/y85veR7zzeJ8aLeG3yxxfrM84mhpObFf6Hzranwm7COXCc+Q5yfNGsUOludinyJp14j9pDhXFi8w1vT4/UhO5p8qN6qsGfessXP7d7cw3jSRl47a+LLqPcvXTvZ/PY77r+M4l3LOas7l73Wa/Ewp82znYjhYbpB+OLk3NDTsyr1P/17mfaBTYpUbHquKUVry8/dGuQz7fcWaQvI0ItfE/aHsxRMPlstXG6peDjw4/o4DVX+OrSI/Qx6TtEgJcQ6Vn2m/UiTC5Qa/5+SyzIjc+9dVAdOcxGe8Q27f5+Ve8Jsn5+i6cUx/ocapmwofyZWLdXScowfF3zJFLmstGa+n9+EvyR0bCu08KCeeD5bLM9kaKyPLvnb6eWynyKMhx8rJ8X/LifPvN3l/fo0vEuZs83wrPQC2fn5Q9YfDyvLQmqqkXzR5/XC510jhD+b4/bvKlbN1kwdeNoXE3s3+ppKP69Fyr4AblJuHTG6hzQruE3LHuejeY+nnf14cz1/l4k2TDR9TCT3hk3jeLfcEqcoF3LHJa1ni/K9yIX7BIh/gzX5Xb5+nGivOP5Yr+KXOSZjsyyo7W8gV+APjHEgXyzpWTvYXkmzo63OUFx3sLXF+q6T/tMlx7c+5sHsc2yLnI+zr2DbtERT3sIdVzrzVS8g9xX6lxsT5upK+HP/+cZyf68f3m6jei/tXJcScX9BpmpwIf0mudBwdr4+I+9djcu+ia+UEYGk9XCKmneQGqCnqmTi/WR6Vsn3RsfVyjFdR/55lH1XBzzI5cX6+XEG7UO7dOkT1Mk32+U+L+8DoJv9H6ZVSNSZSd5bLOm9F3GmDX9FTcZwuj5L5l1yJfzaus2zaq6+r3vP1ReUWBCz62MX3P477wClykuQlubHsG3Kv2G9I2kPuNb1JUcc1fk9+wfUlcq9/RfXEea+LwRd9zqp/5e8nVGL5u69jonoy6nxFmUa9jIjKfz/QY20S3zh5WquTVZ/eZGzcB2bKoz3vkMsLbbF4Yty/Jqo+4mhpeYTn35N92fpYK+WvyxbGNTT3/bvlstju8f1qEecpSZyHKRmJVECMY+QRm/9Q45Rxv5CfTdnosxXlXvonqT7FyLjc+Vvk/SBNhB8uNz5na1t8P2I9VvXpXbvk6U0ul0f8FD41j6R3yY3O3fI0Z23ZE7vJsb1WbtzJ/o515ManhsS5eo5EKT23xDZ/bqUHwNbLB5PMx5S/AcTD9wK5Bf6XsW+kXAm9Ix7kZc1hfVgUarKCQrZQ2n7x/XhJny77+EYsXXLy62l5nu0Pq7FiV5EL7tfG6+8pMrY+XlsxPv8nFQvQJX9Pj/OlwJjz5+mq8YB7K86DfEHub0rmgi4oxixhP0LucfdleeqHhZL3zHE+OpXXs+FgebHU8bn958iL4GT3jTRxvmjJx3bR5D2HqXnifEzRx/R/PReSfUVUhpvFurakd6WxJp9/VzwPrpF7GBV+vsZnekTcOw9R41ypQyLGqyT9n+qVnyFyY9slKnghWNV7Wlbk+aAvVEwrJVeGfx33sr8kP7N03OfGJveGlp4PfX2Wcm+nz6p54nx1eZ7Yoq+zvuJdRW30LFPj83+DuK++KOm0ZH96Lf5FTubMnhKvwFj7VflW4/Nrc3nKjtlz2Rdx/8rFs69cRtw0ueay9QG+l7xvITm5s6bmMJS8BTGmvW9XSvb/SO6deVvE+185qfuMPOz9XjnJV3gnALmh70Q5Cf2inHzcLnk9S5yfphKmCWh2XqpNy99NzoPhcSy/JzfirZW85ydyp4XzVV9DpoyOFZ0Ua3pPyk/lN0ONZcORcmPUMfKUWN9WCaMi8te0XL55VNIf4vsV1TMR/Y003lbHp1zvcEmfTf59i9yrfFU5sXuq6msarB7nRJGxnig35GcNJEvH15Mk3Zg7pierPqJrz/jZ0kalyuWs78qLVO6ee+0v8jPidjmJ/sc49lOTa7To6fvWkfRLuTz+jFyumb0YcO69pSac+zq28foEOa/wvHoZkcrG1qqt9ADYmnwojYXgf8QN7q9ysjxrXV9Fnv6iKhfSb47vb05uzK2e+7NZL819Jc2If3884ts/vs8KyRepyTQCBRzXZnN0jZS0o1zJmF2QTH9GHip6mZLKU1HHVV6E4zOSds29J0s2TJP0w2R/6b2gk3M0m+d3chQidlW9h8DqUag4qYDzdA156GdWSBgrV3pfklveZ8kF3S37c+6UVaiIz3x6bLfL89evGK+tLRcuD+rtcyn52G6T/Myhcg/dc5X0Lisi5nl9LrRjrHIP72/IPWBuVIk9suSK5U8j3h+rcaHKpeWeb2kv483ifvFeqZRehSPlxNh/5EpGWrlfRJ5v91nFkOJ8bAXcy7Jn+yi5seFMea7nHRSjeeRyQ9Me58n/U9RitemzbHe5F9lfI75FYv/qapNnWZP4N1J9ZN+3k/1p4vwUedhwkT3I0rmIF1TSeNbL+3sbPVPGPeEUuZEhS5YsJ5cP/qncNAElfeZp+ftf8vRM6fPrILnn60WSNox9C8Q1OVIFNqwnv2uUPDLmajkx8rO4/p9QTG0R78saJ05XwQvsNjsH4/ppq/J38rvTRatvlqe+eiOO3x1KEjqql2nOUa5MQ6y9xtqjs4z8jH1Q0TDd1zVUxr0rfu8Gcl12aNwfLpWnIs0S5mPjfdmULPuomI4VH5Q7G3wmvj9bbiBZUk5S/zzuCa+qsRF4Ibln/FQVVC+XG3auknRcfP9vST+Nf+8c5+4Bqq8lkT0rlpLvx5PUZHRXgefAYXFtvSHpY7FvZPL6nnKP7tfkTiBHqw1Gpcb94bA4ruep3rmxEtde4dN49vPY5nuSrx3XXlXSzmXHzDZwttIDYOvlg3Fh8vYo8EyRW9XulHtjZIt8riRX7p+Nh2W6cFKre7tVkjg3TvZvJRfILlfPnkNrxP4/qfgeZGnlfZiSBRHl3kS7yBWhf6l5wb2Qypx6rh5/t1zxeUFOMq6qegUoS5w/nBU4SjhP0yTOT+UeASfJCd0szhXkSs/bchLvdLnAdL1aPDxcLpzdLSdkPhjfnxjXyxby0K/vxOs3SdqijOM4p3Mht/9LcmH8bXkRr+/LiYeL5IrQuILim9tju3XyswdH/L8u8Hh2zLnwTmOVK0gXyT2gJqkNhmGqZ+I8narleDlh9l25J+RVcvKkrGmw9pafW9MlfTX2DVK9or+UPMXJISUcxzQxcmt87r+LY/aYXCleMN4zWm5sfVIuNxS2loiaJA3le/5Tck/c6fKz9hLVezuuphKfZeo7ObOhXM56SbGQXuzPEudDk8+miDn30/PgInn+1+fj3C1kVNE7jVsuLz6gWGNBLsPke2cepFjwrYQY0+mZ7pbL3p9Uzzl/sx7np6nJ4uBFnAdpzJJ+KzeorpLsf5c8jcUTiuRD7P9i3OOOVkFrH+XuBaPVWM4dKSfK2qH8ndWtsmtsmNzT/VJ56rAx8mK0V8U19+XkZwst03RSrM1ijzivkOuM2VQWQ+UE7j2qP8tKbzxN4t5XTjpnxzxbL6Aq6czkfQvJI2nvVswhX0Bs68n16xfiun9E7nyQxTpefl7MlBuuF43z43j52bZWATGOUeQL5DJhtnj9M5LeG/uzjlZvSbom+dkl4tx4TAUv+tnk71g1Pt9Zkk5M9ucXWF88d68rImGelflHyvf6n8ll62zqswXkhrNn5JzCaLlce62kf5d5XOdwbPOd894nd2xpqylm2ObvrfQA2JIPo7HQvYWcAFtMTkiuLld+H5J7cGcFpjRxWkgvLdWToV1ykvQRJXOhyYXxqtzrZeF43ybxcLxOBfWEz8cb//6ZXFibKvfSW131xG2aOC+8J3wu5olRONgqHmp/i2N6udz4kBWEVpanYLhDybQSBcWYVt7vkZM4k+Uhy1V5OOVKSZz/jv1/lvTx5P9pdQPPWvKcqLfLw1UvlKc4Sa+3T8iVy5PkwmXZQ9TSc3Y5uYA7KveeHeThlt1xTt8Qx/ejBcY5t8c2nU7kSyq4t1AnnQvvINax8rNifXlYeylTCTU7XvJ8pWnifFzsX0RuAKrKSajLVb8fF5GAnD0XcLIv6+lyj6RVm7x+p6S/lXROZMmGy1Sf8/MkeVHl5+Se3NmxHSVXms4t6hyQK2onKmm4k5P5T8plgCy2w+Tn25WK9RZU0rNMjQ2/v5AT/BMlfTd5zyZyz6yX1Jg4T+fgLOJ8za7poXID9OVyxXGi6onQ5cs4N3uLtcm/j5GTSR+OczadJmAFORH9U+Wmcysw7kFyIun69FjKyds0AXJQxD+78afIGHPfXyTp/OT7rEHnXXKnmhNz7/9mnC+bFxBresx+GveusyXtmewfoZLL3/LUbFeosfflJvLz9eNqfAZsLNdvbpW0RrK/kDJNJ8Xay3kwXn4GXBnX0N3ytFFLycnR15SM7GmXLY7x80oa9eQe0VW54W87+Zl7qjx6Yu0CYkrvrevLSfOqpAOT/dn9IOtV/qCclH5QrrMVkTAfHfeiC+P7peJ8rSqmmU3eu5VcFnhO7hjwR7kzxTNFHNPeztvc/pVUf+4enuwfkvy70BHKaqyT3yl3UnhCLn+9JGm35LP4cZzLT8b1d5sKXmD5HRzb3nrQkzhnK2QrPQC2+CByc13J85Kekyv8LKvmifNVVU+c/6ygOEfKiZkp8SC7TY09SY+Vk+nZDfnOeG+ZUwWcJvfMPEpO3N4cD/Hd5d7mg+WC+4tyRWipks6FneWk/ubx/d7yUKWfxPG8XJ7nM2u8WFElJfnjmJ0en+3KqlfqT5F7srw/ee+qcuXucUkfKTjO1eUkzVNxnSwT+9MCzp4R8xpFxtYk1rSg9Ze4dp6TEyKb5t47PP620+J9VSUjTjrh2BZ9L+iwc6G/sc5Sk+H2Kn7uxHRO9UFqXAB4tJxA7ZZ7uqQ9zjeSGwmaLkzW4phHydOgvTvZ9xO5R9nJShLncoPldEkHFxhfej/4lJwAWSW+/1ecHxPi3totJ37Hx+sjkp8tIpmzbdyDsnleB8tJ/n/Ev9O/ZX/5Wbt/8rmvoAKfZWrsWXyvnLA/S37+PinpyuS968sNEM9L+kFRMSa/PztGg+QpK85S4+KJWSL07yo5cZ4/19RYjv1sXENvSjov2b+w3Dng3qLiV5Oe1nJPvFsk/by38yX5/tdyY2aRPcuzct941RccnSKXC9MRlFmi7HC5nLuo6uXvNeTRSLsWGPcJ8vzlp8h1gmclTUxezxLnpZS/VV9/KZ0ubKfYly30lz53Px2vbdPk/2r1NHMdE2v8jnS+9Q+rca2Nz8hJ0VfldQH+LdcnL1STqcXK3OSOCVfG9ZY+W/eUOze8HOf22Wpx2VHN1zv7ktwodaP8nNo5eS1rYBkud1bYWk5cL1jAceuSp9+6UTGNibxg8oNyuaUq6Ru5n3mv3DB5s5zY/7WKn6IpPW83jOtoLdXnV19ZTu7OUD+SuwXFPFQuc12i+gLKy8v1w7dUHxk1UtLn5VzIUSp4VGonHls2ttIDYGsoBI+WdFzc8C6SdHST9ywbD+f75bkAs4LxSmpxLy01VjDvkYcsnyX3yqnKFc2PJO//oDx1xL5qXJCojJXZvxYP6PerXvncNOL+keqViaFywWOaWlxoV721d9Vk3+A4Vtk88F+Xe13sJA+/3DdiPktOlJQ6dFHuuXCPpL2S47qznHDM/obsHM3mOJ8iJyRmT+FSUKzZPOpVSQeqXojMPvtV47XPlXg809442VDEQ+UpjabLQ+jS+VXTgscakpYsKe62P7adGm+nxKrG59jf5OfRjZL+IA9TrcR5+jPVe5yP7e3/KTDuHeP4LZzb/6u4994v94L7rZyYulUFzUupxkbqQXG//W4cy5/JDSkbxHuWlhtX7pEb2wqZeiEX83i5oeFJOYGeLZb29+Q9ae/sayVNjn+XNaJjkNzoeLkaexafFOfFJ5J9G0bMF5YRb1w/V8i97tKEc1Y2+3rE/DcVNC1As+OZ/Ht/udfl+XG+ZlOw/FBOMF0pl3e+owJ7Z0YM68u9yZfL7V9anoKp6RQxcU5v2+TYF5k4HxHX2H/lhNRB6mWUWdx/Z691lBz/6WphD3k1lmXGxfW1eXw/SvVF6dIh+CNUUPm7SbyLyI1ij0r6YOzbWO6wcpB6PncXlBt+vlFknB0Ya1YuGBPX+2S57J+fp3iCvHjpLXEuvyVpo3ittOk8m/wdH5TrN7vlXl9Yrp8voGR+6xbF1yWPNE2n3Pm73EA2Xq7nXionzndN3jNY5dS/R8fnfrL8vP2H/MxdQa63nByf+Tf7OO5FdwBJz9sb5LJWVW74u0TSYvF61iv6JUm/KDjGHtMYylPdPSSXa7P7wE5x/e8X3w/N/1x2fnBs2dh630oPgC0+CBcWb5WH45+v+iIuX0/ek91olpF7aZympLVZBfTSUn1KltvlaSOymL4gJxemKulx3uTnixomnlXOsmPze3luv6wH3opy790TFT0G1Jg4b+kcsHLP9nvjM56oxsr6ovKw2gXlSt2ByUNutXiwVOVCUcuHMOcfrMl5UJGHib4l6UOx/3NqXPx1lNzD4H3Jz64oF4zvU27KkXl5nvayf7U47g/IU16kw1u3iYfzh4s4R/s6znKS7M8RU3YO7yz3FrhZTRLnBcbZUce2k+LtpFhz8eV77F4jN/RkjT1TVa/cj5F7cr8lL6zZ0grmHOKtyBXMN1XvUZ4ml34S97Nn5BE1X1b9XtyS60495/QdIzeefUX1++5QOXn6MzWWCx6XR3idqwITDUqmrpAbeWbE8VpQLs88oCQZmsR8gjxlW2mNv3KS4za5QTprpNhBHr3x/ey8Tt6/evK3FnqM4+tVqi/wNzYfh9xB4C15FMISBR/LNI7T43w8Q+55+aL87PpAvP4tufFhpqS75PLs6gXFubR8T/1Jk7izxQgvVEwdlP598miPSUqS7UWcB8m5WYn70PmK3qxxnV0ql2k/pnpvzjXkafP+nvu/VpG0ckHHepI88vTfapy2aSF5MeOG6WPkulChazAk1/Paco/nSfH9MLkM/ogan7uDJG0uN1IW9tztpFizeONrtkbAhXIP5+F9nedyPeJmeQrNUqZpili+qZ4LrS8ud2q7VDH9aAlxDZEbxp+VO6adE/9eJ3nP5nKv8+cl7RT7RsiNaAeVEPNv5OfSDRHT6slra6pJ4jz+zlLWt4nfOTzivVieMmZxuRw2S+6ckN1nV5AbLZom/lsU2zrysz7rmZ0dp+0ijiXj+6xOfkB8P1rutV/2aLS2PbZsbL1tpQcwkDcliyDKvZ7PU30O6PXlHk0PqnHl86yyuVjy7x7DtFoY81i5EP7n+D7tTbJb3Ngapmop8HiOkLSfMhAeTwAAUpZJREFU3AP+JDUOAbxI0kXx75Xled9OTh44+0dhosjjeJ6cAH9TLvTkezytEHF+K9n3Ubmy9P6iHnpygma03JNlOSXD+eK1B+WebZ+Qe5Cmc+ltEufxTrn/c3m1qJeT6pXLIXLleC01DlteQ65YPCiPMlhJHiJ6tZzAKXX4lzxU7lG5EWqV3Gs7qp44L+Ma66hj20nxdlisvTWk/UVO5q6U7D9YPXvsjpXnqryi2f/Vwrh7VMDlXpAvSvpasi8d2v4zuZJ3rOpD31tSkZe0mVyx3D45pr+Ue5SmI5IWlpMgf072bSg/0xZUQUlduXGv2bRA34jPfHtJG6je+zn/N1wu9zorczjz8kpGaqg+9UFWyRwhTyv0qdzPtXLdmIXj+v60nPxYMvf6KRHjwarPE58mfr8v9+osYp712SMikn17y73dNlO9nPuZiHmv5H1DJL1bLkcUtdjjZnLFfOvkHD4ujnOWePi26qMQl0h+diW50eKkIu9bye8fLd9jj5d0TLK/Ii+Mdonqa99cIDdGTFXjtFlF3m+XlhN3b8X5OCRizeIZLyfOn5R0bsHH8j2KUTq5/T+IY/j55G94SH72Hiw3OHxSfu5eVcS9q5NizcXXJSfB/xi/fxnV660ryYn/9ZP3p8/dw+Vy8CIFxDlYfm5uGHEtLGlLuf71ttyxaYfk/bvHcc8WtSx04d/4mq1v8krEmY04S0f6ZD3OX5XrFSfIo+fWKSDOMZI2zO17Nu4Fv1KuYUyNifM9Wh3fnM7b+Ppxuby9ieqNUJ+XOzUekHvvanIHt6J6a2f3+j3UWE9YWe60sJvqz9x0vbuPy/mQTTi2bGxzt5UewEDb5AU+z0y+Hy4XJk+TdGzuvRvLPfYeUmPiPE1Ut6QQpF6SAnKh91olBVw19sw7We7tcpViaF1Bx3WMnDi6Vp665ENKegnJ04e8KvfQeUYeCrxAvLZ0FCb+qgJ7PcpDZB+SezNMl5Phae+lVeNYHhP/Xjr+fY5a1EO7SYxrqD73XHccw7sUQ+/jPYfKQ62rkvaOfRW5wH6VkoXo1PokTjrs65w4vq/Lvdq/rKgAx991T8T8YBz7SSpxzv34vUPkXgD3xjmxdOwflrxnR7ki/JCkLQqMraOObSfF20mxxu/pava9fP/9Q/L37CwnqLJhoWmP3VEqoBeRej5zR8uV4H3kQvoW8mJJe/fxfxwh9+b/h1rUQ1NO5r0p6bfx/Uh5WO258rQbaWV4pPwseELSIZJ2jWM/OTmmLa3Iy4nOp+Jc/I4aF5lbUa6sT5OTol+L910hJyS/KD+DX1IBazDIvcMPkssnX1XjgsTj5Ib+v8oV0Kq8uFt2HLeM4/rpVscZv28DuZEkO7ZVuRxwiBp7Ep4nJyD2U/PEecvPA7nx60JJ6+b2nyL3MM86Jayk6FGsXC9TFdhrP73GVB9huEYc46vkCnxFTvb9NvZfEufOr+URlreogMXs5QURPyA3PGWjYNaSy2FV5Rb3TM7lA+SkyLlyY0/Rc9Xmh/yvJ5ev8yNns7gWlEck3a+CppeLe1J2be0jab3ktTXiXLhHMTpGnvv5anlURFUe+TNZBTx3OyzW9JxdJdl/keo94kfK9+BH5Mbo6WpcdDm7b30oXt+wVfHG7xktj4a9O47XrIjty/Kokp3kstb0OI5byKNR/h3fF9LYl4s5SzKeLif1n5E7fmXlrrTxYWO5ke9x+d71ngLiGyN3CDtb9ZF5X4ljfLGcuP+mkpEn8Z41k3vF7q2Os5fzNm3YP0DS88n3u6pxJPUCcgeBEbn/r4jp+ypx/r0cxzIbXf8uOW/0lPysy2Ltkp/DV8rP50Iaejrx2LKx9baVHsBA2uQC+xvytAvZg2RluYJUlRPnQ9VYOc5WPr9PScGixXGuI1fIP57bP1j13oTPSvqIkoqZnPA7P7bHVV8MrNWJ0myO9Uvl3jbNehOuLleMZynmUI39i8lDfx5WQYuMqF5J7JKHrf9FbnV9Ubke56rPUfq0XHB7TgWsdB6/eyM5eXeuvLjcB+Vej3fKCb2D5F54i8vDKJ+Ve2ytL/eAuU65Xk4tiLFZj9eRcmL/Snn+32/KFftuuVfT4vG+1SK+t+Jvzc7lIhch7C3+g+SC5VWqL/g7NHnP5+SCUcvmre20Y9tJ8XZSrE3iXENOIE2M+0F2fS8mVyz3Tc7RtBA8TK6cfi33/7Uy8dTsmbuvPLXFY3KlIqssvyz3Jj9K7p23ppKGX/keWI3/a54ea7mH21vxO7LGyH/E73tCMb2VGssG75Mrpa/Kz4cpSkavFXQuXBgxPiInpPdOXts5/qbfxPe7xPn9lpxMv1bFVOA3jd93i9wY2S0/c9Nj+TPVE1PZlB1ZJfMqOUFdROPZRnLPwaPlXuYLywtnHhexXSBps+T95yqXOM/9f628thaQyy/XK9YDiGM2XC4j/CX2rab6yL6sYv8TSXsWcY4m8abX2Ojca++La+g6JfMoy5X2u+WeezfGNdnyJHTEepvqDSevKeYmlpPQD8nlxQ81+4zVs2GilYnSUXKv5q1z+9PE3TrydEFVSV9I9mfHcpyShqwCzoUu1acGujtiOzh5fTe5rnCY6tMEDJHLttvH10IWre6UWHs5Z7PRO8fJ99Gj5MbSt+U1TXaWE+pXyw1wWVlmqFyneFTSoi2MeYxcd5ws11kmyNNGnRV/w3nyM2C8PNf+1Ljupsbf86QK6LjSxzX2MXmEzBS5nHCA6mWAtDPbUDl52ZL1znIxLSDfny5S4yid5SOGEXIS/7U41mNzP7+2PCqtpQupzuG83SVe200uFy6l+to3s3tBxzlxsgoY9a3GBvF0loIrVE+cZ2XHdeM8nS53BFgkrrVr1Njo2+qOFR1xbNnY+ruVHsBA2VQfdj27h0vy2gS51foNSZ+MfekNciO5cnKqWp+AHi9XeLIK5Klyr7C0d/vCclL8ViULD8m9yybHQ+9wuRdZS1fmlhP5J8qFhjTZnBYYviT31thCLiA9JVcyfykXjp5Tixefyj+cVO8psE/Evpo8lOoVOXG+QvLe7eWejj9VcYn9zeIBd5SkFXOvrSUXgmclD7ll5Yrw/XIF8ya54NPSCqbqPdm6VK8YHBTn8Oq59/4hYt4t2fceuXBexhy1adImm6c46ykySh4a/oycKMl6xaWJ85Yu9Ndpx7aT4u2kWHOxbCrfL+9SvSB8k+o9Xc+QK/bfVM+pmtaTpw34TkGx9vrMjdffJU83ta2czH9TbsB+SH52ZZXmNPlzqHJTJs2DONeXE9+3K5c4kpOiVfl+mx3j9Fm8eJwLm6qgJE4agzx/5mny8+lwuXH/QsWzWJ7H9A3Vk/5LyiOQlleTRWBbeA4cKT+jhqveEL1B7r1/if3HyAnrfVVAw2/y+5eM3/VHNZnTWW5Iq8Y5kfbqP1t+Vv9UuWRwC2PNEiOXKDfvd7z+N7khZXPV19/JKvTLxn3icBU0X3Gza0w9e0S/T04yXKfGxsiF5GTPmOS9rUw+ZmWvYyR9WB4Nc3V89h9JYn1KnhN20yTWHiP68n/nPI51kFx3yeoLxyqZxiL33nXkZ9bsxLlc7il8ypD4urNcvzlMTuA+JJfF14zXfycndXodCdPK+0EnxdrLOZutvbCpXCc8R26sPkWNDX9Hys/dtM42Qrm1kFoQ85CI6VJ52pj0mumSFyWtysnfdM2pPeTpkbJzfukWnwPNrrFP594zXi5bPSknzrPzZpTcU76oERzZc+FS1Tt5NFtUdaScEO0tcV7Uc6Gv83ZreYT363GtvaX6iMlsJPWVcgN3EaOkhuW+TxPnV8b1P/tYyonza+XGlLfj2vuX6mWZlt53O+nYsrH1dys9gIGwyYWGt+SKZdYTIHuoZT10Vpfn4p6pSETnHuJrqoApLqKwcGLc2P4dD+GqPIfyFxRD0+XE6cNycuFCubf2/ZJuidf3lytN41p8bJeSk/ffSo5PmlTYJ+J/SZ7eZE25p+DDcuXoz5rHSZAmMY6Jh9chikpP8toEuUX4G/H9TvHwO0cltbDKFcY35d6t6XQKafJoCXkY3euSNo99w+SC6Kpy7/9W99ZdNT7XrdLPXZ6u4nbVe5amyemLlSwykvv/ipwTOo3pJ3Jh5la5ArFJ7B8d58z0uMZ6JM5bGF9HHdtOireTYs39nuw5dpS83sIYee7kVyWdFO/5rNygWpX0yyw+uVHwajnJVkSP3b6euT0WR5SnMbg+uWctLfeS6THceR7H+f6Ic7r8rP25evaCvUi+H++pemNL02OoFidxmvy+sXLl90S5YXpd+T52l9wzbhO5Mj9VuUpfAbGlz7F0zs+15R6MG8nlmCWT1w6XexS/IVfajlFB01vIQ5gfUGNCKd/YniVy9srtvzqOcxGV9zER54WqTxuVXVtZRf6DcYxnSTo7+dlF5LLifUo6BrQ43l6vsSbHN0ucXxvnbrNe3K0sf/dW9tpMbny4LLmfZb3jGxLnRW5yfeHoOCevlkcUVOPa+bikpXLvf6+cOO+W9NWCY803kiwol7NPiH+vItcJ7pDnXN42vr9K9WdyUY3TnRRrX+fsc4qRvXIj9UjVG3+HyCOtr1GMSs6fWy2Oe9U4frsk96/8/WDPOJ8Pzu2vyJ2wWr6Ybh/X2FVxjWUN1AvJyeqn5IaVleX67eNqcWI/fn9fz4WhEUva+DBC9cT5N9TiXMFcnrfPJuftvnG8r1WM8panbLtGvvcWMVXXRnLO4udyD+1hypVJVZ+SKU2cLyqX1bdR0jCk1pdlOubYsrHNzVZ6APP7JveuqMrD2bOkV1YRX1duld02vl9b7lXaNHGe/myLYs0ecCvKPVx/Gw+7feXehNWI9zty0nRI3BSvlJPqac/iC+Lh2dK5t+Ve2FU1SXzLFeBsOO5t8TdlSf+x8bXVD49Bqg+tfkSuLP5LrshlMfwo9meLzH1G7q19pgrqWZ7EO0711uAV5/De98lTHFwuJ3iL7uW0qZxknKl64n6w3JPlfrkQWVHSm0n1ue1XbVVcc/k3nC73BDhW7o03VU7YbBevj5CTT9l0BsMLiqujjm0nxdtJsSYxNzzHVH9WDJMTpjcm7z0wztd75F69v5cT0jermHlV5/TMfUDSx3I/8yl5lM8q8X3a8NqqRr/3yxXGn8vJ53/Lz6hmifPL43z5rnpJ+BVwDoySh7DnFydeTm7oPTTZ93O5oedhebq26fJzrqh5NMep/hzLFlfPyibbysncbG2AByQdkvvZZdTYSFxE7/195ed+jxFESnoSx3nymJIFX9PzQa195g5Sfc7Z92b74uuwuM6/Ht8fEnHeKk/l9wP5GfeiWjyyL4l3jtdY/pxUvRf3VYr7cwnn7Ir5z1JOmF/QS6zXSvpgUbHmzsnF4nOeFPeIn8vTIFXlcvduakyWTZB7F85QMiVHi2N9rzzqZUJu/4pxfqQL5R0kd2B6Oj6P6XLnm6KS0J0Ua3/O2Yua7F8g7glXy+WCwpNjqk8J0SPxnYv1n3Kir0djewEx9vca+4pcBxsW97jX5AaLZxT36RbHOafnwj1xzS+U+7lsREE1/oZ2Om8vTr7/QRzTh+X77Z1yA0UR5dlx8hQs1fg8X5MbpM+Wp+dJ1znJpnH6tnoZyafWN0Z1zLFlY5vbrfQA5uctHiQ/ipvHYbEvq9isq/rQlZHJz6wtF4JmSPpUSXGPkys3MxTDgOPB9yW5BTCraB4qV5jHJz+7hNyT6CUVMCeZpB3kJGNWMU7nC/+76vNnbSkXLt6MGIuaMmKY3JPherngtbtcwZkqFxg3kwtvV6s+Nc8weXh4VZ77rcg5tofLvd0fknvc9TmsT57X+DEVlMxt8vs3kxtt3lTMLSgnRaqSfpz/jOMBfZ+aDCkvIfZvxbHbUPXeQV+I2P+YFBpGyr2J7pX0bo5t58fbYbH2eI7F/myKqT3l4dVbqz5c/LNyQ9A0uSB/uArosdssVjV/5ubn/N1MTqS2dNGx5PeNjRiPUn3aisGac+L8FblC1NKpmXqJeS/VR519P/fabnIv3u2Tfe+Te/pnw8ovzv9NLYw1/xxbJva/V258Ol7SR+XegtfHdfi1Xv6voirye0ZsC6XnbS/ve1v1HoY9EuctjHGYPFXEg3JPsGWS/XfKZZulk/fvLnegeEkefXCyctNPtTDWfl9j+eMW525V0tFFxNrLOZuOgBgqd7r4c5Ofy2I9tqhYk99dUX1R4rflKbi65AadfVWfVuY6eTrEdIqelvd+jd81SK6rVOWexQflXv9mHPMPJ/vWUH0Ni6pifn5i/d/P2bhXHC/fd89XQdNFNIl9J/m+36OhPPe+bG2WjYuML/n9/b3GbpLLicvIPbc/p+JG8/T1XLgjYlyql58dKXe4K6xDyDs8bzeRy7V7yqPCilrTYHj83uvkhpAd5I4oWUfGF+Rn2lflKd5uk/Mz31aTad44tmxs73wrPYD5fZMT0L+Km9uhsW9duXL0V9WHWqYJkrXihnhJiXFvo2Rhhtg3Wm7hvFFuNX4l3vO9eP398cC8X8X1JFpNToQcnuxrWomU5wa+SQXNl5b83uHywnKPyq2sy8nD6k6Jh2DWQn9B8jODJX1CLZ46ppd4h8bvfjw+6x6FHdUTut+SG1ferQJ7Puaul/ernoD8QOzL5qc9VJ7vb4Q89++Ncu/u0od7yYnxi1VfHG05uQA0Kdn37vg6QjGVE8e2c+PtpFhzcY9T/Tn2IzVOHXO56hX2rPL2C7kyn5+fvYipWdJYe33m5n5mQXlU0pcLPKYrqv78nz0NjPpOnE+Ov2vHEs6BIaqPkng97l1ry8+38fKcu39XrkeeXMm7WH3Mt9uieNPn2FXyvJqvxDmQTh+2qtw767gizs8+4t1YToqkPfYb5tmNrxsq6dFXQpzDkuN6rTw//W1KEiP5+5ScJB2iJmsLtDjWfl9j6pk4X63o8yF3zt6k6JAiT81xn+oNlfnjW3isud//fiVTciX7L5N7P98il9NflaejK7yMICcbswayy+N6GyFPYXCOpD+pZ0/Y7dSChZ/nl1jf6TkrN1J/NrkmC0+OqV53/E167JN/Z/fbxePc3r7oGHPx9ucaeyvuaz8t4Rrr7blwjZrXIUtNiM7FedtrnEXdc1XPITwen/fSsX9ruaHkNnm03+OqN6I8q/I6XnbMsWVjm5ut9AAGwiYPRft13MiOjptbb5X3heQeMkup4OHXTWL5d9x4F5KHhN0VN8DFY98a8XelC7jsoGRBzgJiHCcnnqapsZdbmiyvyHPUniz3fBtSYoHiqYg3q1zuIFfcHpUbIkrvAR1x9SdxnvXaOrekGPMJyKvkSsYGcb7+Oa65++PcvUeNU0SUfX1dIOmK+HeWMD9F9YT5l+TkYxm9Sjvq2HZSvJ0Uay7u9DmWLQB8bty79pJ7yv9Enrf87Xjf75v93QXHOqdn7iLy4ta/VYkVOfU/cf7HkuNcQtIP5R5Dz0r6WRzDbJHYT2R/R/IzZY1Eyp67D8e58E81mQpAHvn1j7KOacSwsJz4eETJ9EHKdQKQ14u5XQUspNqP45qtX3Cjei5i22OatiLvAb3EPVeJ8/RnCowxK3tNk3sXXhLn71pziqfoWHO/e1LcZ7MREKdIel5ehHUpuTfhGSpgBGofMS4m92a8Xx79cKSciN5K7vyxdXZ+NPnZopPRnRTr/3LOllWeGSdPe5EfIZVvPNtFnkKxsHptHzH35xr7V1nXWH+eC/G+MXK5rJSkbhLHOz5vSzy2T8p5mLQH92h57vIfqb5I7U0lPw865tiysfV3Kz2AgbLFQ+JwuWX7NjWpRMq9dR+QdFyyr7TEnqSvyUPWD5VbB29SL0OoVHDv7dzvniD3FLtJ0sebvL6QPFXAI5rDPN0tjjN9iNySPfTkIZmLlRlbL/GmBaAeiXM5SXK9pO+UGGM+AXm1IgEZ+7aWEyV/led6LGRRt37G/kt5OOPn5IT5yarPc7+MXPj9PxW8gF6nHttOireTYs3FvYA832pVTpY/JPc2bpjuSu4p99ky41X/n7kPSjom2dduifOfqcm0JiXHOVTuSXaG3Ov8YXmaiL/Jz7dF0r+nzE1+ju0gN0DdrJ7PsQly+eZ7bRDreqqXZT6Re61LrhhfI/foLzsBnR3X2+QkfuFz/r7DuPu8xso+rhFDVla8Pe6125QdUz9i3kWuLxwcx/UFecRq6feAXJyD5Y4/J8S19qSkzeNe9oDmMD0SsfYaayeesxPUd91xQTkJeamkBdsg3ra/xub0XJATvH+Kc2TdNoi3Y85bNdbJb8qXZZL3LZc859ohcd72x5aNrT9b6QEMpE1u2c7mnjsk99oyco/D21ViAjpiSRM62YIOU+JGXHqFopeYt43CzyNykn+RKPDsEAXOF5VbWKekOPv10GuXTT17nGeJ/mXlHvOXlF1gU+8JyA/EvsG597dFAVPS6qpPcXS+6onHd8nJp4dUckNKpx3bToq3k2LNxbGA3DvzdUl/Tf+eZjHm/46CY+2IZ26zz1lO6p0pj076gwqe2mIu4v2KnMidJScXZsi9yNomXnl4c/ocy0Z6LRPX3ZVtdH1tG8+Fp+TepWtIWlPSFyPWqWrSW75Njmsh81TPg7jb/hqLY7uD3CB1g+awvkw7bHJ5sCqv1fL+drmm+oh3V3m6g265PP6KpN+ppI4KnR5rh56zWd3xUXmk3KJy3XFLSf+Qe/mvWXacSbxtf4318bwdI3cEeU1tUB/PxdsR56166cymJuu0tcO50UnHlo1tTlvpAQy0TY3Dxg+Jfe+WK513qj4Ev+wehVmPwW/IleCflH3s+hHze+WeZG/HQ/l1uRfh5DYr9OQfem39EFFj4vwGeRqJK+VkU1uscJ0rKGyu+pQXm8e+LrVBb5wmcW8VlZ+pcu+RA+UpL55TQesCzG/HtpPi7aRYc3GPk3txVyX9qOx45hBrRzxzczGnSb3/xj2hrRqs1ThtyLLyiIhXVR8aPK7sGHPxps+x6+M5doXcA70tnmNJrGvLHRVejftBNZ63Z6hNRp0ksXZUeSaJuxOusfTY3qA27WShen3hs1F2+WuZ8fQj3vTetZjqa/NU5RF/bXMedFKsEWNHnLO5mN8bz6y35Xrjq/K0ODdJek/Z8UWMnXaN5Z8Lq8g9zF+TtE7Z8c0h3rY+b9WzTt7Wz9xOOrZsbH1t2U0YBapUKgvIc099T9JR8rDmheQk2duVSmVwrVabVWaMmUqlsqQ8H9VdtVptm0qlUqm18UlTqVQWlocwryP3fLxa0uO1Wu2FUgPLqVQqQyV9RJ5jvVvS+2u12pPlRtW7SqUyTO6R8Vt5xMGd8tC6tjlf03OzUqm8X57+ZA05ATm1zNj6UqlU3ivpMPm4vik3/PxfrVa7p9TAEp12bDsp3k6KNZV7jv24Vqv9pOSQetVJz9xMpVIZVKvVuiuVyiBJtVqtVm23528+nkqlsrGkPST9vJ3uX5lOeI5lKpXKWDlJtpbci/8uSffXarVaG8Y6TF5otSPKM5kOucayc/YoxSKRtVrt2XKjaq5SqSwmN0S9IGnLWq32askh9arJvWsDSR+VdFitVpvVTudBJ8UqddY5m0nqju+Tp8W5UdJ9tVrtmVIDy+mwayx7LvxGft6+JmmzWq12S6mB9aKTzttOilXqvHiBZkialyQq8QfKvbPuUXtX3r8pD13dqlarXVZ2PPOLSJx/Qk7mfLxWqz1cbkR9i4fep+Rhi3tEYb2tztdcAvJD8nl7raSvSnqznSoWqTgXBsk9XdROxzTTace2k+LtpFhT8Rw7SNLekr5Sq9X+XnJIveqkZ26mUql01Wq1av7f7Sg7hyuVypBarfZ22fH0phOeY31p1/Og08ozmU64xuLY7iBpJ0mfrtVq3SWH1KtKpbKzPCXiTrVa7bSy4+mPJknptr0fdEqsnXTOdppOusaS8+Drkvas1Wq3lRxSnzrpvO2kWKXOixfII2leokqlsqBceZvYzhW3SqWyrLwg4c7tGF8ni4fI0FqtNrPsWPqjUqkMrdVqb8W/2/V8TROQ58sLAG5ZcljzhU47tp0UbyfFmooesZ+X9Jd2vB+kOuWZi9bqhOdYJ+q08kwnSRujsh7yZcfUTKVSWUJepPAL7TjaBMXplHO203TaNVapVIbLU6C9UnYs/dFJ520nxSp1XrxAiqR5m+iUilunxImBrVKpVORFZ/4pz//4FUlvtWuP3U7Sace2k+LtpFib6aTnQyfFCgCdolKpDKvVam+WHQcwv+IaA4BiDS47AFinVN47JU4MbDFNwHhJG8lzQ1O4nEc67dh2UrydFGsznfR86KRYAaBTdNpzC+g0XGMAUCx6mgOYb1UqlVG1Nl4op5N12rHtpHg7KVYAAAAAAOZHXWUH8L+qVCqfrlQqv69UKldUKpWXK5VKrVKp/LPsuACUj8Rj63Tase2keDspVgAAAAAA5kfzw/QsB0laW9JMSdMkrVpuOAAAAAAAAACATtXxPc0lfU/SypIWkPSNkmMBAAAAAAAAAHSwju9pXqvVJmf/rlQqZYYCAAAAAAAAAOhw80NPcwAAAAAAAAAA5gmS5gAAAAAAAAAAhI6fnmVe+MAHPlArO4b+OvLIIyVJe+21V6lx9Aextk4nxUusrdNJ8RJr63RSvJ0Uq9RZ8RJr63RSvMTaOp0UL7G2TifF20mxSp0VL7G2TifFS6ytNWXKlPlx/uWOyT3OrUmTJmnixIm67LLLipw6u+W/iJ7mAAAAAAAAAAAEkuYAAAAAAAAAAASS5gAAAAAAAAAABOY0BwAAAAAAAADMUa1WU7VaVXd3t7q7u/XWW2+VHVJLkDQHAAAAAAAAgAHsrrvu0re+9a2yw2gbHZ80r1Qqn5D0ifh2sfi6UaVSmRj/fq5Wq+1dcFgAAAAAAAAA0BHGjh1bdghtpeOT5pImSNott2/52CTpUUkkzQEAAAAAAACgiZkzZ5YdQlvp+IVAa7Xaj2u1WqWPbdmyYwQAAAAAAACAdjV8+PCyQ2gr80NPcwAAAAAAAADAO7TMMsto8uTJc/1zkyZN0sSJE+d9QCXr+J7mAAAAAAAAAADMKyTNAQAAAAAAAAAIJM0BAAAAAAAAAAgkzQEAAAAAAAAACCTNAQAAAAAAAAAIg8sOAAAAAAAAAABQnlqtpmuvvVYzZsxQrVZTtVqd/TX9d/7rDTfcUHboLUHSHAAAAAAAAAAGsClTpuiwww4rO4y2QdIcAAAAAAAAAAawTTfdVLvssouee+45dXV1qVKp9Ovr9ddfr4cffrjs8Oc5kuYAAAAAAAAAMIANGTJEX/3qV+f650aMGDFfJs1ZCBQAAAAAAAAAgEDSHAAAAAAAAACAQNIcAAAAAAAAAIBA0hwAAAAAAAAAgEDSHAAAAAAAAACAQNIcAAAAAAAAAIBA0hwAAAAAAAAAgEDSHAAAAAAAAACAQNIcAAAAAAAAAIBA0hwAAAAAAAAAgEDSHAAAAAAAAACAQNIcAAAAAAAAAIBA0hwAAAAAAAAAgEDSHAAAAAAAAACAQNIcAAAAAAAAAIBA0hwAAAAAAAAAgEDSHAAAAAAAAACAQNIcAAAAAAAAAIBA0hwAAAAAAAAAgEDSHAAAAAAAAACAQNIcAAAAAAAAAIBA0hwAAAAAAAAAgEDSHAAAAAAAAACAMLjsAAAAAAAAAAAA5alWq7rwwgv1wgsvqFarqVqtzv6abfn9tVpN119/fdmhtwRJcwAAAAAAAAAYwKZMmaLDDz+87DDaBklzAAAAAAAAABjANt98c73wwgt68cUXValU1NXV1a+vV199taZOnVp2+PMcSXMAAAAAAAAAGMAGDRqkT3/603P9c6+99tp8mTRnIVAAAAAAAAAAAAJJcwAAAAAAAAAAAtOzAAAAAAAAAMAANmvWLB1//PF65plnVK1WVavV+vX11ltvLTv0liBpDgAAAAAAAAAD2H//+18dd9xxZYfRNkiaAwAAAAAAAMAAtsUWW2jo0KF65ZVXVKlU1NXV1a+vl1xyiS677LKyw5/nSJoDAAAAAAAAwABWqVS06aabzvXP3XfffS2IpnwsBAoAAAAAAAAAQKCnOQAAAAAAAAAMYC+//LIOPvhgPfroo/1eBHR+RtIcAAAAAAAAAAawu+66S7fddlvZYbQNkuYAAAAAAAAAMIBtuOGGOvvss9Xd3a1KpTJ7/5x6nJ9xxhk688wzS4y8NUiaAwAAAAAAAMAAN2bMmLn+mbFjx7YgkvKxECgAAAAAAAAAAIGkOQAAAAAAAAAAgaQ5AAAAAAAAAACBOc0BAAAAAAAAYAB7/PHH9YUvfKHsMNoGPc0BAAAAAAAAYACbOXNm2SG0FXqaAwAAAAAAAMAAttpqq2ny5Mlz/XOTJk3SxIkT531AJaOnOQAAAAAAAAAAgZ7mAAAAAAAAADDAvf7665o1a5aq1apqtZqq1aq6u7v73K"/>
          <p:cNvSpPr/>
          <p:nvPr/>
        </p:nvSpPr>
        <p:spPr>
          <a:xfrm>
            <a:off x="155582" y="-136524"/>
            <a:ext cx="296863" cy="2968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pic>
        <p:nvPicPr>
          <p:cNvPr id="294" name="Google Shape;294;p28"/>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295" name="Google Shape;295;p28"/>
          <p:cNvSpPr txBox="1"/>
          <p:nvPr/>
        </p:nvSpPr>
        <p:spPr>
          <a:xfrm>
            <a:off x="914400" y="1295400"/>
            <a:ext cx="10972800" cy="1723518"/>
          </a:xfrm>
          <a:prstGeom prst="rect">
            <a:avLst/>
          </a:prstGeom>
          <a:noFill/>
          <a:ln>
            <a:noFill/>
          </a:ln>
        </p:spPr>
        <p:txBody>
          <a:bodyPr spcFirstLastPara="1" wrap="square" lIns="91425" tIns="91425" rIns="91425" bIns="91425" anchor="t" anchorCtr="0">
            <a:spAutoFit/>
          </a:bodyPr>
          <a:lstStyle/>
          <a:p>
            <a:r>
              <a:rPr lang="en-US" sz="2000" dirty="0">
                <a:latin typeface="Calibri"/>
                <a:ea typeface="Calibri"/>
                <a:cs typeface="Calibri"/>
              </a:rPr>
              <a:t>Number of duplicate values: </a:t>
            </a:r>
            <a:r>
              <a:rPr lang="en-US" sz="2000" dirty="0">
                <a:solidFill>
                  <a:srgbClr val="FF0000"/>
                </a:solidFill>
                <a:latin typeface="Calibri"/>
                <a:ea typeface="Calibri"/>
                <a:cs typeface="Calibri"/>
              </a:rPr>
              <a:t>5</a:t>
            </a:r>
          </a:p>
          <a:p>
            <a:endParaRPr lang="en-US" sz="2000" dirty="0">
              <a:solidFill>
                <a:srgbClr val="FF0000"/>
              </a:solidFill>
              <a:latin typeface="Calibri"/>
              <a:ea typeface="Calibri"/>
              <a:cs typeface="Calibri"/>
            </a:endParaRPr>
          </a:p>
          <a:p>
            <a:r>
              <a:rPr lang="en-US" sz="2000" dirty="0">
                <a:solidFill>
                  <a:schemeClr val="tx1"/>
                </a:solidFill>
                <a:latin typeface="Calibri"/>
                <a:ea typeface="Calibri"/>
                <a:cs typeface="Calibri"/>
              </a:rPr>
              <a:t>Missing values are located in the following columns:</a:t>
            </a:r>
          </a:p>
          <a:p>
            <a:endParaRPr lang="en-US" sz="2000" dirty="0">
              <a:solidFill>
                <a:schemeClr val="tx1"/>
              </a:solidFill>
              <a:latin typeface="Calibri"/>
              <a:ea typeface="Calibri"/>
              <a:cs typeface="Calibri"/>
            </a:endParaRPr>
          </a:p>
          <a:p>
            <a:endParaRPr lang="en-US" sz="2000" dirty="0">
              <a:solidFill>
                <a:schemeClr val="tx1"/>
              </a:solidFill>
              <a:latin typeface="Calibri"/>
              <a:ea typeface="Calibri"/>
              <a:cs typeface="Calibri"/>
            </a:endParaRPr>
          </a:p>
        </p:txBody>
      </p:sp>
      <p:sp>
        <p:nvSpPr>
          <p:cNvPr id="296" name="Google Shape;296;p28"/>
          <p:cNvSpPr txBox="1"/>
          <p:nvPr/>
        </p:nvSpPr>
        <p:spPr>
          <a:xfrm>
            <a:off x="5257800" y="4152900"/>
            <a:ext cx="6438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DCF79CEB-AC38-4A63-F94F-A5425F7D73BF}"/>
              </a:ext>
            </a:extLst>
          </p:cNvPr>
          <p:cNvGraphicFramePr>
            <a:graphicFrameLocks noGrp="1"/>
          </p:cNvGraphicFramePr>
          <p:nvPr>
            <p:extLst>
              <p:ext uri="{D42A27DB-BD31-4B8C-83A1-F6EECF244321}">
                <p14:modId xmlns:p14="http://schemas.microsoft.com/office/powerpoint/2010/main" val="2000383878"/>
              </p:ext>
            </p:extLst>
          </p:nvPr>
        </p:nvGraphicFramePr>
        <p:xfrm>
          <a:off x="2097539" y="2493221"/>
          <a:ext cx="8168640" cy="1854200"/>
        </p:xfrm>
        <a:graphic>
          <a:graphicData uri="http://schemas.openxmlformats.org/drawingml/2006/table">
            <a:tbl>
              <a:tblPr firstRow="1" bandRow="1">
                <a:tableStyleId>{327F97BB-C833-4FB7-BDE5-3F7075034690}</a:tableStyleId>
              </a:tblPr>
              <a:tblGrid>
                <a:gridCol w="4084320">
                  <a:extLst>
                    <a:ext uri="{9D8B030D-6E8A-4147-A177-3AD203B41FA5}">
                      <a16:colId xmlns:a16="http://schemas.microsoft.com/office/drawing/2014/main" val="42546567"/>
                    </a:ext>
                  </a:extLst>
                </a:gridCol>
                <a:gridCol w="4084320">
                  <a:extLst>
                    <a:ext uri="{9D8B030D-6E8A-4147-A177-3AD203B41FA5}">
                      <a16:colId xmlns:a16="http://schemas.microsoft.com/office/drawing/2014/main" val="1994377292"/>
                    </a:ext>
                  </a:extLst>
                </a:gridCol>
              </a:tblGrid>
              <a:tr h="370840">
                <a:tc>
                  <a:txBody>
                    <a:bodyPr/>
                    <a:lstStyle/>
                    <a:p>
                      <a:r>
                        <a:rPr lang="en-US" dirty="0"/>
                        <a:t>Columns</a:t>
                      </a:r>
                    </a:p>
                  </a:txBody>
                  <a:tcPr/>
                </a:tc>
                <a:tc>
                  <a:txBody>
                    <a:bodyPr/>
                    <a:lstStyle/>
                    <a:p>
                      <a:r>
                        <a:rPr lang="en-US" dirty="0"/>
                        <a:t>No. of missing values</a:t>
                      </a:r>
                    </a:p>
                  </a:txBody>
                  <a:tcPr/>
                </a:tc>
                <a:extLst>
                  <a:ext uri="{0D108BD9-81ED-4DB2-BD59-A6C34878D82A}">
                    <a16:rowId xmlns:a16="http://schemas.microsoft.com/office/drawing/2014/main" val="3261034871"/>
                  </a:ext>
                </a:extLst>
              </a:tr>
              <a:tr h="370840">
                <a:tc>
                  <a:txBody>
                    <a:bodyPr/>
                    <a:lstStyle/>
                    <a:p>
                      <a:r>
                        <a:rPr lang="en-US" dirty="0"/>
                        <a:t>DFA TPH</a:t>
                      </a:r>
                    </a:p>
                  </a:txBody>
                  <a:tcPr/>
                </a:tc>
                <a:tc>
                  <a:txBody>
                    <a:bodyPr/>
                    <a:lstStyle/>
                    <a:p>
                      <a:r>
                        <a:rPr lang="en-US" dirty="0"/>
                        <a:t>1</a:t>
                      </a:r>
                    </a:p>
                  </a:txBody>
                  <a:tcPr/>
                </a:tc>
                <a:extLst>
                  <a:ext uri="{0D108BD9-81ED-4DB2-BD59-A6C34878D82A}">
                    <a16:rowId xmlns:a16="http://schemas.microsoft.com/office/drawing/2014/main" val="2782976063"/>
                  </a:ext>
                </a:extLst>
              </a:tr>
              <a:tr h="370840">
                <a:tc>
                  <a:txBody>
                    <a:bodyPr/>
                    <a:lstStyle/>
                    <a:p>
                      <a:r>
                        <a:rPr lang="en-US" dirty="0"/>
                        <a:t>Mill vent BF O/L draft</a:t>
                      </a:r>
                    </a:p>
                  </a:txBody>
                  <a:tcPr/>
                </a:tc>
                <a:tc>
                  <a:txBody>
                    <a:bodyPr/>
                    <a:lstStyle/>
                    <a:p>
                      <a:r>
                        <a:rPr lang="en-US" dirty="0"/>
                        <a:t>1</a:t>
                      </a:r>
                    </a:p>
                  </a:txBody>
                  <a:tcPr/>
                </a:tc>
                <a:extLst>
                  <a:ext uri="{0D108BD9-81ED-4DB2-BD59-A6C34878D82A}">
                    <a16:rowId xmlns:a16="http://schemas.microsoft.com/office/drawing/2014/main" val="1375445223"/>
                  </a:ext>
                </a:extLst>
              </a:tr>
              <a:tr h="370840">
                <a:tc>
                  <a:txBody>
                    <a:bodyPr/>
                    <a:lstStyle/>
                    <a:p>
                      <a:r>
                        <a:rPr lang="en-US" dirty="0"/>
                        <a:t>Sep vent bag filter fan RPM</a:t>
                      </a:r>
                    </a:p>
                  </a:txBody>
                  <a:tcPr/>
                </a:tc>
                <a:tc>
                  <a:txBody>
                    <a:bodyPr/>
                    <a:lstStyle/>
                    <a:p>
                      <a:r>
                        <a:rPr lang="en-US" dirty="0"/>
                        <a:t>1</a:t>
                      </a:r>
                    </a:p>
                  </a:txBody>
                  <a:tcPr/>
                </a:tc>
                <a:extLst>
                  <a:ext uri="{0D108BD9-81ED-4DB2-BD59-A6C34878D82A}">
                    <a16:rowId xmlns:a16="http://schemas.microsoft.com/office/drawing/2014/main" val="3361753199"/>
                  </a:ext>
                </a:extLst>
              </a:tr>
              <a:tr h="370840">
                <a:tc>
                  <a:txBody>
                    <a:bodyPr/>
                    <a:lstStyle/>
                    <a:p>
                      <a:r>
                        <a:rPr lang="en-US" dirty="0"/>
                        <a:t>Sep KW</a:t>
                      </a:r>
                    </a:p>
                  </a:txBody>
                  <a:tcPr/>
                </a:tc>
                <a:tc>
                  <a:txBody>
                    <a:bodyPr/>
                    <a:lstStyle/>
                    <a:p>
                      <a:r>
                        <a:rPr lang="en-US" dirty="0"/>
                        <a:t>1</a:t>
                      </a:r>
                    </a:p>
                  </a:txBody>
                  <a:tcPr/>
                </a:tc>
                <a:extLst>
                  <a:ext uri="{0D108BD9-81ED-4DB2-BD59-A6C34878D82A}">
                    <a16:rowId xmlns:a16="http://schemas.microsoft.com/office/drawing/2014/main" val="247087537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2F920E-BD76-D10C-BF65-7CC32EED765C}"/>
              </a:ext>
            </a:extLst>
          </p:cNvPr>
          <p:cNvSpPr>
            <a:spLocks noGrp="1"/>
          </p:cNvSpPr>
          <p:nvPr>
            <p:ph type="title"/>
          </p:nvPr>
        </p:nvSpPr>
        <p:spPr>
          <a:xfrm>
            <a:off x="630936" y="639520"/>
            <a:ext cx="3429000" cy="1719072"/>
          </a:xfrm>
        </p:spPr>
        <p:txBody>
          <a:bodyPr vert="horz" lIns="91440" tIns="45720" rIns="91440" bIns="45720" rtlCol="0" anchor="b">
            <a:normAutofit/>
          </a:bodyPr>
          <a:lstStyle/>
          <a:p>
            <a:pPr>
              <a:spcBef>
                <a:spcPct val="0"/>
              </a:spcBef>
            </a:pPr>
            <a:r>
              <a:rPr lang="en-US" sz="5400" b="1" kern="1200" dirty="0">
                <a:solidFill>
                  <a:srgbClr val="002060"/>
                </a:solidFill>
                <a:latin typeface="Times New Roman" panose="02020603050405020304" pitchFamily="18" charset="0"/>
                <a:ea typeface="+mj-ea"/>
                <a:cs typeface="Times New Roman" panose="02020603050405020304" pitchFamily="18" charset="0"/>
              </a:rPr>
              <a:t>Outlier Detection</a:t>
            </a:r>
          </a:p>
        </p:txBody>
      </p:sp>
      <p:sp>
        <p:nvSpPr>
          <p:cNvPr id="2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9FDF493-D63B-5ED8-8160-687DD91A0684}"/>
              </a:ext>
            </a:extLst>
          </p:cNvPr>
          <p:cNvSpPr txBox="1"/>
          <p:nvPr/>
        </p:nvSpPr>
        <p:spPr>
          <a:xfrm>
            <a:off x="630936" y="280720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endParaRPr lang="en-US" sz="22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sz="2200" kern="1200" dirty="0">
              <a:solidFill>
                <a:schemeClr val="tx1"/>
              </a:solidFill>
              <a:latin typeface="+mn-lt"/>
              <a:ea typeface="+mn-ea"/>
              <a:cs typeface="+mn-cs"/>
            </a:endParaRPr>
          </a:p>
        </p:txBody>
      </p:sp>
      <p:graphicFrame>
        <p:nvGraphicFramePr>
          <p:cNvPr id="7" name="Table 6">
            <a:extLst>
              <a:ext uri="{FF2B5EF4-FFF2-40B4-BE49-F238E27FC236}">
                <a16:creationId xmlns:a16="http://schemas.microsoft.com/office/drawing/2014/main" id="{0FFC60D8-55A9-26AD-EECF-F5A75CF0DAC3}"/>
              </a:ext>
            </a:extLst>
          </p:cNvPr>
          <p:cNvGraphicFramePr>
            <a:graphicFrameLocks noGrp="1"/>
          </p:cNvGraphicFramePr>
          <p:nvPr>
            <p:extLst>
              <p:ext uri="{D42A27DB-BD31-4B8C-83A1-F6EECF244321}">
                <p14:modId xmlns:p14="http://schemas.microsoft.com/office/powerpoint/2010/main" val="1958360184"/>
              </p:ext>
            </p:extLst>
          </p:nvPr>
        </p:nvGraphicFramePr>
        <p:xfrm>
          <a:off x="4035380" y="-64394"/>
          <a:ext cx="7866622" cy="6982740"/>
        </p:xfrm>
        <a:graphic>
          <a:graphicData uri="http://schemas.openxmlformats.org/drawingml/2006/table">
            <a:tbl>
              <a:tblPr firstRow="1" bandRow="1">
                <a:tableStyleId>{8799B23B-EC83-4686-B30A-512413B5E67A}</a:tableStyleId>
              </a:tblPr>
              <a:tblGrid>
                <a:gridCol w="3741480">
                  <a:extLst>
                    <a:ext uri="{9D8B030D-6E8A-4147-A177-3AD203B41FA5}">
                      <a16:colId xmlns:a16="http://schemas.microsoft.com/office/drawing/2014/main" val="2862614591"/>
                    </a:ext>
                  </a:extLst>
                </a:gridCol>
                <a:gridCol w="4125142">
                  <a:extLst>
                    <a:ext uri="{9D8B030D-6E8A-4147-A177-3AD203B41FA5}">
                      <a16:colId xmlns:a16="http://schemas.microsoft.com/office/drawing/2014/main" val="1995820453"/>
                    </a:ext>
                  </a:extLst>
                </a:gridCol>
              </a:tblGrid>
              <a:tr h="258091">
                <a:tc>
                  <a:txBody>
                    <a:bodyPr/>
                    <a:lstStyle/>
                    <a:p>
                      <a:pPr lvl="0">
                        <a:buNone/>
                      </a:pPr>
                      <a:r>
                        <a:rPr lang="en-US" sz="1200" dirty="0"/>
                        <a:t>Columns </a:t>
                      </a:r>
                    </a:p>
                  </a:txBody>
                  <a:tcPr marL="75740" marR="75740" marT="37870" marB="37870"/>
                </a:tc>
                <a:tc>
                  <a:txBody>
                    <a:bodyPr/>
                    <a:lstStyle/>
                    <a:p>
                      <a:r>
                        <a:rPr lang="en-US" sz="1200" dirty="0"/>
                        <a:t>Percentage of outliers </a:t>
                      </a:r>
                    </a:p>
                  </a:txBody>
                  <a:tcPr marL="75740" marR="75740" marT="37870" marB="37870"/>
                </a:tc>
                <a:extLst>
                  <a:ext uri="{0D108BD9-81ED-4DB2-BD59-A6C34878D82A}">
                    <a16:rowId xmlns:a16="http://schemas.microsoft.com/office/drawing/2014/main" val="2060908036"/>
                  </a:ext>
                </a:extLst>
              </a:tr>
              <a:tr h="258091">
                <a:tc>
                  <a:txBody>
                    <a:bodyPr/>
                    <a:lstStyle/>
                    <a:p>
                      <a:pPr lvl="0">
                        <a:buNone/>
                      </a:pPr>
                      <a:r>
                        <a:rPr lang="en-US" sz="1200" dirty="0"/>
                        <a:t>Mill TPH</a:t>
                      </a:r>
                    </a:p>
                  </a:txBody>
                  <a:tcPr marL="75740" marR="75740" marT="37870" marB="37870"/>
                </a:tc>
                <a:tc>
                  <a:txBody>
                    <a:bodyPr/>
                    <a:lstStyle/>
                    <a:p>
                      <a:r>
                        <a:rPr lang="en-US" sz="1200" dirty="0"/>
                        <a:t>2.76</a:t>
                      </a:r>
                    </a:p>
                  </a:txBody>
                  <a:tcPr marL="75740" marR="75740" marT="37870" marB="37870"/>
                </a:tc>
                <a:extLst>
                  <a:ext uri="{0D108BD9-81ED-4DB2-BD59-A6C34878D82A}">
                    <a16:rowId xmlns:a16="http://schemas.microsoft.com/office/drawing/2014/main" val="1217871106"/>
                  </a:ext>
                </a:extLst>
              </a:tr>
              <a:tr h="258091">
                <a:tc>
                  <a:txBody>
                    <a:bodyPr/>
                    <a:lstStyle/>
                    <a:p>
                      <a:pPr lvl="0">
                        <a:buNone/>
                      </a:pPr>
                      <a:r>
                        <a:rPr lang="en-US" sz="1200" dirty="0" err="1"/>
                        <a:t>Cilnker</a:t>
                      </a:r>
                      <a:r>
                        <a:rPr lang="en-US" sz="1200" dirty="0"/>
                        <a:t> TPH</a:t>
                      </a:r>
                    </a:p>
                  </a:txBody>
                  <a:tcPr marL="75740" marR="75740" marT="37870" marB="37870"/>
                </a:tc>
                <a:tc>
                  <a:txBody>
                    <a:bodyPr/>
                    <a:lstStyle/>
                    <a:p>
                      <a:r>
                        <a:rPr lang="en-US" sz="1200" dirty="0"/>
                        <a:t>2.65</a:t>
                      </a:r>
                    </a:p>
                  </a:txBody>
                  <a:tcPr marL="75740" marR="75740" marT="37870" marB="37870"/>
                </a:tc>
                <a:extLst>
                  <a:ext uri="{0D108BD9-81ED-4DB2-BD59-A6C34878D82A}">
                    <a16:rowId xmlns:a16="http://schemas.microsoft.com/office/drawing/2014/main" val="2747614939"/>
                  </a:ext>
                </a:extLst>
              </a:tr>
              <a:tr h="258091">
                <a:tc>
                  <a:txBody>
                    <a:bodyPr/>
                    <a:lstStyle/>
                    <a:p>
                      <a:pPr lvl="0">
                        <a:buNone/>
                      </a:pPr>
                      <a:r>
                        <a:rPr lang="en-US" sz="1200" dirty="0"/>
                        <a:t>Gypsum TPH</a:t>
                      </a:r>
                    </a:p>
                  </a:txBody>
                  <a:tcPr marL="75740" marR="75740" marT="37870" marB="37870"/>
                </a:tc>
                <a:tc>
                  <a:txBody>
                    <a:bodyPr/>
                    <a:lstStyle/>
                    <a:p>
                      <a:pPr lvl="0">
                        <a:buNone/>
                      </a:pPr>
                      <a:r>
                        <a:rPr lang="en-US" sz="1100" b="0" i="0" u="none" strike="noStrike" noProof="0" dirty="0">
                          <a:latin typeface="Calibri"/>
                        </a:rPr>
                        <a:t>9.76</a:t>
                      </a:r>
                    </a:p>
                  </a:txBody>
                  <a:tcPr marL="75740" marR="75740" marT="37870" marB="37870"/>
                </a:tc>
                <a:extLst>
                  <a:ext uri="{0D108BD9-81ED-4DB2-BD59-A6C34878D82A}">
                    <a16:rowId xmlns:a16="http://schemas.microsoft.com/office/drawing/2014/main" val="319280923"/>
                  </a:ext>
                </a:extLst>
              </a:tr>
              <a:tr h="258091">
                <a:tc>
                  <a:txBody>
                    <a:bodyPr/>
                    <a:lstStyle/>
                    <a:p>
                      <a:pPr lvl="0">
                        <a:buNone/>
                      </a:pPr>
                      <a:r>
                        <a:rPr lang="en-US" sz="1200" dirty="0"/>
                        <a:t>DFA TPH</a:t>
                      </a:r>
                    </a:p>
                  </a:txBody>
                  <a:tcPr marL="75740" marR="75740" marT="37870" marB="37870"/>
                </a:tc>
                <a:tc>
                  <a:txBody>
                    <a:bodyPr/>
                    <a:lstStyle/>
                    <a:p>
                      <a:pPr lvl="0">
                        <a:buNone/>
                      </a:pPr>
                      <a:r>
                        <a:rPr lang="en-US" sz="1100" b="0" i="0" u="none" strike="noStrike" noProof="0" dirty="0">
                          <a:latin typeface="Calibri"/>
                        </a:rPr>
                        <a:t>6.94</a:t>
                      </a:r>
                    </a:p>
                  </a:txBody>
                  <a:tcPr marL="75740" marR="75740" marT="37870" marB="37870"/>
                </a:tc>
                <a:extLst>
                  <a:ext uri="{0D108BD9-81ED-4DB2-BD59-A6C34878D82A}">
                    <a16:rowId xmlns:a16="http://schemas.microsoft.com/office/drawing/2014/main" val="2600742493"/>
                  </a:ext>
                </a:extLst>
              </a:tr>
              <a:tr h="258091">
                <a:tc>
                  <a:txBody>
                    <a:bodyPr/>
                    <a:lstStyle/>
                    <a:p>
                      <a:pPr lvl="0">
                        <a:buNone/>
                      </a:pPr>
                      <a:r>
                        <a:rPr lang="en-US" sz="1200" dirty="0"/>
                        <a:t>WFA TPH</a:t>
                      </a:r>
                    </a:p>
                  </a:txBody>
                  <a:tcPr marL="75740" marR="75740" marT="37870" marB="37870"/>
                </a:tc>
                <a:tc>
                  <a:txBody>
                    <a:bodyPr/>
                    <a:lstStyle/>
                    <a:p>
                      <a:pPr lvl="0">
                        <a:buNone/>
                      </a:pPr>
                      <a:r>
                        <a:rPr lang="en-US" sz="1100" b="0" i="0" u="none" strike="noStrike" noProof="0" dirty="0">
                          <a:latin typeface="Calibri"/>
                        </a:rPr>
                        <a:t>2.43</a:t>
                      </a:r>
                    </a:p>
                  </a:txBody>
                  <a:tcPr marL="75740" marR="75740" marT="37870" marB="37870"/>
                </a:tc>
                <a:extLst>
                  <a:ext uri="{0D108BD9-81ED-4DB2-BD59-A6C34878D82A}">
                    <a16:rowId xmlns:a16="http://schemas.microsoft.com/office/drawing/2014/main" val="662037353"/>
                  </a:ext>
                </a:extLst>
              </a:tr>
              <a:tr h="258091">
                <a:tc>
                  <a:txBody>
                    <a:bodyPr/>
                    <a:lstStyle/>
                    <a:p>
                      <a:pPr lvl="0">
                        <a:buNone/>
                      </a:pPr>
                      <a:r>
                        <a:rPr lang="en-US" sz="1200" dirty="0"/>
                        <a:t>Mill KW</a:t>
                      </a:r>
                    </a:p>
                  </a:txBody>
                  <a:tcPr marL="75740" marR="75740" marT="37870" marB="37870"/>
                </a:tc>
                <a:tc>
                  <a:txBody>
                    <a:bodyPr/>
                    <a:lstStyle/>
                    <a:p>
                      <a:pPr lvl="0">
                        <a:buNone/>
                      </a:pPr>
                      <a:r>
                        <a:rPr lang="en-US" sz="1100" b="0" i="0" u="none" strike="noStrike" noProof="0" dirty="0">
                          <a:latin typeface="Calibri"/>
                        </a:rPr>
                        <a:t>0.073</a:t>
                      </a:r>
                    </a:p>
                  </a:txBody>
                  <a:tcPr marL="75740" marR="75740" marT="37870" marB="37870"/>
                </a:tc>
                <a:extLst>
                  <a:ext uri="{0D108BD9-81ED-4DB2-BD59-A6C34878D82A}">
                    <a16:rowId xmlns:a16="http://schemas.microsoft.com/office/drawing/2014/main" val="1704270790"/>
                  </a:ext>
                </a:extLst>
              </a:tr>
              <a:tr h="258091">
                <a:tc>
                  <a:txBody>
                    <a:bodyPr/>
                    <a:lstStyle/>
                    <a:p>
                      <a:pPr lvl="0">
                        <a:buNone/>
                      </a:pPr>
                      <a:r>
                        <a:rPr lang="en-US" sz="1200" dirty="0"/>
                        <a:t>Mill I/L Temp</a:t>
                      </a:r>
                    </a:p>
                  </a:txBody>
                  <a:tcPr marL="75740" marR="75740" marT="37870" marB="37870"/>
                </a:tc>
                <a:tc>
                  <a:txBody>
                    <a:bodyPr/>
                    <a:lstStyle/>
                    <a:p>
                      <a:pPr lvl="0">
                        <a:buNone/>
                      </a:pPr>
                      <a:r>
                        <a:rPr lang="en-US" sz="1100" b="0" i="0" u="none" strike="noStrike" noProof="0" dirty="0">
                          <a:solidFill>
                            <a:srgbClr val="000000"/>
                          </a:solidFill>
                          <a:latin typeface="Calibri"/>
                        </a:rPr>
                        <a:t>4.96</a:t>
                      </a:r>
                    </a:p>
                  </a:txBody>
                  <a:tcPr marL="75740" marR="75740" marT="37870" marB="37870"/>
                </a:tc>
                <a:extLst>
                  <a:ext uri="{0D108BD9-81ED-4DB2-BD59-A6C34878D82A}">
                    <a16:rowId xmlns:a16="http://schemas.microsoft.com/office/drawing/2014/main" val="2337280438"/>
                  </a:ext>
                </a:extLst>
              </a:tr>
              <a:tr h="258091">
                <a:tc>
                  <a:txBody>
                    <a:bodyPr/>
                    <a:lstStyle/>
                    <a:p>
                      <a:pPr lvl="0">
                        <a:buNone/>
                      </a:pPr>
                      <a:r>
                        <a:rPr lang="en-US" sz="1200" dirty="0"/>
                        <a:t>Mill O/L Temp</a:t>
                      </a:r>
                    </a:p>
                  </a:txBody>
                  <a:tcPr marL="75740" marR="75740" marT="37870" marB="37870"/>
                </a:tc>
                <a:tc>
                  <a:txBody>
                    <a:bodyPr/>
                    <a:lstStyle/>
                    <a:p>
                      <a:pPr lvl="0">
                        <a:buNone/>
                      </a:pPr>
                      <a:r>
                        <a:rPr lang="en-US" sz="1100" b="0" i="0" u="none" strike="noStrike" noProof="0" dirty="0">
                          <a:solidFill>
                            <a:srgbClr val="000000"/>
                          </a:solidFill>
                          <a:latin typeface="Calibri"/>
                        </a:rPr>
                        <a:t>1.23</a:t>
                      </a:r>
                    </a:p>
                  </a:txBody>
                  <a:tcPr marL="75740" marR="75740" marT="37870" marB="37870"/>
                </a:tc>
                <a:extLst>
                  <a:ext uri="{0D108BD9-81ED-4DB2-BD59-A6C34878D82A}">
                    <a16:rowId xmlns:a16="http://schemas.microsoft.com/office/drawing/2014/main" val="2887411174"/>
                  </a:ext>
                </a:extLst>
              </a:tr>
              <a:tr h="258091">
                <a:tc>
                  <a:txBody>
                    <a:bodyPr/>
                    <a:lstStyle/>
                    <a:p>
                      <a:pPr lvl="0">
                        <a:buNone/>
                      </a:pPr>
                      <a:r>
                        <a:rPr lang="en-US" sz="1200" dirty="0"/>
                        <a:t>Mill O/L BE Amp</a:t>
                      </a:r>
                    </a:p>
                  </a:txBody>
                  <a:tcPr marL="75740" marR="75740" marT="37870" marB="37870"/>
                </a:tc>
                <a:tc>
                  <a:txBody>
                    <a:bodyPr/>
                    <a:lstStyle/>
                    <a:p>
                      <a:pPr lvl="0">
                        <a:buNone/>
                      </a:pPr>
                      <a:r>
                        <a:rPr lang="en-US" sz="1100" b="0" i="0" u="none" strike="noStrike" noProof="0" dirty="0">
                          <a:solidFill>
                            <a:srgbClr val="000000"/>
                          </a:solidFill>
                          <a:latin typeface="Calibri"/>
                        </a:rPr>
                        <a:t>0.67</a:t>
                      </a:r>
                    </a:p>
                  </a:txBody>
                  <a:tcPr marL="75740" marR="75740" marT="37870" marB="37870"/>
                </a:tc>
                <a:extLst>
                  <a:ext uri="{0D108BD9-81ED-4DB2-BD59-A6C34878D82A}">
                    <a16:rowId xmlns:a16="http://schemas.microsoft.com/office/drawing/2014/main" val="3969652769"/>
                  </a:ext>
                </a:extLst>
              </a:tr>
              <a:tr h="258091">
                <a:tc>
                  <a:txBody>
                    <a:bodyPr/>
                    <a:lstStyle/>
                    <a:p>
                      <a:pPr lvl="0">
                        <a:buNone/>
                      </a:pPr>
                      <a:r>
                        <a:rPr lang="en-US" sz="1200" dirty="0"/>
                        <a:t>Mill vent fan RPM</a:t>
                      </a:r>
                    </a:p>
                  </a:txBody>
                  <a:tcPr marL="75740" marR="75740" marT="37870" marB="37870"/>
                </a:tc>
                <a:tc>
                  <a:txBody>
                    <a:bodyPr/>
                    <a:lstStyle/>
                    <a:p>
                      <a:pPr lvl="0">
                        <a:buNone/>
                      </a:pPr>
                      <a:r>
                        <a:rPr lang="en-US" sz="1100" b="0" i="0" u="none" strike="noStrike" noProof="0" dirty="0">
                          <a:latin typeface="Calibri"/>
                        </a:rPr>
                        <a:t>0</a:t>
                      </a:r>
                    </a:p>
                  </a:txBody>
                  <a:tcPr marL="75740" marR="75740" marT="37870" marB="37870"/>
                </a:tc>
                <a:extLst>
                  <a:ext uri="{0D108BD9-81ED-4DB2-BD59-A6C34878D82A}">
                    <a16:rowId xmlns:a16="http://schemas.microsoft.com/office/drawing/2014/main" val="855553376"/>
                  </a:ext>
                </a:extLst>
              </a:tr>
              <a:tr h="258091">
                <a:tc>
                  <a:txBody>
                    <a:bodyPr/>
                    <a:lstStyle/>
                    <a:p>
                      <a:pPr lvl="0">
                        <a:buNone/>
                      </a:pPr>
                      <a:r>
                        <a:rPr lang="en-US" sz="1200" dirty="0"/>
                        <a:t>Mill vent fan KW</a:t>
                      </a:r>
                    </a:p>
                  </a:txBody>
                  <a:tcPr marL="75740" marR="75740" marT="37870" marB="37870"/>
                </a:tc>
                <a:tc>
                  <a:txBody>
                    <a:bodyPr/>
                    <a:lstStyle/>
                    <a:p>
                      <a:pPr lvl="0">
                        <a:buNone/>
                      </a:pPr>
                      <a:r>
                        <a:rPr lang="en-US" sz="1100" b="0" i="0" u="none" strike="noStrike" noProof="0" dirty="0">
                          <a:solidFill>
                            <a:srgbClr val="000000"/>
                          </a:solidFill>
                          <a:latin typeface="Calibri"/>
                        </a:rPr>
                        <a:t>1.13</a:t>
                      </a:r>
                    </a:p>
                  </a:txBody>
                  <a:tcPr marL="75740" marR="75740" marT="37870" marB="37870"/>
                </a:tc>
                <a:extLst>
                  <a:ext uri="{0D108BD9-81ED-4DB2-BD59-A6C34878D82A}">
                    <a16:rowId xmlns:a16="http://schemas.microsoft.com/office/drawing/2014/main" val="3201653395"/>
                  </a:ext>
                </a:extLst>
              </a:tr>
              <a:tr h="258091">
                <a:tc>
                  <a:txBody>
                    <a:bodyPr/>
                    <a:lstStyle/>
                    <a:p>
                      <a:pPr lvl="0">
                        <a:buNone/>
                      </a:pPr>
                      <a:r>
                        <a:rPr lang="en-US" sz="1200" dirty="0"/>
                        <a:t>Mill vent BF I/L draft</a:t>
                      </a:r>
                    </a:p>
                  </a:txBody>
                  <a:tcPr marL="75740" marR="75740" marT="37870" marB="37870"/>
                </a:tc>
                <a:tc>
                  <a:txBody>
                    <a:bodyPr/>
                    <a:lstStyle/>
                    <a:p>
                      <a:pPr lvl="0">
                        <a:buNone/>
                      </a:pPr>
                      <a:endParaRPr lang="en-US" sz="1200"/>
                    </a:p>
                  </a:txBody>
                  <a:tcPr marL="75740" marR="75740" marT="37870" marB="37870"/>
                </a:tc>
                <a:extLst>
                  <a:ext uri="{0D108BD9-81ED-4DB2-BD59-A6C34878D82A}">
                    <a16:rowId xmlns:a16="http://schemas.microsoft.com/office/drawing/2014/main" val="2247304064"/>
                  </a:ext>
                </a:extLst>
              </a:tr>
              <a:tr h="258091">
                <a:tc>
                  <a:txBody>
                    <a:bodyPr/>
                    <a:lstStyle/>
                    <a:p>
                      <a:pPr lvl="0">
                        <a:buNone/>
                      </a:pPr>
                      <a:r>
                        <a:rPr lang="en-US" sz="1200" dirty="0"/>
                        <a:t>Mill vent BF O/L draft</a:t>
                      </a:r>
                    </a:p>
                  </a:txBody>
                  <a:tcPr marL="75740" marR="75740" marT="37870" marB="37870"/>
                </a:tc>
                <a:tc>
                  <a:txBody>
                    <a:bodyPr/>
                    <a:lstStyle/>
                    <a:p>
                      <a:pPr lvl="0">
                        <a:buNone/>
                      </a:pPr>
                      <a:r>
                        <a:rPr lang="en-US" sz="1100" b="0" i="0" u="none" strike="noStrike" noProof="0" dirty="0">
                          <a:solidFill>
                            <a:srgbClr val="000000"/>
                          </a:solidFill>
                          <a:latin typeface="Calibri"/>
                        </a:rPr>
                        <a:t>12.91</a:t>
                      </a:r>
                    </a:p>
                  </a:txBody>
                  <a:tcPr marL="75740" marR="75740" marT="37870" marB="37870"/>
                </a:tc>
                <a:extLst>
                  <a:ext uri="{0D108BD9-81ED-4DB2-BD59-A6C34878D82A}">
                    <a16:rowId xmlns:a16="http://schemas.microsoft.com/office/drawing/2014/main" val="3589923768"/>
                  </a:ext>
                </a:extLst>
              </a:tr>
              <a:tr h="258091">
                <a:tc>
                  <a:txBody>
                    <a:bodyPr/>
                    <a:lstStyle/>
                    <a:p>
                      <a:pPr lvl="0">
                        <a:buNone/>
                      </a:pPr>
                      <a:r>
                        <a:rPr lang="en-US" sz="1200" dirty="0"/>
                        <a:t>Reject </a:t>
                      </a:r>
                    </a:p>
                  </a:txBody>
                  <a:tcPr marL="75740" marR="75740" marT="37870" marB="37870"/>
                </a:tc>
                <a:tc>
                  <a:txBody>
                    <a:bodyPr/>
                    <a:lstStyle/>
                    <a:p>
                      <a:pPr lvl="0">
                        <a:buNone/>
                      </a:pPr>
                      <a:r>
                        <a:rPr lang="en-US" sz="1100" b="0" i="0" u="none" strike="noStrike" noProof="0" dirty="0">
                          <a:solidFill>
                            <a:srgbClr val="000000"/>
                          </a:solidFill>
                          <a:latin typeface="Calibri"/>
                        </a:rPr>
                        <a:t>1.05</a:t>
                      </a:r>
                    </a:p>
                  </a:txBody>
                  <a:tcPr marL="75740" marR="75740" marT="37870" marB="37870"/>
                </a:tc>
                <a:extLst>
                  <a:ext uri="{0D108BD9-81ED-4DB2-BD59-A6C34878D82A}">
                    <a16:rowId xmlns:a16="http://schemas.microsoft.com/office/drawing/2014/main" val="3542732031"/>
                  </a:ext>
                </a:extLst>
              </a:tr>
              <a:tr h="258091">
                <a:tc>
                  <a:txBody>
                    <a:bodyPr/>
                    <a:lstStyle/>
                    <a:p>
                      <a:pPr lvl="0">
                        <a:buNone/>
                      </a:pPr>
                      <a:r>
                        <a:rPr lang="en-US" sz="1200" dirty="0"/>
                        <a:t>Sep KW</a:t>
                      </a:r>
                    </a:p>
                  </a:txBody>
                  <a:tcPr marL="75740" marR="75740" marT="37870" marB="37870"/>
                </a:tc>
                <a:tc>
                  <a:txBody>
                    <a:bodyPr/>
                    <a:lstStyle/>
                    <a:p>
                      <a:pPr lvl="0">
                        <a:buNone/>
                      </a:pPr>
                      <a:r>
                        <a:rPr lang="en-US" sz="1100" b="0" i="0" u="none" strike="noStrike" noProof="0" dirty="0">
                          <a:solidFill>
                            <a:srgbClr val="000000"/>
                          </a:solidFill>
                          <a:latin typeface="Calibri"/>
                        </a:rPr>
                        <a:t>6.48</a:t>
                      </a:r>
                      <a:endParaRPr lang="en-US" dirty="0"/>
                    </a:p>
                  </a:txBody>
                  <a:tcPr marL="75740" marR="75740" marT="37870" marB="37870"/>
                </a:tc>
                <a:extLst>
                  <a:ext uri="{0D108BD9-81ED-4DB2-BD59-A6C34878D82A}">
                    <a16:rowId xmlns:a16="http://schemas.microsoft.com/office/drawing/2014/main" val="202592625"/>
                  </a:ext>
                </a:extLst>
              </a:tr>
              <a:tr h="258091">
                <a:tc>
                  <a:txBody>
                    <a:bodyPr/>
                    <a:lstStyle/>
                    <a:p>
                      <a:pPr lvl="0">
                        <a:buNone/>
                      </a:pPr>
                      <a:r>
                        <a:rPr lang="en-US" sz="1200" dirty="0"/>
                        <a:t>Sep RPM</a:t>
                      </a:r>
                    </a:p>
                  </a:txBody>
                  <a:tcPr marL="75740" marR="75740" marT="37870" marB="37870"/>
                </a:tc>
                <a:tc>
                  <a:txBody>
                    <a:bodyPr/>
                    <a:lstStyle/>
                    <a:p>
                      <a:pPr lvl="0">
                        <a:buNone/>
                      </a:pPr>
                      <a:r>
                        <a:rPr lang="en-US" sz="1100" b="0" i="0" u="none" strike="noStrike" noProof="0" dirty="0">
                          <a:solidFill>
                            <a:srgbClr val="000000"/>
                          </a:solidFill>
                          <a:latin typeface="Calibri"/>
                        </a:rPr>
                        <a:t>0.25</a:t>
                      </a:r>
                    </a:p>
                  </a:txBody>
                  <a:tcPr marL="75740" marR="75740" marT="37870" marB="37870"/>
                </a:tc>
                <a:extLst>
                  <a:ext uri="{0D108BD9-81ED-4DB2-BD59-A6C34878D82A}">
                    <a16:rowId xmlns:a16="http://schemas.microsoft.com/office/drawing/2014/main" val="2742340269"/>
                  </a:ext>
                </a:extLst>
              </a:tr>
              <a:tr h="258091">
                <a:tc>
                  <a:txBody>
                    <a:bodyPr/>
                    <a:lstStyle/>
                    <a:p>
                      <a:pPr lvl="0">
                        <a:buNone/>
                      </a:pPr>
                      <a:r>
                        <a:rPr lang="en-US" sz="1200" dirty="0"/>
                        <a:t>Sep Amp</a:t>
                      </a:r>
                    </a:p>
                  </a:txBody>
                  <a:tcPr marL="75740" marR="75740" marT="37870" marB="37870"/>
                </a:tc>
                <a:tc>
                  <a:txBody>
                    <a:bodyPr/>
                    <a:lstStyle/>
                    <a:p>
                      <a:pPr lvl="0">
                        <a:buNone/>
                      </a:pPr>
                      <a:r>
                        <a:rPr lang="en-US" sz="1100" b="0" i="0" u="none" strike="noStrike" noProof="0" dirty="0">
                          <a:solidFill>
                            <a:srgbClr val="000000"/>
                          </a:solidFill>
                          <a:latin typeface="Calibri"/>
                        </a:rPr>
                        <a:t>0.99</a:t>
                      </a:r>
                    </a:p>
                  </a:txBody>
                  <a:tcPr marL="75740" marR="75740" marT="37870" marB="37870"/>
                </a:tc>
                <a:extLst>
                  <a:ext uri="{0D108BD9-81ED-4DB2-BD59-A6C34878D82A}">
                    <a16:rowId xmlns:a16="http://schemas.microsoft.com/office/drawing/2014/main" val="3422168162"/>
                  </a:ext>
                </a:extLst>
              </a:tr>
              <a:tr h="258091">
                <a:tc>
                  <a:txBody>
                    <a:bodyPr/>
                    <a:lstStyle/>
                    <a:p>
                      <a:pPr lvl="0">
                        <a:buNone/>
                      </a:pPr>
                      <a:r>
                        <a:rPr lang="en-US" sz="1200" dirty="0"/>
                        <a:t>CA fan RPM</a:t>
                      </a:r>
                    </a:p>
                  </a:txBody>
                  <a:tcPr marL="75740" marR="75740" marT="37870" marB="37870"/>
                </a:tc>
                <a:tc>
                  <a:txBody>
                    <a:bodyPr/>
                    <a:lstStyle/>
                    <a:p>
                      <a:pPr lvl="0">
                        <a:buNone/>
                      </a:pPr>
                      <a:r>
                        <a:rPr lang="en-US" sz="1100" b="0" i="0" u="none" strike="noStrike" noProof="0" dirty="0">
                          <a:solidFill>
                            <a:srgbClr val="000000"/>
                          </a:solidFill>
                          <a:latin typeface="Calibri"/>
                        </a:rPr>
                        <a:t>7.50</a:t>
                      </a:r>
                    </a:p>
                  </a:txBody>
                  <a:tcPr marL="75740" marR="75740" marT="37870" marB="37870"/>
                </a:tc>
                <a:extLst>
                  <a:ext uri="{0D108BD9-81ED-4DB2-BD59-A6C34878D82A}">
                    <a16:rowId xmlns:a16="http://schemas.microsoft.com/office/drawing/2014/main" val="1705678588"/>
                  </a:ext>
                </a:extLst>
              </a:tr>
              <a:tr h="258091">
                <a:tc>
                  <a:txBody>
                    <a:bodyPr/>
                    <a:lstStyle/>
                    <a:p>
                      <a:pPr lvl="0">
                        <a:buNone/>
                      </a:pPr>
                      <a:r>
                        <a:rPr lang="en-US" sz="1200" dirty="0"/>
                        <a:t>CA fan KW</a:t>
                      </a:r>
                    </a:p>
                  </a:txBody>
                  <a:tcPr marL="75740" marR="75740" marT="37870" marB="37870"/>
                </a:tc>
                <a:tc>
                  <a:txBody>
                    <a:bodyPr/>
                    <a:lstStyle/>
                    <a:p>
                      <a:pPr lvl="0">
                        <a:buNone/>
                      </a:pPr>
                      <a:r>
                        <a:rPr lang="en-US" sz="1100" b="0" i="0" u="none" strike="noStrike" noProof="0" dirty="0">
                          <a:solidFill>
                            <a:srgbClr val="000000"/>
                          </a:solidFill>
                          <a:latin typeface="Calibri"/>
                        </a:rPr>
                        <a:t>3.29</a:t>
                      </a:r>
                    </a:p>
                  </a:txBody>
                  <a:tcPr marL="75740" marR="75740" marT="37870" marB="37870"/>
                </a:tc>
                <a:extLst>
                  <a:ext uri="{0D108BD9-81ED-4DB2-BD59-A6C34878D82A}">
                    <a16:rowId xmlns:a16="http://schemas.microsoft.com/office/drawing/2014/main" val="590238892"/>
                  </a:ext>
                </a:extLst>
              </a:tr>
              <a:tr h="258091">
                <a:tc>
                  <a:txBody>
                    <a:bodyPr/>
                    <a:lstStyle/>
                    <a:p>
                      <a:pPr lvl="0">
                        <a:buNone/>
                      </a:pPr>
                      <a:r>
                        <a:rPr lang="en-US" sz="1200" dirty="0"/>
                        <a:t>Mill </a:t>
                      </a:r>
                      <a:r>
                        <a:rPr lang="en-US" sz="1200" err="1"/>
                        <a:t>folaphone</a:t>
                      </a:r>
                      <a:endParaRPr lang="en-US" sz="1200" dirty="0" err="1"/>
                    </a:p>
                  </a:txBody>
                  <a:tcPr marL="75740" marR="75740" marT="37870" marB="37870"/>
                </a:tc>
                <a:tc>
                  <a:txBody>
                    <a:bodyPr/>
                    <a:lstStyle/>
                    <a:p>
                      <a:pPr lvl="0">
                        <a:buNone/>
                      </a:pPr>
                      <a:r>
                        <a:rPr lang="en-US" sz="1100" b="0" i="0" u="none" strike="noStrike" noProof="0" dirty="0">
                          <a:solidFill>
                            <a:srgbClr val="000000"/>
                          </a:solidFill>
                          <a:latin typeface="Calibri"/>
                        </a:rPr>
                        <a:t>24.39</a:t>
                      </a:r>
                    </a:p>
                  </a:txBody>
                  <a:tcPr marL="75740" marR="75740" marT="37870" marB="37870"/>
                </a:tc>
                <a:extLst>
                  <a:ext uri="{0D108BD9-81ED-4DB2-BD59-A6C34878D82A}">
                    <a16:rowId xmlns:a16="http://schemas.microsoft.com/office/drawing/2014/main" val="3225505368"/>
                  </a:ext>
                </a:extLst>
              </a:tr>
              <a:tr h="258091">
                <a:tc>
                  <a:txBody>
                    <a:bodyPr/>
                    <a:lstStyle/>
                    <a:p>
                      <a:pPr lvl="0">
                        <a:buNone/>
                      </a:pPr>
                      <a:r>
                        <a:rPr lang="en-US" sz="1200" dirty="0"/>
                        <a:t>Mill O/L draft</a:t>
                      </a:r>
                    </a:p>
                  </a:txBody>
                  <a:tcPr marL="75740" marR="75740" marT="37870" marB="37870"/>
                </a:tc>
                <a:tc>
                  <a:txBody>
                    <a:bodyPr/>
                    <a:lstStyle/>
                    <a:p>
                      <a:pPr lvl="0">
                        <a:buNone/>
                      </a:pPr>
                      <a:r>
                        <a:rPr lang="en-US" sz="1100" b="0" i="0" u="none" strike="noStrike" noProof="0" dirty="0">
                          <a:solidFill>
                            <a:srgbClr val="000000"/>
                          </a:solidFill>
                          <a:latin typeface="Calibri"/>
                        </a:rPr>
                        <a:t>12.91</a:t>
                      </a:r>
                    </a:p>
                  </a:txBody>
                  <a:tcPr marL="75740" marR="75740" marT="37870" marB="37870"/>
                </a:tc>
                <a:extLst>
                  <a:ext uri="{0D108BD9-81ED-4DB2-BD59-A6C34878D82A}">
                    <a16:rowId xmlns:a16="http://schemas.microsoft.com/office/drawing/2014/main" val="2297694415"/>
                  </a:ext>
                </a:extLst>
              </a:tr>
              <a:tr h="258091">
                <a:tc>
                  <a:txBody>
                    <a:bodyPr/>
                    <a:lstStyle/>
                    <a:p>
                      <a:pPr lvl="0">
                        <a:buNone/>
                      </a:pPr>
                      <a:r>
                        <a:rPr lang="en-US" sz="1200" dirty="0"/>
                        <a:t>Sep vent I/L draft</a:t>
                      </a:r>
                    </a:p>
                  </a:txBody>
                  <a:tcPr marL="75740" marR="75740" marT="37870" marB="37870"/>
                </a:tc>
                <a:tc>
                  <a:txBody>
                    <a:bodyPr/>
                    <a:lstStyle/>
                    <a:p>
                      <a:pPr lvl="0">
                        <a:buNone/>
                      </a:pPr>
                      <a:r>
                        <a:rPr lang="en-US" sz="1100" b="0" i="0" u="none" strike="noStrike" noProof="0" dirty="0">
                          <a:solidFill>
                            <a:srgbClr val="000000"/>
                          </a:solidFill>
                          <a:latin typeface="Calibri"/>
                        </a:rPr>
                        <a:t>2.12</a:t>
                      </a:r>
                    </a:p>
                  </a:txBody>
                  <a:tcPr marL="75740" marR="75740" marT="37870" marB="37870"/>
                </a:tc>
                <a:extLst>
                  <a:ext uri="{0D108BD9-81ED-4DB2-BD59-A6C34878D82A}">
                    <a16:rowId xmlns:a16="http://schemas.microsoft.com/office/drawing/2014/main" val="3708314533"/>
                  </a:ext>
                </a:extLst>
              </a:tr>
              <a:tr h="258091">
                <a:tc>
                  <a:txBody>
                    <a:bodyPr/>
                    <a:lstStyle/>
                    <a:p>
                      <a:pPr lvl="0">
                        <a:buNone/>
                      </a:pPr>
                      <a:r>
                        <a:rPr lang="en-US" sz="1200" dirty="0"/>
                        <a:t>Sep vent O/L draft</a:t>
                      </a:r>
                    </a:p>
                  </a:txBody>
                  <a:tcPr marL="75740" marR="75740" marT="37870" marB="37870"/>
                </a:tc>
                <a:tc>
                  <a:txBody>
                    <a:bodyPr/>
                    <a:lstStyle/>
                    <a:p>
                      <a:pPr lvl="0">
                        <a:buNone/>
                      </a:pPr>
                      <a:r>
                        <a:rPr lang="en-US" sz="1100" b="0" i="0" u="none" strike="noStrike" noProof="0" dirty="0">
                          <a:solidFill>
                            <a:srgbClr val="000000"/>
                          </a:solidFill>
                          <a:latin typeface="Calibri"/>
                        </a:rPr>
                        <a:t>5.83</a:t>
                      </a:r>
                    </a:p>
                  </a:txBody>
                  <a:tcPr marL="75740" marR="75740" marT="37870" marB="37870"/>
                </a:tc>
                <a:extLst>
                  <a:ext uri="{0D108BD9-81ED-4DB2-BD59-A6C34878D82A}">
                    <a16:rowId xmlns:a16="http://schemas.microsoft.com/office/drawing/2014/main" val="1085392405"/>
                  </a:ext>
                </a:extLst>
              </a:tr>
              <a:tr h="258091">
                <a:tc>
                  <a:txBody>
                    <a:bodyPr/>
                    <a:lstStyle/>
                    <a:p>
                      <a:pPr lvl="0">
                        <a:buNone/>
                      </a:pPr>
                      <a:r>
                        <a:rPr lang="en-US" sz="1200" dirty="0"/>
                        <a:t>Sep vent bag filter fan KW</a:t>
                      </a:r>
                    </a:p>
                  </a:txBody>
                  <a:tcPr marL="75740" marR="75740" marT="37870" marB="37870"/>
                </a:tc>
                <a:tc>
                  <a:txBody>
                    <a:bodyPr/>
                    <a:lstStyle/>
                    <a:p>
                      <a:pPr lvl="0">
                        <a:buNone/>
                      </a:pPr>
                      <a:r>
                        <a:rPr lang="en-US" sz="1100" b="0" i="0" u="none" strike="noStrike" noProof="0" dirty="0">
                          <a:solidFill>
                            <a:srgbClr val="000000"/>
                          </a:solidFill>
                          <a:latin typeface="Calibri"/>
                        </a:rPr>
                        <a:t>3.79</a:t>
                      </a:r>
                    </a:p>
                  </a:txBody>
                  <a:tcPr marL="75740" marR="75740" marT="37870" marB="37870"/>
                </a:tc>
                <a:extLst>
                  <a:ext uri="{0D108BD9-81ED-4DB2-BD59-A6C34878D82A}">
                    <a16:rowId xmlns:a16="http://schemas.microsoft.com/office/drawing/2014/main" val="908598152"/>
                  </a:ext>
                </a:extLst>
              </a:tr>
              <a:tr h="258091">
                <a:tc>
                  <a:txBody>
                    <a:bodyPr/>
                    <a:lstStyle/>
                    <a:p>
                      <a:pPr lvl="0">
                        <a:buNone/>
                      </a:pPr>
                      <a:r>
                        <a:rPr lang="en-US" sz="1200" dirty="0"/>
                        <a:t>Sep vent bag filter fan RPM</a:t>
                      </a:r>
                    </a:p>
                  </a:txBody>
                  <a:tcPr marL="75740" marR="75740" marT="37870" marB="37870"/>
                </a:tc>
                <a:tc>
                  <a:txBody>
                    <a:bodyPr/>
                    <a:lstStyle/>
                    <a:p>
                      <a:pPr lvl="0">
                        <a:buNone/>
                      </a:pPr>
                      <a:r>
                        <a:rPr lang="en-US" sz="1100" b="0" i="0" u="none" strike="noStrike" noProof="0" dirty="0">
                          <a:solidFill>
                            <a:srgbClr val="000000"/>
                          </a:solidFill>
                          <a:latin typeface="Calibri"/>
                        </a:rPr>
                        <a:t>6.25</a:t>
                      </a:r>
                    </a:p>
                  </a:txBody>
                  <a:tcPr marL="75740" marR="75740" marT="37870" marB="37870"/>
                </a:tc>
                <a:extLst>
                  <a:ext uri="{0D108BD9-81ED-4DB2-BD59-A6C34878D82A}">
                    <a16:rowId xmlns:a16="http://schemas.microsoft.com/office/drawing/2014/main" val="2093645274"/>
                  </a:ext>
                </a:extLst>
              </a:tr>
              <a:tr h="258091">
                <a:tc>
                  <a:txBody>
                    <a:bodyPr/>
                    <a:lstStyle/>
                    <a:p>
                      <a:pPr lvl="0">
                        <a:buNone/>
                      </a:pPr>
                      <a:r>
                        <a:rPr lang="en-US" sz="1200" dirty="0"/>
                        <a:t>residue</a:t>
                      </a:r>
                    </a:p>
                  </a:txBody>
                  <a:tcPr marL="75740" marR="75740" marT="37870" marB="37870"/>
                </a:tc>
                <a:tc>
                  <a:txBody>
                    <a:bodyPr/>
                    <a:lstStyle/>
                    <a:p>
                      <a:pPr lvl="0">
                        <a:buNone/>
                      </a:pPr>
                      <a:r>
                        <a:rPr lang="en-US" sz="1100" b="0" i="0" u="none" strike="noStrike" noProof="0" dirty="0">
                          <a:solidFill>
                            <a:srgbClr val="000000"/>
                          </a:solidFill>
                          <a:latin typeface="Calibri"/>
                        </a:rPr>
                        <a:t>0.20</a:t>
                      </a:r>
                    </a:p>
                  </a:txBody>
                  <a:tcPr marL="75740" marR="75740" marT="37870" marB="37870"/>
                </a:tc>
                <a:extLst>
                  <a:ext uri="{0D108BD9-81ED-4DB2-BD59-A6C34878D82A}">
                    <a16:rowId xmlns:a16="http://schemas.microsoft.com/office/drawing/2014/main" val="4139344860"/>
                  </a:ext>
                </a:extLst>
              </a:tr>
            </a:tbl>
          </a:graphicData>
        </a:graphic>
      </p:graphicFrame>
    </p:spTree>
    <p:extLst>
      <p:ext uri="{BB962C8B-B14F-4D97-AF65-F5344CB8AC3E}">
        <p14:creationId xmlns:p14="http://schemas.microsoft.com/office/powerpoint/2010/main" val="84634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0"/>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r>
              <a:rPr lang="en-US" sz="3200" b="1" dirty="0">
                <a:latin typeface="Times New Roman"/>
                <a:cs typeface="Times New Roman"/>
                <a:sym typeface="Times New Roman"/>
              </a:rPr>
              <a:t>Histogram for each column before preprocessing</a:t>
            </a:r>
            <a:endParaRPr lang="en-US" sz="3200" b="1" dirty="0">
              <a:latin typeface="Times New Roman"/>
              <a:cs typeface="Times New Roman"/>
            </a:endParaRPr>
          </a:p>
        </p:txBody>
      </p:sp>
      <p:pic>
        <p:nvPicPr>
          <p:cNvPr id="306" name="Google Shape;306;p30"/>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307" name="Google Shape;307;p30"/>
          <p:cNvSpPr txBox="1"/>
          <p:nvPr/>
        </p:nvSpPr>
        <p:spPr>
          <a:xfrm>
            <a:off x="876300" y="1428750"/>
            <a:ext cx="10972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2" name="TextBox 1">
            <a:extLst>
              <a:ext uri="{FF2B5EF4-FFF2-40B4-BE49-F238E27FC236}">
                <a16:creationId xmlns:a16="http://schemas.microsoft.com/office/drawing/2014/main" id="{1A3820C4-A999-D8BB-368D-4033AEF4B7D8}"/>
              </a:ext>
            </a:extLst>
          </p:cNvPr>
          <p:cNvSpPr txBox="1"/>
          <p:nvPr/>
        </p:nvSpPr>
        <p:spPr>
          <a:xfrm>
            <a:off x="676775" y="1190624"/>
            <a:ext cx="106032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p:txBody>
      </p:sp>
      <p:pic>
        <p:nvPicPr>
          <p:cNvPr id="3" name="Picture 2">
            <a:extLst>
              <a:ext uri="{FF2B5EF4-FFF2-40B4-BE49-F238E27FC236}">
                <a16:creationId xmlns:a16="http://schemas.microsoft.com/office/drawing/2014/main" id="{CAAB1C58-8098-BAC3-E37E-7C64E7D76526}"/>
              </a:ext>
            </a:extLst>
          </p:cNvPr>
          <p:cNvPicPr>
            <a:picLocks noChangeAspect="1"/>
          </p:cNvPicPr>
          <p:nvPr/>
        </p:nvPicPr>
        <p:blipFill>
          <a:blip r:embed="rId4"/>
          <a:stretch>
            <a:fillRect/>
          </a:stretch>
        </p:blipFill>
        <p:spPr>
          <a:xfrm>
            <a:off x="141514" y="844839"/>
            <a:ext cx="2103808" cy="1737316"/>
          </a:xfrm>
          <a:prstGeom prst="rect">
            <a:avLst/>
          </a:prstGeom>
        </p:spPr>
      </p:pic>
      <p:pic>
        <p:nvPicPr>
          <p:cNvPr id="4" name="Picture 3">
            <a:extLst>
              <a:ext uri="{FF2B5EF4-FFF2-40B4-BE49-F238E27FC236}">
                <a16:creationId xmlns:a16="http://schemas.microsoft.com/office/drawing/2014/main" id="{FBCD7E44-2FAB-6E44-CE0D-6505EC239B37}"/>
              </a:ext>
            </a:extLst>
          </p:cNvPr>
          <p:cNvPicPr>
            <a:picLocks noChangeAspect="1"/>
          </p:cNvPicPr>
          <p:nvPr/>
        </p:nvPicPr>
        <p:blipFill>
          <a:blip r:embed="rId5"/>
          <a:stretch>
            <a:fillRect/>
          </a:stretch>
        </p:blipFill>
        <p:spPr>
          <a:xfrm>
            <a:off x="2245322" y="844839"/>
            <a:ext cx="2295454" cy="1737316"/>
          </a:xfrm>
          <a:prstGeom prst="rect">
            <a:avLst/>
          </a:prstGeom>
        </p:spPr>
      </p:pic>
      <p:pic>
        <p:nvPicPr>
          <p:cNvPr id="5" name="Picture 4">
            <a:extLst>
              <a:ext uri="{FF2B5EF4-FFF2-40B4-BE49-F238E27FC236}">
                <a16:creationId xmlns:a16="http://schemas.microsoft.com/office/drawing/2014/main" id="{79A79358-8EB4-1402-1F8B-CCC8E6F82A62}"/>
              </a:ext>
            </a:extLst>
          </p:cNvPr>
          <p:cNvPicPr>
            <a:picLocks noChangeAspect="1"/>
          </p:cNvPicPr>
          <p:nvPr/>
        </p:nvPicPr>
        <p:blipFill>
          <a:blip r:embed="rId6"/>
          <a:stretch>
            <a:fillRect/>
          </a:stretch>
        </p:blipFill>
        <p:spPr>
          <a:xfrm>
            <a:off x="4540774" y="824786"/>
            <a:ext cx="1890391" cy="1747342"/>
          </a:xfrm>
          <a:prstGeom prst="rect">
            <a:avLst/>
          </a:prstGeom>
        </p:spPr>
      </p:pic>
      <p:pic>
        <p:nvPicPr>
          <p:cNvPr id="6" name="Picture 5">
            <a:extLst>
              <a:ext uri="{FF2B5EF4-FFF2-40B4-BE49-F238E27FC236}">
                <a16:creationId xmlns:a16="http://schemas.microsoft.com/office/drawing/2014/main" id="{AF913774-21FD-81B0-9794-DBCEEFA00F58}"/>
              </a:ext>
            </a:extLst>
          </p:cNvPr>
          <p:cNvPicPr>
            <a:picLocks noChangeAspect="1"/>
          </p:cNvPicPr>
          <p:nvPr/>
        </p:nvPicPr>
        <p:blipFill>
          <a:blip r:embed="rId7"/>
          <a:stretch>
            <a:fillRect/>
          </a:stretch>
        </p:blipFill>
        <p:spPr>
          <a:xfrm>
            <a:off x="6421139" y="844839"/>
            <a:ext cx="1878074" cy="1727290"/>
          </a:xfrm>
          <a:prstGeom prst="rect">
            <a:avLst/>
          </a:prstGeom>
        </p:spPr>
      </p:pic>
      <p:pic>
        <p:nvPicPr>
          <p:cNvPr id="7" name="Picture 6">
            <a:extLst>
              <a:ext uri="{FF2B5EF4-FFF2-40B4-BE49-F238E27FC236}">
                <a16:creationId xmlns:a16="http://schemas.microsoft.com/office/drawing/2014/main" id="{F3FE2314-8D56-674B-8F74-1648E148D2F9}"/>
              </a:ext>
            </a:extLst>
          </p:cNvPr>
          <p:cNvPicPr>
            <a:picLocks noChangeAspect="1"/>
          </p:cNvPicPr>
          <p:nvPr/>
        </p:nvPicPr>
        <p:blipFill>
          <a:blip r:embed="rId8"/>
          <a:stretch>
            <a:fillRect/>
          </a:stretch>
        </p:blipFill>
        <p:spPr>
          <a:xfrm>
            <a:off x="8309238" y="837959"/>
            <a:ext cx="1965446" cy="1750215"/>
          </a:xfrm>
          <a:prstGeom prst="rect">
            <a:avLst/>
          </a:prstGeom>
        </p:spPr>
      </p:pic>
      <p:pic>
        <p:nvPicPr>
          <p:cNvPr id="8" name="Picture 7" descr="A graph with numbers and lines&#10;&#10;Description automatically generated">
            <a:extLst>
              <a:ext uri="{FF2B5EF4-FFF2-40B4-BE49-F238E27FC236}">
                <a16:creationId xmlns:a16="http://schemas.microsoft.com/office/drawing/2014/main" id="{30A144B3-0FFE-139E-159D-66E2B91CF831}"/>
              </a:ext>
            </a:extLst>
          </p:cNvPr>
          <p:cNvPicPr>
            <a:picLocks noChangeAspect="1"/>
          </p:cNvPicPr>
          <p:nvPr/>
        </p:nvPicPr>
        <p:blipFill>
          <a:blip r:embed="rId9"/>
          <a:stretch>
            <a:fillRect/>
          </a:stretch>
        </p:blipFill>
        <p:spPr>
          <a:xfrm>
            <a:off x="10276974" y="821327"/>
            <a:ext cx="1898985" cy="1702983"/>
          </a:xfrm>
          <a:prstGeom prst="rect">
            <a:avLst/>
          </a:prstGeom>
        </p:spPr>
      </p:pic>
      <p:pic>
        <p:nvPicPr>
          <p:cNvPr id="9" name="Picture 8" descr="A graph of a graph&#10;&#10;Description automatically generated">
            <a:extLst>
              <a:ext uri="{FF2B5EF4-FFF2-40B4-BE49-F238E27FC236}">
                <a16:creationId xmlns:a16="http://schemas.microsoft.com/office/drawing/2014/main" id="{6639C9F3-E899-59B6-DE59-49C1C3E6D8FB}"/>
              </a:ext>
            </a:extLst>
          </p:cNvPr>
          <p:cNvPicPr>
            <a:picLocks noChangeAspect="1"/>
          </p:cNvPicPr>
          <p:nvPr/>
        </p:nvPicPr>
        <p:blipFill>
          <a:blip r:embed="rId10"/>
          <a:stretch>
            <a:fillRect/>
          </a:stretch>
        </p:blipFill>
        <p:spPr>
          <a:xfrm>
            <a:off x="4011" y="2463946"/>
            <a:ext cx="2106387" cy="1666273"/>
          </a:xfrm>
          <a:prstGeom prst="rect">
            <a:avLst/>
          </a:prstGeom>
        </p:spPr>
      </p:pic>
      <p:pic>
        <p:nvPicPr>
          <p:cNvPr id="10" name="Picture 9" descr="A graph of a graph&#10;&#10;Description automatically generated">
            <a:extLst>
              <a:ext uri="{FF2B5EF4-FFF2-40B4-BE49-F238E27FC236}">
                <a16:creationId xmlns:a16="http://schemas.microsoft.com/office/drawing/2014/main" id="{6B64D681-7E60-BFEF-A350-554A6432EE49}"/>
              </a:ext>
            </a:extLst>
          </p:cNvPr>
          <p:cNvPicPr>
            <a:picLocks noChangeAspect="1"/>
          </p:cNvPicPr>
          <p:nvPr/>
        </p:nvPicPr>
        <p:blipFill>
          <a:blip r:embed="rId11"/>
          <a:stretch>
            <a:fillRect/>
          </a:stretch>
        </p:blipFill>
        <p:spPr>
          <a:xfrm>
            <a:off x="2110395" y="2524105"/>
            <a:ext cx="2008415" cy="1586062"/>
          </a:xfrm>
          <a:prstGeom prst="rect">
            <a:avLst/>
          </a:prstGeom>
        </p:spPr>
      </p:pic>
      <p:pic>
        <p:nvPicPr>
          <p:cNvPr id="11" name="Picture 10">
            <a:extLst>
              <a:ext uri="{FF2B5EF4-FFF2-40B4-BE49-F238E27FC236}">
                <a16:creationId xmlns:a16="http://schemas.microsoft.com/office/drawing/2014/main" id="{3B95A30F-1F8F-CF83-A342-9A6E0AA0E434}"/>
              </a:ext>
            </a:extLst>
          </p:cNvPr>
          <p:cNvPicPr>
            <a:picLocks noChangeAspect="1"/>
          </p:cNvPicPr>
          <p:nvPr/>
        </p:nvPicPr>
        <p:blipFill>
          <a:blip r:embed="rId12"/>
          <a:stretch>
            <a:fillRect/>
          </a:stretch>
        </p:blipFill>
        <p:spPr>
          <a:xfrm>
            <a:off x="4128837" y="2529624"/>
            <a:ext cx="2021306" cy="1592211"/>
          </a:xfrm>
          <a:prstGeom prst="rect">
            <a:avLst/>
          </a:prstGeom>
        </p:spPr>
      </p:pic>
      <p:pic>
        <p:nvPicPr>
          <p:cNvPr id="12" name="Picture 11" descr="A graph of a mill vent&#10;&#10;Description automatically generated">
            <a:extLst>
              <a:ext uri="{FF2B5EF4-FFF2-40B4-BE49-F238E27FC236}">
                <a16:creationId xmlns:a16="http://schemas.microsoft.com/office/drawing/2014/main" id="{4D7DDB1F-99C4-35F6-9EA3-E2BE033C830E}"/>
              </a:ext>
            </a:extLst>
          </p:cNvPr>
          <p:cNvPicPr>
            <a:picLocks noChangeAspect="1"/>
          </p:cNvPicPr>
          <p:nvPr/>
        </p:nvPicPr>
        <p:blipFill>
          <a:blip r:embed="rId13"/>
          <a:stretch>
            <a:fillRect/>
          </a:stretch>
        </p:blipFill>
        <p:spPr>
          <a:xfrm>
            <a:off x="6140116" y="2420112"/>
            <a:ext cx="2011281" cy="1700943"/>
          </a:xfrm>
          <a:prstGeom prst="rect">
            <a:avLst/>
          </a:prstGeom>
        </p:spPr>
      </p:pic>
      <p:pic>
        <p:nvPicPr>
          <p:cNvPr id="13" name="Picture 12" descr="A graph of a person&#10;&#10;Description automatically generated">
            <a:extLst>
              <a:ext uri="{FF2B5EF4-FFF2-40B4-BE49-F238E27FC236}">
                <a16:creationId xmlns:a16="http://schemas.microsoft.com/office/drawing/2014/main" id="{5EB37B79-0CDC-E92B-BD77-4A772FC356BE}"/>
              </a:ext>
            </a:extLst>
          </p:cNvPr>
          <p:cNvPicPr>
            <a:picLocks noChangeAspect="1"/>
          </p:cNvPicPr>
          <p:nvPr/>
        </p:nvPicPr>
        <p:blipFill>
          <a:blip r:embed="rId14"/>
          <a:stretch>
            <a:fillRect/>
          </a:stretch>
        </p:blipFill>
        <p:spPr>
          <a:xfrm>
            <a:off x="8153400" y="2418967"/>
            <a:ext cx="2011280" cy="1709250"/>
          </a:xfrm>
          <a:prstGeom prst="rect">
            <a:avLst/>
          </a:prstGeom>
        </p:spPr>
      </p:pic>
      <p:pic>
        <p:nvPicPr>
          <p:cNvPr id="14" name="Picture 13" descr="A graph of a mill vent&#10;&#10;Description automatically generated">
            <a:extLst>
              <a:ext uri="{FF2B5EF4-FFF2-40B4-BE49-F238E27FC236}">
                <a16:creationId xmlns:a16="http://schemas.microsoft.com/office/drawing/2014/main" id="{192CB246-449F-0B60-7517-EDFA3A33EA5A}"/>
              </a:ext>
            </a:extLst>
          </p:cNvPr>
          <p:cNvPicPr>
            <a:picLocks noChangeAspect="1"/>
          </p:cNvPicPr>
          <p:nvPr/>
        </p:nvPicPr>
        <p:blipFill>
          <a:blip r:embed="rId15"/>
          <a:stretch>
            <a:fillRect/>
          </a:stretch>
        </p:blipFill>
        <p:spPr>
          <a:xfrm>
            <a:off x="10168690" y="2414960"/>
            <a:ext cx="2001254" cy="1717263"/>
          </a:xfrm>
          <a:prstGeom prst="rect">
            <a:avLst/>
          </a:prstGeom>
        </p:spPr>
      </p:pic>
      <p:pic>
        <p:nvPicPr>
          <p:cNvPr id="15" name="Picture 14" descr="A graph of a mill vent&#10;&#10;Description automatically generated">
            <a:extLst>
              <a:ext uri="{FF2B5EF4-FFF2-40B4-BE49-F238E27FC236}">
                <a16:creationId xmlns:a16="http://schemas.microsoft.com/office/drawing/2014/main" id="{1B59957A-386D-3A03-2FD5-BA9931F1EB46}"/>
              </a:ext>
            </a:extLst>
          </p:cNvPr>
          <p:cNvPicPr>
            <a:picLocks noChangeAspect="1"/>
          </p:cNvPicPr>
          <p:nvPr/>
        </p:nvPicPr>
        <p:blipFill>
          <a:blip r:embed="rId16"/>
          <a:stretch>
            <a:fillRect/>
          </a:stretch>
        </p:blipFill>
        <p:spPr>
          <a:xfrm>
            <a:off x="2005" y="4119434"/>
            <a:ext cx="2231859" cy="1657106"/>
          </a:xfrm>
          <a:prstGeom prst="rect">
            <a:avLst/>
          </a:prstGeom>
        </p:spPr>
      </p:pic>
      <p:pic>
        <p:nvPicPr>
          <p:cNvPr id="16" name="Picture 15">
            <a:extLst>
              <a:ext uri="{FF2B5EF4-FFF2-40B4-BE49-F238E27FC236}">
                <a16:creationId xmlns:a16="http://schemas.microsoft.com/office/drawing/2014/main" id="{024FECAC-7B24-69AE-13C6-8991E5A383AD}"/>
              </a:ext>
            </a:extLst>
          </p:cNvPr>
          <p:cNvPicPr>
            <a:picLocks noChangeAspect="1"/>
          </p:cNvPicPr>
          <p:nvPr/>
        </p:nvPicPr>
        <p:blipFill>
          <a:blip r:embed="rId17"/>
          <a:stretch>
            <a:fillRect/>
          </a:stretch>
        </p:blipFill>
        <p:spPr>
          <a:xfrm>
            <a:off x="2247900" y="4119433"/>
            <a:ext cx="2231859" cy="1496685"/>
          </a:xfrm>
          <a:prstGeom prst="rect">
            <a:avLst/>
          </a:prstGeom>
        </p:spPr>
      </p:pic>
      <p:pic>
        <p:nvPicPr>
          <p:cNvPr id="17" name="Picture 16">
            <a:extLst>
              <a:ext uri="{FF2B5EF4-FFF2-40B4-BE49-F238E27FC236}">
                <a16:creationId xmlns:a16="http://schemas.microsoft.com/office/drawing/2014/main" id="{DBE20372-8627-CDC1-626E-346F99F544A6}"/>
              </a:ext>
            </a:extLst>
          </p:cNvPr>
          <p:cNvPicPr>
            <a:picLocks noChangeAspect="1"/>
          </p:cNvPicPr>
          <p:nvPr/>
        </p:nvPicPr>
        <p:blipFill>
          <a:blip r:embed="rId18"/>
          <a:stretch>
            <a:fillRect/>
          </a:stretch>
        </p:blipFill>
        <p:spPr>
          <a:xfrm>
            <a:off x="4543926" y="4119434"/>
            <a:ext cx="1820780" cy="1496684"/>
          </a:xfrm>
          <a:prstGeom prst="rect">
            <a:avLst/>
          </a:prstGeom>
        </p:spPr>
      </p:pic>
      <p:pic>
        <p:nvPicPr>
          <p:cNvPr id="18" name="Picture 17">
            <a:extLst>
              <a:ext uri="{FF2B5EF4-FFF2-40B4-BE49-F238E27FC236}">
                <a16:creationId xmlns:a16="http://schemas.microsoft.com/office/drawing/2014/main" id="{068BFF79-7BA7-7A77-730E-445B127015FB}"/>
              </a:ext>
            </a:extLst>
          </p:cNvPr>
          <p:cNvPicPr>
            <a:picLocks noChangeAspect="1"/>
          </p:cNvPicPr>
          <p:nvPr/>
        </p:nvPicPr>
        <p:blipFill>
          <a:blip r:embed="rId19"/>
          <a:stretch>
            <a:fillRect/>
          </a:stretch>
        </p:blipFill>
        <p:spPr>
          <a:xfrm>
            <a:off x="6428874" y="4138050"/>
            <a:ext cx="2011280" cy="1489533"/>
          </a:xfrm>
          <a:prstGeom prst="rect">
            <a:avLst/>
          </a:prstGeom>
        </p:spPr>
      </p:pic>
      <p:pic>
        <p:nvPicPr>
          <p:cNvPr id="19" name="Picture 18" descr="A graph of a normal distribution&#10;&#10;Description automatically generated">
            <a:extLst>
              <a:ext uri="{FF2B5EF4-FFF2-40B4-BE49-F238E27FC236}">
                <a16:creationId xmlns:a16="http://schemas.microsoft.com/office/drawing/2014/main" id="{1DD17D28-F53D-652E-ED8F-1154F707D254}"/>
              </a:ext>
            </a:extLst>
          </p:cNvPr>
          <p:cNvPicPr>
            <a:picLocks noChangeAspect="1"/>
          </p:cNvPicPr>
          <p:nvPr/>
        </p:nvPicPr>
        <p:blipFill>
          <a:blip r:embed="rId20"/>
          <a:stretch>
            <a:fillRect/>
          </a:stretch>
        </p:blipFill>
        <p:spPr>
          <a:xfrm>
            <a:off x="8444163" y="4129461"/>
            <a:ext cx="1961148" cy="1536790"/>
          </a:xfrm>
          <a:prstGeom prst="rect">
            <a:avLst/>
          </a:prstGeom>
        </p:spPr>
      </p:pic>
      <p:pic>
        <p:nvPicPr>
          <p:cNvPr id="20" name="Picture 19" descr="A graph of a person&#10;&#10;Description automatically generated">
            <a:extLst>
              <a:ext uri="{FF2B5EF4-FFF2-40B4-BE49-F238E27FC236}">
                <a16:creationId xmlns:a16="http://schemas.microsoft.com/office/drawing/2014/main" id="{DEF7EF47-B855-44B6-29A0-8528E06475EE}"/>
              </a:ext>
            </a:extLst>
          </p:cNvPr>
          <p:cNvPicPr>
            <a:picLocks noChangeAspect="1"/>
          </p:cNvPicPr>
          <p:nvPr/>
        </p:nvPicPr>
        <p:blipFill>
          <a:blip r:embed="rId21"/>
          <a:stretch>
            <a:fillRect/>
          </a:stretch>
        </p:blipFill>
        <p:spPr>
          <a:xfrm>
            <a:off x="10409321" y="4133467"/>
            <a:ext cx="1810754" cy="15889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F956D8-7ED7-C220-C18B-72465C233830}"/>
              </a:ext>
            </a:extLst>
          </p:cNvPr>
          <p:cNvPicPr>
            <a:picLocks noChangeAspect="1"/>
          </p:cNvPicPr>
          <p:nvPr/>
        </p:nvPicPr>
        <p:blipFill>
          <a:blip r:embed="rId2"/>
          <a:stretch>
            <a:fillRect/>
          </a:stretch>
        </p:blipFill>
        <p:spPr>
          <a:xfrm>
            <a:off x="152400" y="290219"/>
            <a:ext cx="2743200" cy="1805825"/>
          </a:xfrm>
          <a:prstGeom prst="rect">
            <a:avLst/>
          </a:prstGeom>
        </p:spPr>
      </p:pic>
      <p:pic>
        <p:nvPicPr>
          <p:cNvPr id="4" name="Picture 3" descr="A graph of a number of objects&#10;&#10;Description automatically generated">
            <a:extLst>
              <a:ext uri="{FF2B5EF4-FFF2-40B4-BE49-F238E27FC236}">
                <a16:creationId xmlns:a16="http://schemas.microsoft.com/office/drawing/2014/main" id="{C90B7EC6-964A-2B39-31CA-105F521E7180}"/>
              </a:ext>
            </a:extLst>
          </p:cNvPr>
          <p:cNvPicPr>
            <a:picLocks noChangeAspect="1"/>
          </p:cNvPicPr>
          <p:nvPr/>
        </p:nvPicPr>
        <p:blipFill>
          <a:blip r:embed="rId3"/>
          <a:stretch>
            <a:fillRect/>
          </a:stretch>
        </p:blipFill>
        <p:spPr>
          <a:xfrm>
            <a:off x="2899893" y="262127"/>
            <a:ext cx="2743200" cy="1847605"/>
          </a:xfrm>
          <a:prstGeom prst="rect">
            <a:avLst/>
          </a:prstGeom>
        </p:spPr>
      </p:pic>
      <p:pic>
        <p:nvPicPr>
          <p:cNvPr id="5" name="Picture 4">
            <a:extLst>
              <a:ext uri="{FF2B5EF4-FFF2-40B4-BE49-F238E27FC236}">
                <a16:creationId xmlns:a16="http://schemas.microsoft.com/office/drawing/2014/main" id="{1BF51CA0-3159-AE6C-F030-7B0471E8DEFB}"/>
              </a:ext>
            </a:extLst>
          </p:cNvPr>
          <p:cNvPicPr>
            <a:picLocks noChangeAspect="1"/>
          </p:cNvPicPr>
          <p:nvPr/>
        </p:nvPicPr>
        <p:blipFill>
          <a:blip r:embed="rId4"/>
          <a:stretch>
            <a:fillRect/>
          </a:stretch>
        </p:blipFill>
        <p:spPr>
          <a:xfrm>
            <a:off x="5647386" y="262127"/>
            <a:ext cx="2743200" cy="1847605"/>
          </a:xfrm>
          <a:prstGeom prst="rect">
            <a:avLst/>
          </a:prstGeom>
        </p:spPr>
      </p:pic>
      <p:pic>
        <p:nvPicPr>
          <p:cNvPr id="6" name="Picture 5" descr="A graph of a graph&#10;&#10;Description automatically generated">
            <a:extLst>
              <a:ext uri="{FF2B5EF4-FFF2-40B4-BE49-F238E27FC236}">
                <a16:creationId xmlns:a16="http://schemas.microsoft.com/office/drawing/2014/main" id="{04CCF39B-3458-7E45-F11A-E12774AF6738}"/>
              </a:ext>
            </a:extLst>
          </p:cNvPr>
          <p:cNvPicPr>
            <a:picLocks noChangeAspect="1"/>
          </p:cNvPicPr>
          <p:nvPr/>
        </p:nvPicPr>
        <p:blipFill>
          <a:blip r:embed="rId5"/>
          <a:stretch>
            <a:fillRect/>
          </a:stretch>
        </p:blipFill>
        <p:spPr>
          <a:xfrm>
            <a:off x="8394879" y="262127"/>
            <a:ext cx="2743200" cy="1847605"/>
          </a:xfrm>
          <a:prstGeom prst="rect">
            <a:avLst/>
          </a:prstGeom>
        </p:spPr>
      </p:pic>
      <p:pic>
        <p:nvPicPr>
          <p:cNvPr id="7" name="Picture 6">
            <a:extLst>
              <a:ext uri="{FF2B5EF4-FFF2-40B4-BE49-F238E27FC236}">
                <a16:creationId xmlns:a16="http://schemas.microsoft.com/office/drawing/2014/main" id="{20557E17-5363-EE07-BCF2-B1C8068DFC7F}"/>
              </a:ext>
            </a:extLst>
          </p:cNvPr>
          <p:cNvPicPr>
            <a:picLocks noChangeAspect="1"/>
          </p:cNvPicPr>
          <p:nvPr/>
        </p:nvPicPr>
        <p:blipFill>
          <a:blip r:embed="rId6"/>
          <a:stretch>
            <a:fillRect/>
          </a:stretch>
        </p:blipFill>
        <p:spPr>
          <a:xfrm>
            <a:off x="98738" y="2122131"/>
            <a:ext cx="2743200" cy="1819540"/>
          </a:xfrm>
          <a:prstGeom prst="rect">
            <a:avLst/>
          </a:prstGeom>
        </p:spPr>
      </p:pic>
      <p:pic>
        <p:nvPicPr>
          <p:cNvPr id="8" name="Picture 7" descr="A graph of a graph&#10;&#10;Description automatically generated">
            <a:extLst>
              <a:ext uri="{FF2B5EF4-FFF2-40B4-BE49-F238E27FC236}">
                <a16:creationId xmlns:a16="http://schemas.microsoft.com/office/drawing/2014/main" id="{97E68B2E-EAAB-C1DE-D0F0-66B3EBE75847}"/>
              </a:ext>
            </a:extLst>
          </p:cNvPr>
          <p:cNvPicPr>
            <a:picLocks noChangeAspect="1"/>
          </p:cNvPicPr>
          <p:nvPr/>
        </p:nvPicPr>
        <p:blipFill>
          <a:blip r:embed="rId7"/>
          <a:stretch>
            <a:fillRect/>
          </a:stretch>
        </p:blipFill>
        <p:spPr>
          <a:xfrm>
            <a:off x="2899893" y="2122131"/>
            <a:ext cx="2743200" cy="1819540"/>
          </a:xfrm>
          <a:prstGeom prst="rect">
            <a:avLst/>
          </a:prstGeom>
        </p:spPr>
      </p:pic>
      <p:pic>
        <p:nvPicPr>
          <p:cNvPr id="9" name="Picture 8" descr="A graph of a vent filter&#10;&#10;Description automatically generated">
            <a:extLst>
              <a:ext uri="{FF2B5EF4-FFF2-40B4-BE49-F238E27FC236}">
                <a16:creationId xmlns:a16="http://schemas.microsoft.com/office/drawing/2014/main" id="{F38910E3-7DB6-5DE7-B8DB-18BA70DC444A}"/>
              </a:ext>
            </a:extLst>
          </p:cNvPr>
          <p:cNvPicPr>
            <a:picLocks noChangeAspect="1"/>
          </p:cNvPicPr>
          <p:nvPr/>
        </p:nvPicPr>
        <p:blipFill>
          <a:blip r:embed="rId8"/>
          <a:stretch>
            <a:fillRect/>
          </a:stretch>
        </p:blipFill>
        <p:spPr>
          <a:xfrm>
            <a:off x="5690315" y="2089934"/>
            <a:ext cx="2743200" cy="1819540"/>
          </a:xfrm>
          <a:prstGeom prst="rect">
            <a:avLst/>
          </a:prstGeom>
        </p:spPr>
      </p:pic>
      <p:pic>
        <p:nvPicPr>
          <p:cNvPr id="10" name="Picture 9" descr="A graph of a ventilator&#10;&#10;Description automatically generated">
            <a:extLst>
              <a:ext uri="{FF2B5EF4-FFF2-40B4-BE49-F238E27FC236}">
                <a16:creationId xmlns:a16="http://schemas.microsoft.com/office/drawing/2014/main" id="{589D82D7-9493-36BC-0534-F82DCA8BE91E}"/>
              </a:ext>
            </a:extLst>
          </p:cNvPr>
          <p:cNvPicPr>
            <a:picLocks noChangeAspect="1"/>
          </p:cNvPicPr>
          <p:nvPr/>
        </p:nvPicPr>
        <p:blipFill>
          <a:blip r:embed="rId9"/>
          <a:stretch>
            <a:fillRect/>
          </a:stretch>
        </p:blipFill>
        <p:spPr>
          <a:xfrm>
            <a:off x="8437808" y="2089934"/>
            <a:ext cx="2743200" cy="1819540"/>
          </a:xfrm>
          <a:prstGeom prst="rect">
            <a:avLst/>
          </a:prstGeom>
        </p:spPr>
      </p:pic>
      <p:pic>
        <p:nvPicPr>
          <p:cNvPr id="11" name="Picture 10" descr="A graph of a number of blue bars&#10;&#10;Description automatically generated">
            <a:extLst>
              <a:ext uri="{FF2B5EF4-FFF2-40B4-BE49-F238E27FC236}">
                <a16:creationId xmlns:a16="http://schemas.microsoft.com/office/drawing/2014/main" id="{F8B46129-3C43-E0DD-B125-DE05A81BFEF2}"/>
              </a:ext>
            </a:extLst>
          </p:cNvPr>
          <p:cNvPicPr>
            <a:picLocks noChangeAspect="1"/>
          </p:cNvPicPr>
          <p:nvPr/>
        </p:nvPicPr>
        <p:blipFill>
          <a:blip r:embed="rId10"/>
          <a:stretch>
            <a:fillRect/>
          </a:stretch>
        </p:blipFill>
        <p:spPr>
          <a:xfrm>
            <a:off x="98738" y="3933224"/>
            <a:ext cx="2743200" cy="1932228"/>
          </a:xfrm>
          <a:prstGeom prst="rect">
            <a:avLst/>
          </a:prstGeom>
        </p:spPr>
      </p:pic>
    </p:spTree>
    <p:extLst>
      <p:ext uri="{BB962C8B-B14F-4D97-AF65-F5344CB8AC3E}">
        <p14:creationId xmlns:p14="http://schemas.microsoft.com/office/powerpoint/2010/main" val="3684469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23c7840ddab_0_47"/>
          <p:cNvSpPr txBox="1">
            <a:spLocks noGrp="1"/>
          </p:cNvSpPr>
          <p:nvPr>
            <p:ph type="title"/>
          </p:nvPr>
        </p:nvSpPr>
        <p:spPr>
          <a:xfrm>
            <a:off x="228600" y="184714"/>
            <a:ext cx="10515600" cy="521700"/>
          </a:xfrm>
          <a:prstGeom prst="rect">
            <a:avLst/>
          </a:prstGeom>
        </p:spPr>
        <p:txBody>
          <a:bodyPr spcFirstLastPara="1" wrap="square" lIns="91400" tIns="45675" rIns="91400" bIns="45675" anchor="ctr" anchorCtr="0">
            <a:spAutoFit/>
          </a:bodyPr>
          <a:lstStyle/>
          <a:p>
            <a:r>
              <a:rPr lang="en-US" b="1" dirty="0"/>
              <a:t>Boxplot to detect outliers</a:t>
            </a:r>
            <a:r>
              <a:rPr lang="en-US" dirty="0"/>
              <a:t> </a:t>
            </a:r>
          </a:p>
        </p:txBody>
      </p:sp>
      <p:pic>
        <p:nvPicPr>
          <p:cNvPr id="2" name="Picture 1">
            <a:extLst>
              <a:ext uri="{FF2B5EF4-FFF2-40B4-BE49-F238E27FC236}">
                <a16:creationId xmlns:a16="http://schemas.microsoft.com/office/drawing/2014/main" id="{3ACBD0AE-3020-2EFF-1493-8420C469EFCF}"/>
              </a:ext>
            </a:extLst>
          </p:cNvPr>
          <p:cNvPicPr>
            <a:picLocks noChangeAspect="1"/>
          </p:cNvPicPr>
          <p:nvPr/>
        </p:nvPicPr>
        <p:blipFill>
          <a:blip r:embed="rId3"/>
          <a:stretch>
            <a:fillRect/>
          </a:stretch>
        </p:blipFill>
        <p:spPr>
          <a:xfrm>
            <a:off x="62163" y="847520"/>
            <a:ext cx="2157296" cy="1776424"/>
          </a:xfrm>
          <a:prstGeom prst="rect">
            <a:avLst/>
          </a:prstGeom>
        </p:spPr>
      </p:pic>
      <p:pic>
        <p:nvPicPr>
          <p:cNvPr id="3" name="Picture 2">
            <a:extLst>
              <a:ext uri="{FF2B5EF4-FFF2-40B4-BE49-F238E27FC236}">
                <a16:creationId xmlns:a16="http://schemas.microsoft.com/office/drawing/2014/main" id="{9C6C550A-1288-E304-7A33-04EEB969430D}"/>
              </a:ext>
            </a:extLst>
          </p:cNvPr>
          <p:cNvPicPr>
            <a:picLocks noChangeAspect="1"/>
          </p:cNvPicPr>
          <p:nvPr/>
        </p:nvPicPr>
        <p:blipFill>
          <a:blip r:embed="rId4"/>
          <a:stretch>
            <a:fillRect/>
          </a:stretch>
        </p:blipFill>
        <p:spPr>
          <a:xfrm>
            <a:off x="2374703" y="785477"/>
            <a:ext cx="2120722" cy="1831689"/>
          </a:xfrm>
          <a:prstGeom prst="rect">
            <a:avLst/>
          </a:prstGeom>
        </p:spPr>
      </p:pic>
      <p:pic>
        <p:nvPicPr>
          <p:cNvPr id="4" name="Picture 3" descr="A graph with lines and a square&#10;&#10;Description automatically generated">
            <a:extLst>
              <a:ext uri="{FF2B5EF4-FFF2-40B4-BE49-F238E27FC236}">
                <a16:creationId xmlns:a16="http://schemas.microsoft.com/office/drawing/2014/main" id="{7B90490F-C248-A25E-49F5-074A4D11E5BE}"/>
              </a:ext>
            </a:extLst>
          </p:cNvPr>
          <p:cNvPicPr>
            <a:picLocks noChangeAspect="1"/>
          </p:cNvPicPr>
          <p:nvPr/>
        </p:nvPicPr>
        <p:blipFill>
          <a:blip r:embed="rId5"/>
          <a:stretch>
            <a:fillRect/>
          </a:stretch>
        </p:blipFill>
        <p:spPr>
          <a:xfrm>
            <a:off x="4585037" y="775005"/>
            <a:ext cx="2152919" cy="1836060"/>
          </a:xfrm>
          <a:prstGeom prst="rect">
            <a:avLst/>
          </a:prstGeom>
        </p:spPr>
      </p:pic>
      <p:pic>
        <p:nvPicPr>
          <p:cNvPr id="5" name="Picture 4" descr="A diagram of a graph&#10;&#10;Description automatically generated">
            <a:extLst>
              <a:ext uri="{FF2B5EF4-FFF2-40B4-BE49-F238E27FC236}">
                <a16:creationId xmlns:a16="http://schemas.microsoft.com/office/drawing/2014/main" id="{AF6ACC6E-B1F3-0DEE-496A-268BB5788C6F}"/>
              </a:ext>
            </a:extLst>
          </p:cNvPr>
          <p:cNvPicPr>
            <a:picLocks noChangeAspect="1"/>
          </p:cNvPicPr>
          <p:nvPr/>
        </p:nvPicPr>
        <p:blipFill>
          <a:blip r:embed="rId6"/>
          <a:stretch>
            <a:fillRect/>
          </a:stretch>
        </p:blipFill>
        <p:spPr>
          <a:xfrm>
            <a:off x="6897236" y="798210"/>
            <a:ext cx="2088524" cy="1834474"/>
          </a:xfrm>
          <a:prstGeom prst="rect">
            <a:avLst/>
          </a:prstGeom>
        </p:spPr>
      </p:pic>
      <p:pic>
        <p:nvPicPr>
          <p:cNvPr id="6" name="Picture 5">
            <a:extLst>
              <a:ext uri="{FF2B5EF4-FFF2-40B4-BE49-F238E27FC236}">
                <a16:creationId xmlns:a16="http://schemas.microsoft.com/office/drawing/2014/main" id="{EA6CA10F-3AB2-3D82-E064-51C962BC368B}"/>
              </a:ext>
            </a:extLst>
          </p:cNvPr>
          <p:cNvPicPr>
            <a:picLocks noChangeAspect="1"/>
          </p:cNvPicPr>
          <p:nvPr/>
        </p:nvPicPr>
        <p:blipFill>
          <a:blip r:embed="rId7"/>
          <a:stretch>
            <a:fillRect/>
          </a:stretch>
        </p:blipFill>
        <p:spPr>
          <a:xfrm>
            <a:off x="9111424" y="768380"/>
            <a:ext cx="2238778" cy="1931539"/>
          </a:xfrm>
          <a:prstGeom prst="rect">
            <a:avLst/>
          </a:prstGeom>
        </p:spPr>
      </p:pic>
      <p:pic>
        <p:nvPicPr>
          <p:cNvPr id="7" name="Picture 6" descr="A graph with lines and dots&#10;&#10;Description automatically generated">
            <a:extLst>
              <a:ext uri="{FF2B5EF4-FFF2-40B4-BE49-F238E27FC236}">
                <a16:creationId xmlns:a16="http://schemas.microsoft.com/office/drawing/2014/main" id="{D9D52BF2-1331-05C1-6545-5ED691A05C08}"/>
              </a:ext>
            </a:extLst>
          </p:cNvPr>
          <p:cNvPicPr>
            <a:picLocks noChangeAspect="1"/>
          </p:cNvPicPr>
          <p:nvPr/>
        </p:nvPicPr>
        <p:blipFill>
          <a:blip r:embed="rId8"/>
          <a:stretch>
            <a:fillRect/>
          </a:stretch>
        </p:blipFill>
        <p:spPr>
          <a:xfrm>
            <a:off x="63227" y="2830078"/>
            <a:ext cx="2195376" cy="1970260"/>
          </a:xfrm>
          <a:prstGeom prst="rect">
            <a:avLst/>
          </a:prstGeom>
        </p:spPr>
      </p:pic>
      <p:pic>
        <p:nvPicPr>
          <p:cNvPr id="8" name="Picture 7" descr="A diagram of a graph&#10;&#10;Description automatically generated">
            <a:extLst>
              <a:ext uri="{FF2B5EF4-FFF2-40B4-BE49-F238E27FC236}">
                <a16:creationId xmlns:a16="http://schemas.microsoft.com/office/drawing/2014/main" id="{6C2193DE-9510-3C88-0778-1FF07CD19F41}"/>
              </a:ext>
            </a:extLst>
          </p:cNvPr>
          <p:cNvPicPr>
            <a:picLocks noChangeAspect="1"/>
          </p:cNvPicPr>
          <p:nvPr/>
        </p:nvPicPr>
        <p:blipFill>
          <a:blip r:embed="rId9"/>
          <a:stretch>
            <a:fillRect/>
          </a:stretch>
        </p:blipFill>
        <p:spPr>
          <a:xfrm>
            <a:off x="2408569" y="2775180"/>
            <a:ext cx="2088524" cy="1968944"/>
          </a:xfrm>
          <a:prstGeom prst="rect">
            <a:avLst/>
          </a:prstGeom>
        </p:spPr>
      </p:pic>
      <p:pic>
        <p:nvPicPr>
          <p:cNvPr id="9" name="Picture 8" descr="A diagram of a graph&#10;&#10;Description automatically generated">
            <a:extLst>
              <a:ext uri="{FF2B5EF4-FFF2-40B4-BE49-F238E27FC236}">
                <a16:creationId xmlns:a16="http://schemas.microsoft.com/office/drawing/2014/main" id="{DFA5939F-8E6B-B838-B1BD-24E2265C0F13}"/>
              </a:ext>
            </a:extLst>
          </p:cNvPr>
          <p:cNvPicPr>
            <a:picLocks noChangeAspect="1"/>
          </p:cNvPicPr>
          <p:nvPr/>
        </p:nvPicPr>
        <p:blipFill>
          <a:blip r:embed="rId10"/>
          <a:stretch>
            <a:fillRect/>
          </a:stretch>
        </p:blipFill>
        <p:spPr>
          <a:xfrm>
            <a:off x="4647063" y="2826526"/>
            <a:ext cx="2088524" cy="1842895"/>
          </a:xfrm>
          <a:prstGeom prst="rect">
            <a:avLst/>
          </a:prstGeom>
        </p:spPr>
      </p:pic>
      <p:pic>
        <p:nvPicPr>
          <p:cNvPr id="10" name="Picture 9">
            <a:extLst>
              <a:ext uri="{FF2B5EF4-FFF2-40B4-BE49-F238E27FC236}">
                <a16:creationId xmlns:a16="http://schemas.microsoft.com/office/drawing/2014/main" id="{8D70A05A-9DBA-B32C-27B5-CD7D22730686}"/>
              </a:ext>
            </a:extLst>
          </p:cNvPr>
          <p:cNvPicPr>
            <a:picLocks noChangeAspect="1"/>
          </p:cNvPicPr>
          <p:nvPr/>
        </p:nvPicPr>
        <p:blipFill>
          <a:blip r:embed="rId11"/>
          <a:stretch>
            <a:fillRect/>
          </a:stretch>
        </p:blipFill>
        <p:spPr>
          <a:xfrm>
            <a:off x="6838840" y="2826997"/>
            <a:ext cx="2142186" cy="1842897"/>
          </a:xfrm>
          <a:prstGeom prst="rect">
            <a:avLst/>
          </a:prstGeom>
        </p:spPr>
      </p:pic>
      <p:pic>
        <p:nvPicPr>
          <p:cNvPr id="12" name="Picture 11" descr="A graph with lines and a rectangle&#10;&#10;Description automatically generated">
            <a:extLst>
              <a:ext uri="{FF2B5EF4-FFF2-40B4-BE49-F238E27FC236}">
                <a16:creationId xmlns:a16="http://schemas.microsoft.com/office/drawing/2014/main" id="{F127E1E6-3C3C-1FAC-13B9-25B18697118B}"/>
              </a:ext>
            </a:extLst>
          </p:cNvPr>
          <p:cNvPicPr>
            <a:picLocks noChangeAspect="1"/>
          </p:cNvPicPr>
          <p:nvPr/>
        </p:nvPicPr>
        <p:blipFill>
          <a:blip r:embed="rId12"/>
          <a:stretch>
            <a:fillRect/>
          </a:stretch>
        </p:blipFill>
        <p:spPr>
          <a:xfrm>
            <a:off x="9055395" y="2751872"/>
            <a:ext cx="2216367" cy="1850313"/>
          </a:xfrm>
          <a:prstGeom prst="rect">
            <a:avLst/>
          </a:prstGeom>
        </p:spPr>
      </p:pic>
      <p:pic>
        <p:nvPicPr>
          <p:cNvPr id="13" name="Picture 12">
            <a:extLst>
              <a:ext uri="{FF2B5EF4-FFF2-40B4-BE49-F238E27FC236}">
                <a16:creationId xmlns:a16="http://schemas.microsoft.com/office/drawing/2014/main" id="{59592AA9-BD5A-35B2-125F-08224F55F0FD}"/>
              </a:ext>
            </a:extLst>
          </p:cNvPr>
          <p:cNvPicPr>
            <a:picLocks noChangeAspect="1"/>
          </p:cNvPicPr>
          <p:nvPr/>
        </p:nvPicPr>
        <p:blipFill>
          <a:blip r:embed="rId13"/>
          <a:stretch>
            <a:fillRect/>
          </a:stretch>
        </p:blipFill>
        <p:spPr>
          <a:xfrm>
            <a:off x="66540" y="4930971"/>
            <a:ext cx="2410496" cy="1505243"/>
          </a:xfrm>
          <a:prstGeom prst="rect">
            <a:avLst/>
          </a:prstGeom>
        </p:spPr>
      </p:pic>
      <p:pic>
        <p:nvPicPr>
          <p:cNvPr id="14" name="Picture 13">
            <a:extLst>
              <a:ext uri="{FF2B5EF4-FFF2-40B4-BE49-F238E27FC236}">
                <a16:creationId xmlns:a16="http://schemas.microsoft.com/office/drawing/2014/main" id="{577836FC-1ED6-0461-8BAF-BEB8E98E2F93}"/>
              </a:ext>
            </a:extLst>
          </p:cNvPr>
          <p:cNvPicPr>
            <a:picLocks noChangeAspect="1"/>
          </p:cNvPicPr>
          <p:nvPr/>
        </p:nvPicPr>
        <p:blipFill>
          <a:blip r:embed="rId11"/>
          <a:stretch>
            <a:fillRect/>
          </a:stretch>
        </p:blipFill>
        <p:spPr>
          <a:xfrm>
            <a:off x="2436506" y="4916028"/>
            <a:ext cx="2313905" cy="1513664"/>
          </a:xfrm>
          <a:prstGeom prst="rect">
            <a:avLst/>
          </a:prstGeom>
        </p:spPr>
      </p:pic>
      <p:pic>
        <p:nvPicPr>
          <p:cNvPr id="15" name="Picture 14" descr="A graph of a diagram&#10;&#10;Description automatically generated">
            <a:extLst>
              <a:ext uri="{FF2B5EF4-FFF2-40B4-BE49-F238E27FC236}">
                <a16:creationId xmlns:a16="http://schemas.microsoft.com/office/drawing/2014/main" id="{B10EAB7D-B006-FAB5-3870-B6014A8C60C5}"/>
              </a:ext>
            </a:extLst>
          </p:cNvPr>
          <p:cNvPicPr>
            <a:picLocks noChangeAspect="1"/>
          </p:cNvPicPr>
          <p:nvPr/>
        </p:nvPicPr>
        <p:blipFill>
          <a:blip r:embed="rId14"/>
          <a:stretch>
            <a:fillRect/>
          </a:stretch>
        </p:blipFill>
        <p:spPr>
          <a:xfrm>
            <a:off x="4754704" y="4916028"/>
            <a:ext cx="2313905" cy="1513664"/>
          </a:xfrm>
          <a:prstGeom prst="rect">
            <a:avLst/>
          </a:prstGeom>
        </p:spPr>
      </p:pic>
      <p:pic>
        <p:nvPicPr>
          <p:cNvPr id="16" name="Picture 15" descr="A graph of a graph with a blue rectangle and green rectangle&#10;&#10;Description automatically generated">
            <a:extLst>
              <a:ext uri="{FF2B5EF4-FFF2-40B4-BE49-F238E27FC236}">
                <a16:creationId xmlns:a16="http://schemas.microsoft.com/office/drawing/2014/main" id="{38757054-E950-3EEE-6D82-31301BFE84D8}"/>
              </a:ext>
            </a:extLst>
          </p:cNvPr>
          <p:cNvPicPr>
            <a:picLocks noChangeAspect="1"/>
          </p:cNvPicPr>
          <p:nvPr/>
        </p:nvPicPr>
        <p:blipFill>
          <a:blip r:embed="rId15"/>
          <a:stretch>
            <a:fillRect/>
          </a:stretch>
        </p:blipFill>
        <p:spPr>
          <a:xfrm>
            <a:off x="7072900" y="4873098"/>
            <a:ext cx="2335370" cy="1556593"/>
          </a:xfrm>
          <a:prstGeom prst="rect">
            <a:avLst/>
          </a:prstGeom>
        </p:spPr>
      </p:pic>
      <p:pic>
        <p:nvPicPr>
          <p:cNvPr id="17" name="Picture 16">
            <a:extLst>
              <a:ext uri="{FF2B5EF4-FFF2-40B4-BE49-F238E27FC236}">
                <a16:creationId xmlns:a16="http://schemas.microsoft.com/office/drawing/2014/main" id="{A457D322-C453-4332-7123-E2A509E6AD6A}"/>
              </a:ext>
            </a:extLst>
          </p:cNvPr>
          <p:cNvPicPr>
            <a:picLocks noChangeAspect="1"/>
          </p:cNvPicPr>
          <p:nvPr/>
        </p:nvPicPr>
        <p:blipFill>
          <a:blip r:embed="rId16"/>
          <a:stretch>
            <a:fillRect/>
          </a:stretch>
        </p:blipFill>
        <p:spPr>
          <a:xfrm>
            <a:off x="9580651" y="4887857"/>
            <a:ext cx="2335370" cy="15494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4D0C80-DEDA-DA2A-9181-DB071F54C433}"/>
              </a:ext>
            </a:extLst>
          </p:cNvPr>
          <p:cNvPicPr>
            <a:picLocks noChangeAspect="1"/>
          </p:cNvPicPr>
          <p:nvPr/>
        </p:nvPicPr>
        <p:blipFill>
          <a:blip r:embed="rId2"/>
          <a:stretch>
            <a:fillRect/>
          </a:stretch>
        </p:blipFill>
        <p:spPr>
          <a:xfrm>
            <a:off x="230841" y="2526727"/>
            <a:ext cx="2743200" cy="1804545"/>
          </a:xfrm>
          <a:prstGeom prst="rect">
            <a:avLst/>
          </a:prstGeom>
        </p:spPr>
      </p:pic>
      <p:pic>
        <p:nvPicPr>
          <p:cNvPr id="4" name="Picture 3" descr="A graph with lines and dots&#10;&#10;Description automatically generated">
            <a:extLst>
              <a:ext uri="{FF2B5EF4-FFF2-40B4-BE49-F238E27FC236}">
                <a16:creationId xmlns:a16="http://schemas.microsoft.com/office/drawing/2014/main" id="{124A7929-5155-6117-A758-429EB24EB387}"/>
              </a:ext>
            </a:extLst>
          </p:cNvPr>
          <p:cNvPicPr>
            <a:picLocks noChangeAspect="1"/>
          </p:cNvPicPr>
          <p:nvPr/>
        </p:nvPicPr>
        <p:blipFill>
          <a:blip r:embed="rId3"/>
          <a:stretch>
            <a:fillRect/>
          </a:stretch>
        </p:blipFill>
        <p:spPr>
          <a:xfrm>
            <a:off x="3043518" y="2547406"/>
            <a:ext cx="2743200" cy="1785600"/>
          </a:xfrm>
          <a:prstGeom prst="rect">
            <a:avLst/>
          </a:prstGeom>
        </p:spPr>
      </p:pic>
      <p:pic>
        <p:nvPicPr>
          <p:cNvPr id="5" name="Picture 4">
            <a:extLst>
              <a:ext uri="{FF2B5EF4-FFF2-40B4-BE49-F238E27FC236}">
                <a16:creationId xmlns:a16="http://schemas.microsoft.com/office/drawing/2014/main" id="{A3A78052-3CEC-F1B6-C496-0B9D9ACC2104}"/>
              </a:ext>
            </a:extLst>
          </p:cNvPr>
          <p:cNvPicPr>
            <a:picLocks noChangeAspect="1"/>
          </p:cNvPicPr>
          <p:nvPr/>
        </p:nvPicPr>
        <p:blipFill>
          <a:blip r:embed="rId4"/>
          <a:stretch>
            <a:fillRect/>
          </a:stretch>
        </p:blipFill>
        <p:spPr>
          <a:xfrm>
            <a:off x="5822576" y="2544327"/>
            <a:ext cx="2743200" cy="1814170"/>
          </a:xfrm>
          <a:prstGeom prst="rect">
            <a:avLst/>
          </a:prstGeom>
        </p:spPr>
      </p:pic>
      <p:pic>
        <p:nvPicPr>
          <p:cNvPr id="6" name="Picture 5">
            <a:extLst>
              <a:ext uri="{FF2B5EF4-FFF2-40B4-BE49-F238E27FC236}">
                <a16:creationId xmlns:a16="http://schemas.microsoft.com/office/drawing/2014/main" id="{E3F4EE17-FDAF-CA09-C24B-6A715FB7930A}"/>
              </a:ext>
            </a:extLst>
          </p:cNvPr>
          <p:cNvPicPr>
            <a:picLocks noChangeAspect="1"/>
          </p:cNvPicPr>
          <p:nvPr/>
        </p:nvPicPr>
        <p:blipFill>
          <a:blip r:embed="rId5"/>
          <a:stretch>
            <a:fillRect/>
          </a:stretch>
        </p:blipFill>
        <p:spPr>
          <a:xfrm>
            <a:off x="8556812" y="2594308"/>
            <a:ext cx="2743200" cy="1848678"/>
          </a:xfrm>
          <a:prstGeom prst="rect">
            <a:avLst/>
          </a:prstGeom>
        </p:spPr>
      </p:pic>
      <p:pic>
        <p:nvPicPr>
          <p:cNvPr id="7" name="Picture 6" descr="A diagram of a vent&#10;&#10;Description automatically generated">
            <a:extLst>
              <a:ext uri="{FF2B5EF4-FFF2-40B4-BE49-F238E27FC236}">
                <a16:creationId xmlns:a16="http://schemas.microsoft.com/office/drawing/2014/main" id="{245F3B51-F8CB-E83D-07B8-74F210A66FA7}"/>
              </a:ext>
            </a:extLst>
          </p:cNvPr>
          <p:cNvPicPr>
            <a:picLocks noChangeAspect="1"/>
          </p:cNvPicPr>
          <p:nvPr/>
        </p:nvPicPr>
        <p:blipFill>
          <a:blip r:embed="rId6"/>
          <a:stretch>
            <a:fillRect/>
          </a:stretch>
        </p:blipFill>
        <p:spPr>
          <a:xfrm>
            <a:off x="118782" y="4527768"/>
            <a:ext cx="2743200" cy="1814170"/>
          </a:xfrm>
          <a:prstGeom prst="rect">
            <a:avLst/>
          </a:prstGeom>
        </p:spPr>
      </p:pic>
      <p:pic>
        <p:nvPicPr>
          <p:cNvPr id="8" name="Picture 7">
            <a:extLst>
              <a:ext uri="{FF2B5EF4-FFF2-40B4-BE49-F238E27FC236}">
                <a16:creationId xmlns:a16="http://schemas.microsoft.com/office/drawing/2014/main" id="{C6169E56-B156-9B1A-E9BC-39B7A00AAB43}"/>
              </a:ext>
            </a:extLst>
          </p:cNvPr>
          <p:cNvPicPr>
            <a:picLocks noChangeAspect="1"/>
          </p:cNvPicPr>
          <p:nvPr/>
        </p:nvPicPr>
        <p:blipFill>
          <a:blip r:embed="rId7"/>
          <a:stretch>
            <a:fillRect/>
          </a:stretch>
        </p:blipFill>
        <p:spPr>
          <a:xfrm>
            <a:off x="2965076" y="4476994"/>
            <a:ext cx="2743200" cy="1938130"/>
          </a:xfrm>
          <a:prstGeom prst="rect">
            <a:avLst/>
          </a:prstGeom>
        </p:spPr>
      </p:pic>
      <p:pic>
        <p:nvPicPr>
          <p:cNvPr id="10" name="Picture 9" descr="A graph with lines and dots&#10;&#10;Description automatically generated">
            <a:extLst>
              <a:ext uri="{FF2B5EF4-FFF2-40B4-BE49-F238E27FC236}">
                <a16:creationId xmlns:a16="http://schemas.microsoft.com/office/drawing/2014/main" id="{99D6A606-51ED-F2A2-F421-0E9B3E9BA0B0}"/>
              </a:ext>
            </a:extLst>
          </p:cNvPr>
          <p:cNvPicPr>
            <a:picLocks noChangeAspect="1"/>
          </p:cNvPicPr>
          <p:nvPr/>
        </p:nvPicPr>
        <p:blipFill>
          <a:blip r:embed="rId8"/>
          <a:stretch>
            <a:fillRect/>
          </a:stretch>
        </p:blipFill>
        <p:spPr>
          <a:xfrm>
            <a:off x="186492" y="803943"/>
            <a:ext cx="2507876" cy="1657287"/>
          </a:xfrm>
          <a:prstGeom prst="rect">
            <a:avLst/>
          </a:prstGeom>
        </p:spPr>
      </p:pic>
      <p:pic>
        <p:nvPicPr>
          <p:cNvPr id="12" name="Picture 11" descr="A graph with lines and dots&#10;&#10;Description automatically generated">
            <a:extLst>
              <a:ext uri="{FF2B5EF4-FFF2-40B4-BE49-F238E27FC236}">
                <a16:creationId xmlns:a16="http://schemas.microsoft.com/office/drawing/2014/main" id="{80DF44AD-AB4C-5269-0795-0E2745F3AC53}"/>
              </a:ext>
            </a:extLst>
          </p:cNvPr>
          <p:cNvPicPr>
            <a:picLocks noChangeAspect="1"/>
          </p:cNvPicPr>
          <p:nvPr/>
        </p:nvPicPr>
        <p:blipFill>
          <a:blip r:embed="rId9"/>
          <a:stretch>
            <a:fillRect/>
          </a:stretch>
        </p:blipFill>
        <p:spPr>
          <a:xfrm>
            <a:off x="2684931" y="803991"/>
            <a:ext cx="2575111" cy="1742577"/>
          </a:xfrm>
          <a:prstGeom prst="rect">
            <a:avLst/>
          </a:prstGeom>
        </p:spPr>
      </p:pic>
      <p:pic>
        <p:nvPicPr>
          <p:cNvPr id="14" name="Picture 13" descr="A diagram of a fan&#10;&#10;Description automatically generated">
            <a:extLst>
              <a:ext uri="{FF2B5EF4-FFF2-40B4-BE49-F238E27FC236}">
                <a16:creationId xmlns:a16="http://schemas.microsoft.com/office/drawing/2014/main" id="{9555CBC7-1DE1-8010-0C2E-08C362A22CE5}"/>
              </a:ext>
            </a:extLst>
          </p:cNvPr>
          <p:cNvPicPr>
            <a:picLocks noChangeAspect="1"/>
          </p:cNvPicPr>
          <p:nvPr/>
        </p:nvPicPr>
        <p:blipFill>
          <a:blip r:embed="rId10"/>
          <a:stretch>
            <a:fillRect/>
          </a:stretch>
        </p:blipFill>
        <p:spPr>
          <a:xfrm>
            <a:off x="5251076" y="807416"/>
            <a:ext cx="2619935" cy="1735728"/>
          </a:xfrm>
          <a:prstGeom prst="rect">
            <a:avLst/>
          </a:prstGeom>
        </p:spPr>
      </p:pic>
      <p:pic>
        <p:nvPicPr>
          <p:cNvPr id="16" name="Picture 15" descr="A diagram of a fan&#10;&#10;Description automatically generated">
            <a:extLst>
              <a:ext uri="{FF2B5EF4-FFF2-40B4-BE49-F238E27FC236}">
                <a16:creationId xmlns:a16="http://schemas.microsoft.com/office/drawing/2014/main" id="{5FAAAB41-1029-0F63-2F49-0F3EABA2A250}"/>
              </a:ext>
            </a:extLst>
          </p:cNvPr>
          <p:cNvPicPr>
            <a:picLocks noChangeAspect="1"/>
          </p:cNvPicPr>
          <p:nvPr/>
        </p:nvPicPr>
        <p:blipFill>
          <a:blip r:embed="rId11"/>
          <a:stretch>
            <a:fillRect/>
          </a:stretch>
        </p:blipFill>
        <p:spPr>
          <a:xfrm>
            <a:off x="7862048" y="860019"/>
            <a:ext cx="2619935" cy="1608107"/>
          </a:xfrm>
          <a:prstGeom prst="rect">
            <a:avLst/>
          </a:prstGeom>
        </p:spPr>
      </p:pic>
      <p:pic>
        <p:nvPicPr>
          <p:cNvPr id="18" name="Picture 17" descr="A graph with lines and a line&#10;&#10;Description automatically generated">
            <a:extLst>
              <a:ext uri="{FF2B5EF4-FFF2-40B4-BE49-F238E27FC236}">
                <a16:creationId xmlns:a16="http://schemas.microsoft.com/office/drawing/2014/main" id="{1D0B70ED-F95B-3983-75EE-A20CBA7B7911}"/>
              </a:ext>
            </a:extLst>
          </p:cNvPr>
          <p:cNvPicPr>
            <a:picLocks noChangeAspect="1"/>
          </p:cNvPicPr>
          <p:nvPr/>
        </p:nvPicPr>
        <p:blipFill>
          <a:blip r:embed="rId12"/>
          <a:stretch>
            <a:fillRect/>
          </a:stretch>
        </p:blipFill>
        <p:spPr>
          <a:xfrm>
            <a:off x="5699312" y="4504204"/>
            <a:ext cx="2866465" cy="1838887"/>
          </a:xfrm>
          <a:prstGeom prst="rect">
            <a:avLst/>
          </a:prstGeom>
        </p:spPr>
      </p:pic>
    </p:spTree>
    <p:extLst>
      <p:ext uri="{BB962C8B-B14F-4D97-AF65-F5344CB8AC3E}">
        <p14:creationId xmlns:p14="http://schemas.microsoft.com/office/powerpoint/2010/main" val="3557726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8578-1248-2902-94AD-F6C565349956}"/>
              </a:ext>
            </a:extLst>
          </p:cNvPr>
          <p:cNvSpPr>
            <a:spLocks noGrp="1"/>
          </p:cNvSpPr>
          <p:nvPr>
            <p:ph type="title"/>
          </p:nvPr>
        </p:nvSpPr>
        <p:spPr/>
        <p:txBody>
          <a:bodyPr/>
          <a:lstStyle/>
          <a:p>
            <a:r>
              <a:rPr lang="en-US" b="1" dirty="0">
                <a:solidFill>
                  <a:srgbClr val="002060"/>
                </a:solidFill>
              </a:rPr>
              <a:t>Inferences from EDA</a:t>
            </a:r>
          </a:p>
        </p:txBody>
      </p:sp>
      <p:sp>
        <p:nvSpPr>
          <p:cNvPr id="3" name="TextBox 2">
            <a:extLst>
              <a:ext uri="{FF2B5EF4-FFF2-40B4-BE49-F238E27FC236}">
                <a16:creationId xmlns:a16="http://schemas.microsoft.com/office/drawing/2014/main" id="{B9665241-CA6D-387F-BA1B-C00AF1A903F6}"/>
              </a:ext>
            </a:extLst>
          </p:cNvPr>
          <p:cNvSpPr txBox="1"/>
          <p:nvPr/>
        </p:nvSpPr>
        <p:spPr>
          <a:xfrm>
            <a:off x="441894" y="1174701"/>
            <a:ext cx="1113584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dirty="0">
                <a:solidFill>
                  <a:srgbClr val="002060"/>
                </a:solidFill>
              </a:rPr>
              <a:t>First Business Moment</a:t>
            </a:r>
            <a:r>
              <a:rPr lang="en-US" sz="1800" dirty="0"/>
              <a:t>: The mean, median and mode values ae determined for each variables which gives an idea about the </a:t>
            </a:r>
            <a:r>
              <a:rPr lang="en-US" sz="1800" b="1" dirty="0"/>
              <a:t>average value</a:t>
            </a:r>
            <a:r>
              <a:rPr lang="en-US" sz="1800" dirty="0"/>
              <a:t> and most frequently occurred values for each.</a:t>
            </a:r>
          </a:p>
          <a:p>
            <a:endParaRPr lang="en-US" sz="1800" dirty="0"/>
          </a:p>
          <a:p>
            <a:r>
              <a:rPr lang="en-US" sz="1800" b="1" dirty="0">
                <a:solidFill>
                  <a:srgbClr val="002060"/>
                </a:solidFill>
              </a:rPr>
              <a:t>Second Business Moment</a:t>
            </a:r>
            <a:r>
              <a:rPr lang="en-US" sz="1800" dirty="0"/>
              <a:t>: Variance, standard deviation and range will give an idea about the spread of the data</a:t>
            </a:r>
          </a:p>
          <a:p>
            <a:pPr marL="285750" indent="-285750">
              <a:buChar char="•"/>
            </a:pPr>
            <a:r>
              <a:rPr lang="en-US" sz="1800" dirty="0"/>
              <a:t>For </a:t>
            </a:r>
            <a:r>
              <a:rPr lang="en-US" sz="1800" b="1" dirty="0"/>
              <a:t>Gypsum TPH</a:t>
            </a:r>
            <a:r>
              <a:rPr lang="en-US" sz="1800" dirty="0"/>
              <a:t> the variance and standard deviation is near zero, which indicates that there is </a:t>
            </a:r>
            <a:r>
              <a:rPr lang="en-US" sz="1800" b="1" dirty="0"/>
              <a:t>not that much difference between the points from the mean value</a:t>
            </a:r>
            <a:r>
              <a:rPr lang="en-US" sz="1800" dirty="0"/>
              <a:t>. Ie, spread is less</a:t>
            </a:r>
          </a:p>
          <a:p>
            <a:pPr marL="285750" indent="-285750">
              <a:buChar char="•"/>
            </a:pPr>
            <a:r>
              <a:rPr lang="en-US" sz="1800" dirty="0"/>
              <a:t>For </a:t>
            </a:r>
            <a:r>
              <a:rPr lang="en-US" sz="1800" b="1" dirty="0"/>
              <a:t>Mill KW</a:t>
            </a:r>
            <a:r>
              <a:rPr lang="en-US" sz="1800" dirty="0"/>
              <a:t>, the standard deviation and variance shows really large value which indicates the spread of the data in really large or </a:t>
            </a:r>
            <a:r>
              <a:rPr lang="en-US" sz="1800" b="1" dirty="0"/>
              <a:t>fatter distribution</a:t>
            </a:r>
          </a:p>
          <a:p>
            <a:pPr marL="285750" indent="-285750">
              <a:buChar char="•"/>
            </a:pPr>
            <a:endParaRPr lang="en-US" sz="1800" b="1" dirty="0"/>
          </a:p>
          <a:p>
            <a:r>
              <a:rPr lang="en-US" sz="1800" b="1" dirty="0">
                <a:solidFill>
                  <a:srgbClr val="002060"/>
                </a:solidFill>
              </a:rPr>
              <a:t>Third Business Moment</a:t>
            </a:r>
            <a:r>
              <a:rPr lang="en-US" sz="1800" b="1" dirty="0"/>
              <a:t>: </a:t>
            </a:r>
            <a:r>
              <a:rPr lang="en-US" sz="1800" dirty="0"/>
              <a:t>Mill TPH, clinker TPH, Gypsum TPH, DFA TPH, Mill KW, CA fan RPM, Mill O/L draft, </a:t>
            </a:r>
            <a:r>
              <a:rPr lang="en-US" sz="1800" dirty="0" err="1"/>
              <a:t>sep</a:t>
            </a:r>
            <a:r>
              <a:rPr lang="en-US" sz="1800" dirty="0"/>
              <a:t> vent O/L draft are left skewed distributions. WFA TPH, Mill I/L temp, Mill O/L BE temp, Mill vent BF O/L draft, </a:t>
            </a:r>
            <a:r>
              <a:rPr lang="en-US" sz="1800" dirty="0" err="1"/>
              <a:t>sep</a:t>
            </a:r>
            <a:r>
              <a:rPr lang="en-US" sz="1800" dirty="0"/>
              <a:t> RPM, Sep Amp, Sep vent I/L draft, </a:t>
            </a:r>
            <a:r>
              <a:rPr lang="en-US" sz="1800" dirty="0" err="1"/>
              <a:t>sep</a:t>
            </a:r>
            <a:r>
              <a:rPr lang="en-US" sz="1800" dirty="0"/>
              <a:t> vent bag filter fan RPM are right skewed. For others the skewness is </a:t>
            </a:r>
            <a:r>
              <a:rPr lang="en-US" sz="1800" b="1" dirty="0"/>
              <a:t>near zero which implies it is almost normal distribution</a:t>
            </a:r>
            <a:r>
              <a:rPr lang="en-US" sz="1800" dirty="0"/>
              <a:t>.</a:t>
            </a:r>
          </a:p>
          <a:p>
            <a:endParaRPr lang="en-US" sz="1800" b="1" dirty="0"/>
          </a:p>
          <a:p>
            <a:r>
              <a:rPr lang="en-US" sz="1800" b="1" dirty="0">
                <a:solidFill>
                  <a:srgbClr val="002060"/>
                </a:solidFill>
              </a:rPr>
              <a:t>Fourth Business Moment</a:t>
            </a:r>
            <a:r>
              <a:rPr lang="en-US" sz="1800" b="1" dirty="0"/>
              <a:t>: Mill KW, Sep vent I/L draft </a:t>
            </a:r>
            <a:r>
              <a:rPr lang="en-US" sz="1800" dirty="0"/>
              <a:t>have really big kurtosis values which indicates the </a:t>
            </a:r>
            <a:r>
              <a:rPr lang="en-US" sz="1800" b="1" dirty="0"/>
              <a:t>really sharp peak.</a:t>
            </a:r>
          </a:p>
          <a:p>
            <a:endParaRPr lang="en-US" sz="1800" b="1" dirty="0"/>
          </a:p>
        </p:txBody>
      </p:sp>
    </p:spTree>
    <p:extLst>
      <p:ext uri="{BB962C8B-B14F-4D97-AF65-F5344CB8AC3E}">
        <p14:creationId xmlns:p14="http://schemas.microsoft.com/office/powerpoint/2010/main" val="1790978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09AB4-2ECE-01E0-FD97-1F4E42604011}"/>
              </a:ext>
            </a:extLst>
          </p:cNvPr>
          <p:cNvSpPr>
            <a:spLocks noGrp="1"/>
          </p:cNvSpPr>
          <p:nvPr>
            <p:ph type="title"/>
          </p:nvPr>
        </p:nvSpPr>
        <p:spPr/>
        <p:txBody>
          <a:bodyPr/>
          <a:lstStyle/>
          <a:p>
            <a:r>
              <a:rPr lang="en-US" b="1" dirty="0">
                <a:solidFill>
                  <a:srgbClr val="002060"/>
                </a:solidFill>
              </a:rPr>
              <a:t>Data preprocessing </a:t>
            </a:r>
          </a:p>
        </p:txBody>
      </p:sp>
      <p:sp>
        <p:nvSpPr>
          <p:cNvPr id="3" name="TextBox 2">
            <a:extLst>
              <a:ext uri="{FF2B5EF4-FFF2-40B4-BE49-F238E27FC236}">
                <a16:creationId xmlns:a16="http://schemas.microsoft.com/office/drawing/2014/main" id="{DBA099F7-4544-5704-FA5B-E94C6FE5DE7F}"/>
              </a:ext>
            </a:extLst>
          </p:cNvPr>
          <p:cNvSpPr txBox="1"/>
          <p:nvPr/>
        </p:nvSpPr>
        <p:spPr>
          <a:xfrm>
            <a:off x="626644" y="1040230"/>
            <a:ext cx="10953750" cy="52937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1800" b="1" dirty="0"/>
              <a:t>Duplicates:</a:t>
            </a:r>
          </a:p>
          <a:p>
            <a:r>
              <a:rPr lang="en-US" sz="1800" dirty="0"/>
              <a:t>Duplicate records are removed from the data</a:t>
            </a:r>
          </a:p>
          <a:p>
            <a:endParaRPr lang="en-US" sz="1800" dirty="0"/>
          </a:p>
          <a:p>
            <a:endParaRPr lang="en-US" sz="1800" dirty="0"/>
          </a:p>
          <a:p>
            <a:pPr marL="285750" indent="-285750">
              <a:buChar char="•"/>
            </a:pPr>
            <a:r>
              <a:rPr lang="en-US" sz="1800" b="1" dirty="0"/>
              <a:t>Missing values:</a:t>
            </a:r>
          </a:p>
          <a:p>
            <a:r>
              <a:rPr lang="en-US" sz="1800" dirty="0"/>
              <a:t>Median imputation is used to treat missing values</a:t>
            </a:r>
          </a:p>
          <a:p>
            <a:endParaRPr lang="en-US" sz="1800" dirty="0"/>
          </a:p>
          <a:p>
            <a:endParaRPr lang="en-US" sz="1800" dirty="0"/>
          </a:p>
          <a:p>
            <a:pPr marL="285750" indent="-285750">
              <a:buChar char="•"/>
            </a:pPr>
            <a:r>
              <a:rPr lang="en-US" sz="1800" b="1" dirty="0"/>
              <a:t>Outliers:</a:t>
            </a:r>
          </a:p>
          <a:p>
            <a:r>
              <a:rPr lang="en-US" sz="1800" dirty="0"/>
              <a:t>Maximum outliers are replaced with 95th percentile and minimum outliers are replaced by 5th percentile. </a:t>
            </a:r>
            <a:r>
              <a:rPr lang="en-US" sz="1800" b="1" dirty="0"/>
              <a:t>For Mill vent BF O/L draft, Mill </a:t>
            </a:r>
            <a:r>
              <a:rPr lang="en-US" sz="1800" b="1" dirty="0" err="1"/>
              <a:t>folaphone</a:t>
            </a:r>
            <a:r>
              <a:rPr lang="en-US" sz="1800" b="1" dirty="0"/>
              <a:t> and Mill O/L draft are not considered outlier treatment since it have more than 10% outliers present in it.</a:t>
            </a:r>
            <a:endParaRPr lang="en-US" sz="1800" dirty="0"/>
          </a:p>
          <a:p>
            <a:pPr marL="285750" indent="-285750">
              <a:buFont typeface="Arial,Sans-Serif"/>
              <a:buChar char="•"/>
            </a:pPr>
            <a:endParaRPr lang="en-US" sz="1800" dirty="0"/>
          </a:p>
          <a:p>
            <a:endParaRPr lang="en-US" sz="1800" dirty="0"/>
          </a:p>
          <a:p>
            <a:pPr marL="285750" indent="-285750">
              <a:buChar char="•"/>
            </a:pPr>
            <a:r>
              <a:rPr lang="en-US" sz="1800" b="1" dirty="0"/>
              <a:t>Transformation:</a:t>
            </a:r>
          </a:p>
          <a:p>
            <a:r>
              <a:rPr lang="en-US" sz="1800" dirty="0"/>
              <a:t>Corresponding transformation technique like </a:t>
            </a:r>
            <a:r>
              <a:rPr lang="en-US" sz="1800" dirty="0" err="1"/>
              <a:t>boxcox</a:t>
            </a:r>
            <a:r>
              <a:rPr lang="en-US" sz="1800" dirty="0"/>
              <a:t> transformation were used to make the variables normally distributed</a:t>
            </a:r>
          </a:p>
          <a:p>
            <a:endParaRPr lang="en-US" sz="1600" dirty="0"/>
          </a:p>
          <a:p>
            <a:endParaRPr lang="en-US" sz="1600" dirty="0"/>
          </a:p>
        </p:txBody>
      </p:sp>
    </p:spTree>
    <p:extLst>
      <p:ext uri="{BB962C8B-B14F-4D97-AF65-F5344CB8AC3E}">
        <p14:creationId xmlns:p14="http://schemas.microsoft.com/office/powerpoint/2010/main" val="760013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9185F-C471-BF97-EE48-B3F14FD22B22}"/>
              </a:ext>
            </a:extLst>
          </p:cNvPr>
          <p:cNvSpPr>
            <a:spLocks noGrp="1"/>
          </p:cNvSpPr>
          <p:nvPr>
            <p:ph type="title"/>
          </p:nvPr>
        </p:nvSpPr>
        <p:spPr/>
        <p:txBody>
          <a:bodyPr/>
          <a:lstStyle/>
          <a:p>
            <a:r>
              <a:rPr lang="en-US" dirty="0"/>
              <a:t>Boxplots after preprocessing</a:t>
            </a:r>
          </a:p>
        </p:txBody>
      </p:sp>
      <p:pic>
        <p:nvPicPr>
          <p:cNvPr id="3" name="Picture 2" descr="A graph with lines and a rectangle&#10;&#10;Description automatically generated">
            <a:extLst>
              <a:ext uri="{FF2B5EF4-FFF2-40B4-BE49-F238E27FC236}">
                <a16:creationId xmlns:a16="http://schemas.microsoft.com/office/drawing/2014/main" id="{98980EEE-8199-C1F6-08B7-52DD9D1C6F31}"/>
              </a:ext>
            </a:extLst>
          </p:cNvPr>
          <p:cNvPicPr>
            <a:picLocks noChangeAspect="1"/>
          </p:cNvPicPr>
          <p:nvPr/>
        </p:nvPicPr>
        <p:blipFill>
          <a:blip r:embed="rId2"/>
          <a:stretch>
            <a:fillRect/>
          </a:stretch>
        </p:blipFill>
        <p:spPr>
          <a:xfrm>
            <a:off x="302654" y="919131"/>
            <a:ext cx="2743200" cy="1821485"/>
          </a:xfrm>
          <a:prstGeom prst="rect">
            <a:avLst/>
          </a:prstGeom>
        </p:spPr>
      </p:pic>
      <p:pic>
        <p:nvPicPr>
          <p:cNvPr id="4" name="Picture 3" descr="A graph with lines and a rectangle&#10;&#10;Description automatically generated">
            <a:extLst>
              <a:ext uri="{FF2B5EF4-FFF2-40B4-BE49-F238E27FC236}">
                <a16:creationId xmlns:a16="http://schemas.microsoft.com/office/drawing/2014/main" id="{ACAAB763-DFDB-AE6D-F08E-7E76BA95CDE3}"/>
              </a:ext>
            </a:extLst>
          </p:cNvPr>
          <p:cNvPicPr>
            <a:picLocks noChangeAspect="1"/>
          </p:cNvPicPr>
          <p:nvPr/>
        </p:nvPicPr>
        <p:blipFill>
          <a:blip r:embed="rId3"/>
          <a:stretch>
            <a:fillRect/>
          </a:stretch>
        </p:blipFill>
        <p:spPr>
          <a:xfrm>
            <a:off x="3093076" y="894008"/>
            <a:ext cx="2743200" cy="1828800"/>
          </a:xfrm>
          <a:prstGeom prst="rect">
            <a:avLst/>
          </a:prstGeom>
        </p:spPr>
      </p:pic>
      <p:pic>
        <p:nvPicPr>
          <p:cNvPr id="5" name="Picture 4" descr="A graph with lines and a blue square&#10;&#10;Description automatically generated">
            <a:extLst>
              <a:ext uri="{FF2B5EF4-FFF2-40B4-BE49-F238E27FC236}">
                <a16:creationId xmlns:a16="http://schemas.microsoft.com/office/drawing/2014/main" id="{53CC1C0D-EC3E-9B96-AD75-7586DA5345C5}"/>
              </a:ext>
            </a:extLst>
          </p:cNvPr>
          <p:cNvPicPr>
            <a:picLocks noChangeAspect="1"/>
          </p:cNvPicPr>
          <p:nvPr/>
        </p:nvPicPr>
        <p:blipFill>
          <a:blip r:embed="rId4"/>
          <a:stretch>
            <a:fillRect/>
          </a:stretch>
        </p:blipFill>
        <p:spPr>
          <a:xfrm>
            <a:off x="5840569" y="922519"/>
            <a:ext cx="2743200" cy="1836174"/>
          </a:xfrm>
          <a:prstGeom prst="rect">
            <a:avLst/>
          </a:prstGeom>
        </p:spPr>
      </p:pic>
      <p:pic>
        <p:nvPicPr>
          <p:cNvPr id="6" name="Picture 5" descr="A diagram of a graph&#10;&#10;Description automatically generated">
            <a:extLst>
              <a:ext uri="{FF2B5EF4-FFF2-40B4-BE49-F238E27FC236}">
                <a16:creationId xmlns:a16="http://schemas.microsoft.com/office/drawing/2014/main" id="{5A16E533-45D9-FC49-CF39-681A508BAA1B}"/>
              </a:ext>
            </a:extLst>
          </p:cNvPr>
          <p:cNvPicPr>
            <a:picLocks noChangeAspect="1"/>
          </p:cNvPicPr>
          <p:nvPr/>
        </p:nvPicPr>
        <p:blipFill>
          <a:blip r:embed="rId5"/>
          <a:stretch>
            <a:fillRect/>
          </a:stretch>
        </p:blipFill>
        <p:spPr>
          <a:xfrm>
            <a:off x="8588062" y="869610"/>
            <a:ext cx="2743200" cy="1856133"/>
          </a:xfrm>
          <a:prstGeom prst="rect">
            <a:avLst/>
          </a:prstGeom>
        </p:spPr>
      </p:pic>
      <p:pic>
        <p:nvPicPr>
          <p:cNvPr id="7" name="Picture 6" descr="A graph with lines and a rectangle&#10;&#10;Description automatically generated">
            <a:extLst>
              <a:ext uri="{FF2B5EF4-FFF2-40B4-BE49-F238E27FC236}">
                <a16:creationId xmlns:a16="http://schemas.microsoft.com/office/drawing/2014/main" id="{729217C3-2E64-204C-2B33-BC1EB147823F}"/>
              </a:ext>
            </a:extLst>
          </p:cNvPr>
          <p:cNvPicPr>
            <a:picLocks noChangeAspect="1"/>
          </p:cNvPicPr>
          <p:nvPr/>
        </p:nvPicPr>
        <p:blipFill>
          <a:blip r:embed="rId6"/>
          <a:stretch>
            <a:fillRect/>
          </a:stretch>
        </p:blipFill>
        <p:spPr>
          <a:xfrm>
            <a:off x="345583" y="2729592"/>
            <a:ext cx="2743200" cy="1871041"/>
          </a:xfrm>
          <a:prstGeom prst="rect">
            <a:avLst/>
          </a:prstGeom>
        </p:spPr>
      </p:pic>
      <p:pic>
        <p:nvPicPr>
          <p:cNvPr id="8" name="Picture 7" descr="A graph with lines and a rectangle&#10;&#10;Description automatically generated">
            <a:extLst>
              <a:ext uri="{FF2B5EF4-FFF2-40B4-BE49-F238E27FC236}">
                <a16:creationId xmlns:a16="http://schemas.microsoft.com/office/drawing/2014/main" id="{A7C6251F-99A9-8AC2-9048-58D45E73003A}"/>
              </a:ext>
            </a:extLst>
          </p:cNvPr>
          <p:cNvPicPr>
            <a:picLocks noChangeAspect="1"/>
          </p:cNvPicPr>
          <p:nvPr/>
        </p:nvPicPr>
        <p:blipFill>
          <a:blip r:embed="rId7"/>
          <a:stretch>
            <a:fillRect/>
          </a:stretch>
        </p:blipFill>
        <p:spPr>
          <a:xfrm>
            <a:off x="3093076" y="2768713"/>
            <a:ext cx="2743200" cy="1792800"/>
          </a:xfrm>
          <a:prstGeom prst="rect">
            <a:avLst/>
          </a:prstGeom>
        </p:spPr>
      </p:pic>
      <p:pic>
        <p:nvPicPr>
          <p:cNvPr id="9" name="Picture 8" descr="A graph with lines and a rectangle&#10;&#10;Description automatically generated">
            <a:extLst>
              <a:ext uri="{FF2B5EF4-FFF2-40B4-BE49-F238E27FC236}">
                <a16:creationId xmlns:a16="http://schemas.microsoft.com/office/drawing/2014/main" id="{4ABB1B00-2860-55DA-B3E2-3E819520846A}"/>
              </a:ext>
            </a:extLst>
          </p:cNvPr>
          <p:cNvPicPr>
            <a:picLocks noChangeAspect="1"/>
          </p:cNvPicPr>
          <p:nvPr/>
        </p:nvPicPr>
        <p:blipFill>
          <a:blip r:embed="rId8"/>
          <a:stretch>
            <a:fillRect/>
          </a:stretch>
        </p:blipFill>
        <p:spPr>
          <a:xfrm>
            <a:off x="5840569" y="2758511"/>
            <a:ext cx="2743200" cy="1856133"/>
          </a:xfrm>
          <a:prstGeom prst="rect">
            <a:avLst/>
          </a:prstGeom>
        </p:spPr>
      </p:pic>
      <p:pic>
        <p:nvPicPr>
          <p:cNvPr id="10" name="Picture 9" descr="A graph with lines and a rectangle&#10;&#10;Description automatically generated">
            <a:extLst>
              <a:ext uri="{FF2B5EF4-FFF2-40B4-BE49-F238E27FC236}">
                <a16:creationId xmlns:a16="http://schemas.microsoft.com/office/drawing/2014/main" id="{BB9DA3BA-B513-260B-7A2E-5B21BE72D8EE}"/>
              </a:ext>
            </a:extLst>
          </p:cNvPr>
          <p:cNvPicPr>
            <a:picLocks noChangeAspect="1"/>
          </p:cNvPicPr>
          <p:nvPr/>
        </p:nvPicPr>
        <p:blipFill>
          <a:blip r:embed="rId9"/>
          <a:stretch>
            <a:fillRect/>
          </a:stretch>
        </p:blipFill>
        <p:spPr>
          <a:xfrm>
            <a:off x="8588062" y="2775733"/>
            <a:ext cx="2743200" cy="1800225"/>
          </a:xfrm>
          <a:prstGeom prst="rect">
            <a:avLst/>
          </a:prstGeom>
        </p:spPr>
      </p:pic>
      <p:pic>
        <p:nvPicPr>
          <p:cNvPr id="11" name="Picture 10" descr="A graph with lines and a rectangle&#10;&#10;Description automatically generated">
            <a:extLst>
              <a:ext uri="{FF2B5EF4-FFF2-40B4-BE49-F238E27FC236}">
                <a16:creationId xmlns:a16="http://schemas.microsoft.com/office/drawing/2014/main" id="{CB571506-4D5D-81AC-8058-8DA71BB566A7}"/>
              </a:ext>
            </a:extLst>
          </p:cNvPr>
          <p:cNvPicPr>
            <a:picLocks noChangeAspect="1"/>
          </p:cNvPicPr>
          <p:nvPr/>
        </p:nvPicPr>
        <p:blipFill>
          <a:blip r:embed="rId10"/>
          <a:stretch>
            <a:fillRect/>
          </a:stretch>
        </p:blipFill>
        <p:spPr>
          <a:xfrm>
            <a:off x="345583" y="4618303"/>
            <a:ext cx="2743200" cy="1807029"/>
          </a:xfrm>
          <a:prstGeom prst="rect">
            <a:avLst/>
          </a:prstGeom>
        </p:spPr>
      </p:pic>
      <p:pic>
        <p:nvPicPr>
          <p:cNvPr id="12" name="Picture 11" descr="A graph with lines and a rectangle&#10;&#10;Description automatically generated">
            <a:extLst>
              <a:ext uri="{FF2B5EF4-FFF2-40B4-BE49-F238E27FC236}">
                <a16:creationId xmlns:a16="http://schemas.microsoft.com/office/drawing/2014/main" id="{5D1C3919-9622-2799-DA5B-2F778C2F8E28}"/>
              </a:ext>
            </a:extLst>
          </p:cNvPr>
          <p:cNvPicPr>
            <a:picLocks noChangeAspect="1"/>
          </p:cNvPicPr>
          <p:nvPr/>
        </p:nvPicPr>
        <p:blipFill>
          <a:blip r:embed="rId10"/>
          <a:stretch>
            <a:fillRect/>
          </a:stretch>
        </p:blipFill>
        <p:spPr>
          <a:xfrm>
            <a:off x="3093076" y="4618303"/>
            <a:ext cx="2743200" cy="1807029"/>
          </a:xfrm>
          <a:prstGeom prst="rect">
            <a:avLst/>
          </a:prstGeom>
        </p:spPr>
      </p:pic>
      <p:pic>
        <p:nvPicPr>
          <p:cNvPr id="13" name="Picture 12" descr="A graph with lines and a rectangle&#10;&#10;Description automatically generated">
            <a:extLst>
              <a:ext uri="{FF2B5EF4-FFF2-40B4-BE49-F238E27FC236}">
                <a16:creationId xmlns:a16="http://schemas.microsoft.com/office/drawing/2014/main" id="{7A8522C8-4142-8531-0423-5B9CED988BAB}"/>
              </a:ext>
            </a:extLst>
          </p:cNvPr>
          <p:cNvPicPr>
            <a:picLocks noChangeAspect="1"/>
          </p:cNvPicPr>
          <p:nvPr/>
        </p:nvPicPr>
        <p:blipFill>
          <a:blip r:embed="rId10"/>
          <a:stretch>
            <a:fillRect/>
          </a:stretch>
        </p:blipFill>
        <p:spPr>
          <a:xfrm>
            <a:off x="5840569" y="4564641"/>
            <a:ext cx="2743200" cy="1807029"/>
          </a:xfrm>
          <a:prstGeom prst="rect">
            <a:avLst/>
          </a:prstGeom>
        </p:spPr>
      </p:pic>
      <p:pic>
        <p:nvPicPr>
          <p:cNvPr id="14" name="Picture 13" descr="A graph with lines and a rectangle&#10;&#10;Description automatically generated">
            <a:extLst>
              <a:ext uri="{FF2B5EF4-FFF2-40B4-BE49-F238E27FC236}">
                <a16:creationId xmlns:a16="http://schemas.microsoft.com/office/drawing/2014/main" id="{D9D2894F-D510-5565-D4A3-6698C1EF5261}"/>
              </a:ext>
            </a:extLst>
          </p:cNvPr>
          <p:cNvPicPr>
            <a:picLocks noChangeAspect="1"/>
          </p:cNvPicPr>
          <p:nvPr/>
        </p:nvPicPr>
        <p:blipFill>
          <a:blip r:embed="rId10"/>
          <a:stretch>
            <a:fillRect/>
          </a:stretch>
        </p:blipFill>
        <p:spPr>
          <a:xfrm>
            <a:off x="8588062" y="4618303"/>
            <a:ext cx="2743200" cy="1807029"/>
          </a:xfrm>
          <a:prstGeom prst="rect">
            <a:avLst/>
          </a:prstGeom>
        </p:spPr>
      </p:pic>
    </p:spTree>
    <p:extLst>
      <p:ext uri="{BB962C8B-B14F-4D97-AF65-F5344CB8AC3E}">
        <p14:creationId xmlns:p14="http://schemas.microsoft.com/office/powerpoint/2010/main" val="2989210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lines and a rectangle&#10;&#10;Description automatically generated">
            <a:extLst>
              <a:ext uri="{FF2B5EF4-FFF2-40B4-BE49-F238E27FC236}">
                <a16:creationId xmlns:a16="http://schemas.microsoft.com/office/drawing/2014/main" id="{60DA06BD-0D56-CF13-D3B8-8A8A44D64002}"/>
              </a:ext>
            </a:extLst>
          </p:cNvPr>
          <p:cNvPicPr>
            <a:picLocks noChangeAspect="1"/>
          </p:cNvPicPr>
          <p:nvPr/>
        </p:nvPicPr>
        <p:blipFill>
          <a:blip r:embed="rId2"/>
          <a:stretch>
            <a:fillRect/>
          </a:stretch>
        </p:blipFill>
        <p:spPr>
          <a:xfrm>
            <a:off x="66541" y="851232"/>
            <a:ext cx="2743200" cy="1807029"/>
          </a:xfrm>
          <a:prstGeom prst="rect">
            <a:avLst/>
          </a:prstGeom>
        </p:spPr>
      </p:pic>
      <p:pic>
        <p:nvPicPr>
          <p:cNvPr id="4" name="Picture 3" descr="A graph with lines and a rectangle&#10;&#10;Description automatically generated">
            <a:extLst>
              <a:ext uri="{FF2B5EF4-FFF2-40B4-BE49-F238E27FC236}">
                <a16:creationId xmlns:a16="http://schemas.microsoft.com/office/drawing/2014/main" id="{837E0D84-7B03-AE9D-D341-6CA56296C917}"/>
              </a:ext>
            </a:extLst>
          </p:cNvPr>
          <p:cNvPicPr>
            <a:picLocks noChangeAspect="1"/>
          </p:cNvPicPr>
          <p:nvPr/>
        </p:nvPicPr>
        <p:blipFill>
          <a:blip r:embed="rId2"/>
          <a:stretch>
            <a:fillRect/>
          </a:stretch>
        </p:blipFill>
        <p:spPr>
          <a:xfrm>
            <a:off x="2814034" y="851232"/>
            <a:ext cx="2743200" cy="1807029"/>
          </a:xfrm>
          <a:prstGeom prst="rect">
            <a:avLst/>
          </a:prstGeom>
        </p:spPr>
      </p:pic>
      <p:pic>
        <p:nvPicPr>
          <p:cNvPr id="5" name="Picture 4" descr="A graph with lines and a rectangle&#10;&#10;Description automatically generated">
            <a:extLst>
              <a:ext uri="{FF2B5EF4-FFF2-40B4-BE49-F238E27FC236}">
                <a16:creationId xmlns:a16="http://schemas.microsoft.com/office/drawing/2014/main" id="{C6D70635-8FB6-7EAF-A73C-47DE52B724ED}"/>
              </a:ext>
            </a:extLst>
          </p:cNvPr>
          <p:cNvPicPr>
            <a:picLocks noChangeAspect="1"/>
          </p:cNvPicPr>
          <p:nvPr/>
        </p:nvPicPr>
        <p:blipFill>
          <a:blip r:embed="rId2"/>
          <a:stretch>
            <a:fillRect/>
          </a:stretch>
        </p:blipFill>
        <p:spPr>
          <a:xfrm>
            <a:off x="5561527" y="851232"/>
            <a:ext cx="2743200" cy="1807029"/>
          </a:xfrm>
          <a:prstGeom prst="rect">
            <a:avLst/>
          </a:prstGeom>
        </p:spPr>
      </p:pic>
      <p:pic>
        <p:nvPicPr>
          <p:cNvPr id="6" name="Picture 5" descr="A graph with lines and a rectangle&#10;&#10;Description automatically generated">
            <a:extLst>
              <a:ext uri="{FF2B5EF4-FFF2-40B4-BE49-F238E27FC236}">
                <a16:creationId xmlns:a16="http://schemas.microsoft.com/office/drawing/2014/main" id="{023B0876-FCC6-3064-0F6D-1FB44053DE63}"/>
              </a:ext>
            </a:extLst>
          </p:cNvPr>
          <p:cNvPicPr>
            <a:picLocks noChangeAspect="1"/>
          </p:cNvPicPr>
          <p:nvPr/>
        </p:nvPicPr>
        <p:blipFill>
          <a:blip r:embed="rId2"/>
          <a:stretch>
            <a:fillRect/>
          </a:stretch>
        </p:blipFill>
        <p:spPr>
          <a:xfrm>
            <a:off x="8309020" y="851232"/>
            <a:ext cx="2743200" cy="1807029"/>
          </a:xfrm>
          <a:prstGeom prst="rect">
            <a:avLst/>
          </a:prstGeom>
        </p:spPr>
      </p:pic>
      <p:pic>
        <p:nvPicPr>
          <p:cNvPr id="7" name="Picture 6" descr="A graph with lines and a rectangle&#10;&#10;Description automatically generated">
            <a:extLst>
              <a:ext uri="{FF2B5EF4-FFF2-40B4-BE49-F238E27FC236}">
                <a16:creationId xmlns:a16="http://schemas.microsoft.com/office/drawing/2014/main" id="{B48ABBDE-815B-FC1B-E2D5-1398E341DFA1}"/>
              </a:ext>
            </a:extLst>
          </p:cNvPr>
          <p:cNvPicPr>
            <a:picLocks noChangeAspect="1"/>
          </p:cNvPicPr>
          <p:nvPr/>
        </p:nvPicPr>
        <p:blipFill>
          <a:blip r:embed="rId2"/>
          <a:stretch>
            <a:fillRect/>
          </a:stretch>
        </p:blipFill>
        <p:spPr>
          <a:xfrm>
            <a:off x="66541" y="2579148"/>
            <a:ext cx="2743200" cy="1807029"/>
          </a:xfrm>
          <a:prstGeom prst="rect">
            <a:avLst/>
          </a:prstGeom>
        </p:spPr>
      </p:pic>
      <p:pic>
        <p:nvPicPr>
          <p:cNvPr id="8" name="Picture 7" descr="A graph with lines and a rectangle&#10;&#10;Description automatically generated">
            <a:extLst>
              <a:ext uri="{FF2B5EF4-FFF2-40B4-BE49-F238E27FC236}">
                <a16:creationId xmlns:a16="http://schemas.microsoft.com/office/drawing/2014/main" id="{E23EEA13-262F-B8F1-1DDD-1F6D744349F8}"/>
              </a:ext>
            </a:extLst>
          </p:cNvPr>
          <p:cNvPicPr>
            <a:picLocks noChangeAspect="1"/>
          </p:cNvPicPr>
          <p:nvPr/>
        </p:nvPicPr>
        <p:blipFill>
          <a:blip r:embed="rId2"/>
          <a:stretch>
            <a:fillRect/>
          </a:stretch>
        </p:blipFill>
        <p:spPr>
          <a:xfrm>
            <a:off x="2814034" y="2579148"/>
            <a:ext cx="2743200" cy="1807029"/>
          </a:xfrm>
          <a:prstGeom prst="rect">
            <a:avLst/>
          </a:prstGeom>
        </p:spPr>
      </p:pic>
      <p:pic>
        <p:nvPicPr>
          <p:cNvPr id="9" name="Picture 8" descr="A graph with lines and a rectangle&#10;&#10;Description automatically generated">
            <a:extLst>
              <a:ext uri="{FF2B5EF4-FFF2-40B4-BE49-F238E27FC236}">
                <a16:creationId xmlns:a16="http://schemas.microsoft.com/office/drawing/2014/main" id="{6DB2F449-84CB-A1B9-3781-8B877311B301}"/>
              </a:ext>
            </a:extLst>
          </p:cNvPr>
          <p:cNvPicPr>
            <a:picLocks noChangeAspect="1"/>
          </p:cNvPicPr>
          <p:nvPr/>
        </p:nvPicPr>
        <p:blipFill>
          <a:blip r:embed="rId2"/>
          <a:stretch>
            <a:fillRect/>
          </a:stretch>
        </p:blipFill>
        <p:spPr>
          <a:xfrm>
            <a:off x="5615189" y="2579148"/>
            <a:ext cx="2743200" cy="1807029"/>
          </a:xfrm>
          <a:prstGeom prst="rect">
            <a:avLst/>
          </a:prstGeom>
        </p:spPr>
      </p:pic>
      <p:pic>
        <p:nvPicPr>
          <p:cNvPr id="10" name="Picture 9" descr="A graph with lines and a rectangle&#10;&#10;Description automatically generated">
            <a:extLst>
              <a:ext uri="{FF2B5EF4-FFF2-40B4-BE49-F238E27FC236}">
                <a16:creationId xmlns:a16="http://schemas.microsoft.com/office/drawing/2014/main" id="{5BAB8ABE-1F9D-F3D3-62BC-5D8D0E4963DE}"/>
              </a:ext>
            </a:extLst>
          </p:cNvPr>
          <p:cNvPicPr>
            <a:picLocks noChangeAspect="1"/>
          </p:cNvPicPr>
          <p:nvPr/>
        </p:nvPicPr>
        <p:blipFill>
          <a:blip r:embed="rId2"/>
          <a:stretch>
            <a:fillRect/>
          </a:stretch>
        </p:blipFill>
        <p:spPr>
          <a:xfrm>
            <a:off x="8309020" y="2579148"/>
            <a:ext cx="2743200" cy="1807029"/>
          </a:xfrm>
          <a:prstGeom prst="rect">
            <a:avLst/>
          </a:prstGeom>
        </p:spPr>
      </p:pic>
    </p:spTree>
    <p:extLst>
      <p:ext uri="{BB962C8B-B14F-4D97-AF65-F5344CB8AC3E}">
        <p14:creationId xmlns:p14="http://schemas.microsoft.com/office/powerpoint/2010/main" val="3921399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EE798-5F61-C286-DD54-2B650CF152B2}"/>
              </a:ext>
            </a:extLst>
          </p:cNvPr>
          <p:cNvSpPr>
            <a:spLocks noGrp="1"/>
          </p:cNvSpPr>
          <p:nvPr>
            <p:ph type="title"/>
          </p:nvPr>
        </p:nvSpPr>
        <p:spPr/>
        <p:txBody>
          <a:bodyPr/>
          <a:lstStyle/>
          <a:p>
            <a:r>
              <a:rPr lang="en-US" dirty="0"/>
              <a:t>Histograms after preprocessing</a:t>
            </a:r>
          </a:p>
        </p:txBody>
      </p:sp>
      <p:pic>
        <p:nvPicPr>
          <p:cNvPr id="3" name="Picture 2">
            <a:extLst>
              <a:ext uri="{FF2B5EF4-FFF2-40B4-BE49-F238E27FC236}">
                <a16:creationId xmlns:a16="http://schemas.microsoft.com/office/drawing/2014/main" id="{4B883696-BF23-BB85-0DD8-4A68D05CF83E}"/>
              </a:ext>
            </a:extLst>
          </p:cNvPr>
          <p:cNvPicPr>
            <a:picLocks noChangeAspect="1"/>
          </p:cNvPicPr>
          <p:nvPr/>
        </p:nvPicPr>
        <p:blipFill>
          <a:blip r:embed="rId2"/>
          <a:stretch>
            <a:fillRect/>
          </a:stretch>
        </p:blipFill>
        <p:spPr>
          <a:xfrm>
            <a:off x="2146" y="827417"/>
            <a:ext cx="2743200" cy="1854657"/>
          </a:xfrm>
          <a:prstGeom prst="rect">
            <a:avLst/>
          </a:prstGeom>
        </p:spPr>
      </p:pic>
      <p:pic>
        <p:nvPicPr>
          <p:cNvPr id="4" name="Picture 3">
            <a:extLst>
              <a:ext uri="{FF2B5EF4-FFF2-40B4-BE49-F238E27FC236}">
                <a16:creationId xmlns:a16="http://schemas.microsoft.com/office/drawing/2014/main" id="{59851DAC-4F70-3C96-33F7-9B10163DF77B}"/>
              </a:ext>
            </a:extLst>
          </p:cNvPr>
          <p:cNvPicPr>
            <a:picLocks noChangeAspect="1"/>
          </p:cNvPicPr>
          <p:nvPr/>
        </p:nvPicPr>
        <p:blipFill>
          <a:blip r:embed="rId3"/>
          <a:stretch>
            <a:fillRect/>
          </a:stretch>
        </p:blipFill>
        <p:spPr>
          <a:xfrm>
            <a:off x="2738907" y="867569"/>
            <a:ext cx="2743200" cy="1817284"/>
          </a:xfrm>
          <a:prstGeom prst="rect">
            <a:avLst/>
          </a:prstGeom>
        </p:spPr>
      </p:pic>
      <p:pic>
        <p:nvPicPr>
          <p:cNvPr id="5" name="Picture 4">
            <a:extLst>
              <a:ext uri="{FF2B5EF4-FFF2-40B4-BE49-F238E27FC236}">
                <a16:creationId xmlns:a16="http://schemas.microsoft.com/office/drawing/2014/main" id="{B0E3895E-6E5B-8DBD-9654-C24674137921}"/>
              </a:ext>
            </a:extLst>
          </p:cNvPr>
          <p:cNvPicPr>
            <a:picLocks noChangeAspect="1"/>
          </p:cNvPicPr>
          <p:nvPr/>
        </p:nvPicPr>
        <p:blipFill>
          <a:blip r:embed="rId4"/>
          <a:stretch>
            <a:fillRect/>
          </a:stretch>
        </p:blipFill>
        <p:spPr>
          <a:xfrm>
            <a:off x="5486400" y="848881"/>
            <a:ext cx="2743200" cy="1854657"/>
          </a:xfrm>
          <a:prstGeom prst="rect">
            <a:avLst/>
          </a:prstGeom>
        </p:spPr>
      </p:pic>
      <p:pic>
        <p:nvPicPr>
          <p:cNvPr id="6" name="Picture 5">
            <a:extLst>
              <a:ext uri="{FF2B5EF4-FFF2-40B4-BE49-F238E27FC236}">
                <a16:creationId xmlns:a16="http://schemas.microsoft.com/office/drawing/2014/main" id="{4FFE6754-3C86-4020-4C81-FE004D8B4EDB}"/>
              </a:ext>
            </a:extLst>
          </p:cNvPr>
          <p:cNvPicPr>
            <a:picLocks noChangeAspect="1"/>
          </p:cNvPicPr>
          <p:nvPr/>
        </p:nvPicPr>
        <p:blipFill>
          <a:blip r:embed="rId5"/>
          <a:stretch>
            <a:fillRect/>
          </a:stretch>
        </p:blipFill>
        <p:spPr>
          <a:xfrm>
            <a:off x="8233893" y="848882"/>
            <a:ext cx="2743200" cy="1854657"/>
          </a:xfrm>
          <a:prstGeom prst="rect">
            <a:avLst/>
          </a:prstGeom>
        </p:spPr>
      </p:pic>
      <p:pic>
        <p:nvPicPr>
          <p:cNvPr id="7" name="Picture 6">
            <a:extLst>
              <a:ext uri="{FF2B5EF4-FFF2-40B4-BE49-F238E27FC236}">
                <a16:creationId xmlns:a16="http://schemas.microsoft.com/office/drawing/2014/main" id="{142C3476-7DB2-2AC4-4A8E-141B13A23033}"/>
              </a:ext>
            </a:extLst>
          </p:cNvPr>
          <p:cNvPicPr>
            <a:picLocks noChangeAspect="1"/>
          </p:cNvPicPr>
          <p:nvPr/>
        </p:nvPicPr>
        <p:blipFill>
          <a:blip r:embed="rId6"/>
          <a:stretch>
            <a:fillRect/>
          </a:stretch>
        </p:blipFill>
        <p:spPr>
          <a:xfrm>
            <a:off x="-8586" y="2708941"/>
            <a:ext cx="2743200" cy="1826485"/>
          </a:xfrm>
          <a:prstGeom prst="rect">
            <a:avLst/>
          </a:prstGeom>
        </p:spPr>
      </p:pic>
      <p:pic>
        <p:nvPicPr>
          <p:cNvPr id="8" name="Picture 7" descr="A graph with blue lines&#10;&#10;Description automatically generated">
            <a:extLst>
              <a:ext uri="{FF2B5EF4-FFF2-40B4-BE49-F238E27FC236}">
                <a16:creationId xmlns:a16="http://schemas.microsoft.com/office/drawing/2014/main" id="{C5EE3B2E-BEBC-CF61-9BB8-21B26F33F1D6}"/>
              </a:ext>
            </a:extLst>
          </p:cNvPr>
          <p:cNvPicPr>
            <a:picLocks noChangeAspect="1"/>
          </p:cNvPicPr>
          <p:nvPr/>
        </p:nvPicPr>
        <p:blipFill>
          <a:blip r:embed="rId7"/>
          <a:stretch>
            <a:fillRect/>
          </a:stretch>
        </p:blipFill>
        <p:spPr>
          <a:xfrm>
            <a:off x="2749639" y="2684122"/>
            <a:ext cx="2743200" cy="1854657"/>
          </a:xfrm>
          <a:prstGeom prst="rect">
            <a:avLst/>
          </a:prstGeom>
        </p:spPr>
      </p:pic>
      <p:pic>
        <p:nvPicPr>
          <p:cNvPr id="9" name="Picture 8">
            <a:extLst>
              <a:ext uri="{FF2B5EF4-FFF2-40B4-BE49-F238E27FC236}">
                <a16:creationId xmlns:a16="http://schemas.microsoft.com/office/drawing/2014/main" id="{713C6DD8-92B8-28C8-9AC9-AC5DD9082B61}"/>
              </a:ext>
            </a:extLst>
          </p:cNvPr>
          <p:cNvPicPr>
            <a:picLocks noChangeAspect="1"/>
          </p:cNvPicPr>
          <p:nvPr/>
        </p:nvPicPr>
        <p:blipFill>
          <a:blip r:embed="rId8"/>
          <a:stretch>
            <a:fillRect/>
          </a:stretch>
        </p:blipFill>
        <p:spPr>
          <a:xfrm>
            <a:off x="5497132" y="2701951"/>
            <a:ext cx="2743200" cy="1840463"/>
          </a:xfrm>
          <a:prstGeom prst="rect">
            <a:avLst/>
          </a:prstGeom>
        </p:spPr>
      </p:pic>
      <p:pic>
        <p:nvPicPr>
          <p:cNvPr id="10" name="Picture 9">
            <a:extLst>
              <a:ext uri="{FF2B5EF4-FFF2-40B4-BE49-F238E27FC236}">
                <a16:creationId xmlns:a16="http://schemas.microsoft.com/office/drawing/2014/main" id="{7407CADD-EA14-A82B-C9E1-25A822535AA6}"/>
              </a:ext>
            </a:extLst>
          </p:cNvPr>
          <p:cNvPicPr>
            <a:picLocks noChangeAspect="1"/>
          </p:cNvPicPr>
          <p:nvPr/>
        </p:nvPicPr>
        <p:blipFill>
          <a:blip r:embed="rId9"/>
          <a:stretch>
            <a:fillRect/>
          </a:stretch>
        </p:blipFill>
        <p:spPr>
          <a:xfrm>
            <a:off x="8233893" y="2684122"/>
            <a:ext cx="2743200" cy="1854657"/>
          </a:xfrm>
          <a:prstGeom prst="rect">
            <a:avLst/>
          </a:prstGeom>
        </p:spPr>
      </p:pic>
      <p:pic>
        <p:nvPicPr>
          <p:cNvPr id="11" name="Picture 10">
            <a:extLst>
              <a:ext uri="{FF2B5EF4-FFF2-40B4-BE49-F238E27FC236}">
                <a16:creationId xmlns:a16="http://schemas.microsoft.com/office/drawing/2014/main" id="{7CBB21EF-A08E-8921-2ED2-8C3C8FBF7A1E}"/>
              </a:ext>
            </a:extLst>
          </p:cNvPr>
          <p:cNvPicPr>
            <a:picLocks noChangeAspect="1"/>
          </p:cNvPicPr>
          <p:nvPr/>
        </p:nvPicPr>
        <p:blipFill>
          <a:blip r:embed="rId10"/>
          <a:stretch>
            <a:fillRect/>
          </a:stretch>
        </p:blipFill>
        <p:spPr>
          <a:xfrm>
            <a:off x="2146" y="4533447"/>
            <a:ext cx="2743200" cy="1826485"/>
          </a:xfrm>
          <a:prstGeom prst="rect">
            <a:avLst/>
          </a:prstGeom>
        </p:spPr>
      </p:pic>
      <p:pic>
        <p:nvPicPr>
          <p:cNvPr id="12" name="Picture 11">
            <a:extLst>
              <a:ext uri="{FF2B5EF4-FFF2-40B4-BE49-F238E27FC236}">
                <a16:creationId xmlns:a16="http://schemas.microsoft.com/office/drawing/2014/main" id="{455896DE-11F8-2473-4702-43D45DC6EBED}"/>
              </a:ext>
            </a:extLst>
          </p:cNvPr>
          <p:cNvPicPr>
            <a:picLocks noChangeAspect="1"/>
          </p:cNvPicPr>
          <p:nvPr/>
        </p:nvPicPr>
        <p:blipFill>
          <a:blip r:embed="rId11"/>
          <a:stretch>
            <a:fillRect/>
          </a:stretch>
        </p:blipFill>
        <p:spPr>
          <a:xfrm>
            <a:off x="2738907" y="4533447"/>
            <a:ext cx="2743200" cy="1826485"/>
          </a:xfrm>
          <a:prstGeom prst="rect">
            <a:avLst/>
          </a:prstGeom>
        </p:spPr>
      </p:pic>
      <p:pic>
        <p:nvPicPr>
          <p:cNvPr id="13" name="Picture 12">
            <a:extLst>
              <a:ext uri="{FF2B5EF4-FFF2-40B4-BE49-F238E27FC236}">
                <a16:creationId xmlns:a16="http://schemas.microsoft.com/office/drawing/2014/main" id="{B68086BC-58B1-7188-F7A0-A597D39E3968}"/>
              </a:ext>
            </a:extLst>
          </p:cNvPr>
          <p:cNvPicPr>
            <a:picLocks noChangeAspect="1"/>
          </p:cNvPicPr>
          <p:nvPr/>
        </p:nvPicPr>
        <p:blipFill>
          <a:blip r:embed="rId12"/>
          <a:stretch>
            <a:fillRect/>
          </a:stretch>
        </p:blipFill>
        <p:spPr>
          <a:xfrm>
            <a:off x="5497132" y="4540826"/>
            <a:ext cx="2743200" cy="1854657"/>
          </a:xfrm>
          <a:prstGeom prst="rect">
            <a:avLst/>
          </a:prstGeom>
        </p:spPr>
      </p:pic>
      <p:pic>
        <p:nvPicPr>
          <p:cNvPr id="14" name="Picture 13" descr="A graph of a graph&#10;&#10;Description automatically generated">
            <a:extLst>
              <a:ext uri="{FF2B5EF4-FFF2-40B4-BE49-F238E27FC236}">
                <a16:creationId xmlns:a16="http://schemas.microsoft.com/office/drawing/2014/main" id="{57C50F45-E4D0-386F-D425-6498FC14B89E}"/>
              </a:ext>
            </a:extLst>
          </p:cNvPr>
          <p:cNvPicPr>
            <a:picLocks noChangeAspect="1"/>
          </p:cNvPicPr>
          <p:nvPr/>
        </p:nvPicPr>
        <p:blipFill>
          <a:blip r:embed="rId13"/>
          <a:stretch>
            <a:fillRect/>
          </a:stretch>
        </p:blipFill>
        <p:spPr>
          <a:xfrm>
            <a:off x="8244625" y="4540826"/>
            <a:ext cx="2743200" cy="1854657"/>
          </a:xfrm>
          <a:prstGeom prst="rect">
            <a:avLst/>
          </a:prstGeom>
        </p:spPr>
      </p:pic>
    </p:spTree>
    <p:extLst>
      <p:ext uri="{BB962C8B-B14F-4D97-AF65-F5344CB8AC3E}">
        <p14:creationId xmlns:p14="http://schemas.microsoft.com/office/powerpoint/2010/main" val="2924396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blue lines&#10;&#10;Description automatically generated">
            <a:extLst>
              <a:ext uri="{FF2B5EF4-FFF2-40B4-BE49-F238E27FC236}">
                <a16:creationId xmlns:a16="http://schemas.microsoft.com/office/drawing/2014/main" id="{6D18A15B-9D1E-D317-8817-E8B7A5722C83}"/>
              </a:ext>
            </a:extLst>
          </p:cNvPr>
          <p:cNvPicPr>
            <a:picLocks noChangeAspect="1"/>
          </p:cNvPicPr>
          <p:nvPr/>
        </p:nvPicPr>
        <p:blipFill>
          <a:blip r:embed="rId2"/>
          <a:stretch>
            <a:fillRect/>
          </a:stretch>
        </p:blipFill>
        <p:spPr>
          <a:xfrm>
            <a:off x="77273" y="848882"/>
            <a:ext cx="2743200" cy="1854657"/>
          </a:xfrm>
          <a:prstGeom prst="rect">
            <a:avLst/>
          </a:prstGeom>
        </p:spPr>
      </p:pic>
      <p:pic>
        <p:nvPicPr>
          <p:cNvPr id="4" name="Picture 3" descr="A graph with blue lines&#10;&#10;Description automatically generated">
            <a:extLst>
              <a:ext uri="{FF2B5EF4-FFF2-40B4-BE49-F238E27FC236}">
                <a16:creationId xmlns:a16="http://schemas.microsoft.com/office/drawing/2014/main" id="{2D521998-58DA-AF82-85F2-66FC3BFF8EB1}"/>
              </a:ext>
            </a:extLst>
          </p:cNvPr>
          <p:cNvPicPr>
            <a:picLocks noChangeAspect="1"/>
          </p:cNvPicPr>
          <p:nvPr/>
        </p:nvPicPr>
        <p:blipFill>
          <a:blip r:embed="rId3"/>
          <a:stretch>
            <a:fillRect/>
          </a:stretch>
        </p:blipFill>
        <p:spPr>
          <a:xfrm>
            <a:off x="2910625" y="849038"/>
            <a:ext cx="2743200" cy="1875813"/>
          </a:xfrm>
          <a:prstGeom prst="rect">
            <a:avLst/>
          </a:prstGeom>
        </p:spPr>
      </p:pic>
      <p:pic>
        <p:nvPicPr>
          <p:cNvPr id="5" name="Picture 4">
            <a:extLst>
              <a:ext uri="{FF2B5EF4-FFF2-40B4-BE49-F238E27FC236}">
                <a16:creationId xmlns:a16="http://schemas.microsoft.com/office/drawing/2014/main" id="{70E608AF-3A84-8700-E85C-4F4DC00409B3}"/>
              </a:ext>
            </a:extLst>
          </p:cNvPr>
          <p:cNvPicPr>
            <a:picLocks noChangeAspect="1"/>
          </p:cNvPicPr>
          <p:nvPr/>
        </p:nvPicPr>
        <p:blipFill>
          <a:blip r:embed="rId4"/>
          <a:stretch>
            <a:fillRect/>
          </a:stretch>
        </p:blipFill>
        <p:spPr>
          <a:xfrm>
            <a:off x="5743977" y="848882"/>
            <a:ext cx="2743200" cy="1854657"/>
          </a:xfrm>
          <a:prstGeom prst="rect">
            <a:avLst/>
          </a:prstGeom>
        </p:spPr>
      </p:pic>
      <p:pic>
        <p:nvPicPr>
          <p:cNvPr id="6" name="Picture 5">
            <a:extLst>
              <a:ext uri="{FF2B5EF4-FFF2-40B4-BE49-F238E27FC236}">
                <a16:creationId xmlns:a16="http://schemas.microsoft.com/office/drawing/2014/main" id="{FD702BBD-4760-A6E2-99FD-E88B82838710}"/>
              </a:ext>
            </a:extLst>
          </p:cNvPr>
          <p:cNvPicPr>
            <a:picLocks noChangeAspect="1"/>
          </p:cNvPicPr>
          <p:nvPr/>
        </p:nvPicPr>
        <p:blipFill>
          <a:blip r:embed="rId5"/>
          <a:stretch>
            <a:fillRect/>
          </a:stretch>
        </p:blipFill>
        <p:spPr>
          <a:xfrm>
            <a:off x="8534400" y="843810"/>
            <a:ext cx="2743200" cy="1821873"/>
          </a:xfrm>
          <a:prstGeom prst="rect">
            <a:avLst/>
          </a:prstGeom>
        </p:spPr>
      </p:pic>
      <p:pic>
        <p:nvPicPr>
          <p:cNvPr id="7" name="Picture 6" descr="A graph with numbers and lines&#10;&#10;Description automatically generated">
            <a:extLst>
              <a:ext uri="{FF2B5EF4-FFF2-40B4-BE49-F238E27FC236}">
                <a16:creationId xmlns:a16="http://schemas.microsoft.com/office/drawing/2014/main" id="{2A1FAB01-4A20-15C0-C90C-4DF9CF429E46}"/>
              </a:ext>
            </a:extLst>
          </p:cNvPr>
          <p:cNvPicPr>
            <a:picLocks noChangeAspect="1"/>
          </p:cNvPicPr>
          <p:nvPr/>
        </p:nvPicPr>
        <p:blipFill>
          <a:blip r:embed="rId6"/>
          <a:stretch>
            <a:fillRect/>
          </a:stretch>
        </p:blipFill>
        <p:spPr>
          <a:xfrm>
            <a:off x="216794" y="2725158"/>
            <a:ext cx="2743200" cy="1751120"/>
          </a:xfrm>
          <a:prstGeom prst="rect">
            <a:avLst/>
          </a:prstGeom>
        </p:spPr>
      </p:pic>
      <p:pic>
        <p:nvPicPr>
          <p:cNvPr id="8" name="Picture 7" descr="A graph with blue lines&#10;&#10;Description automatically generated">
            <a:extLst>
              <a:ext uri="{FF2B5EF4-FFF2-40B4-BE49-F238E27FC236}">
                <a16:creationId xmlns:a16="http://schemas.microsoft.com/office/drawing/2014/main" id="{F5B1422B-262A-1E3A-469B-D5164E3BCF8F}"/>
              </a:ext>
            </a:extLst>
          </p:cNvPr>
          <p:cNvPicPr>
            <a:picLocks noChangeAspect="1"/>
          </p:cNvPicPr>
          <p:nvPr/>
        </p:nvPicPr>
        <p:blipFill>
          <a:blip r:embed="rId7"/>
          <a:stretch>
            <a:fillRect/>
          </a:stretch>
        </p:blipFill>
        <p:spPr>
          <a:xfrm>
            <a:off x="2910625" y="2702061"/>
            <a:ext cx="2743200" cy="1861709"/>
          </a:xfrm>
          <a:prstGeom prst="rect">
            <a:avLst/>
          </a:prstGeom>
        </p:spPr>
      </p:pic>
      <p:pic>
        <p:nvPicPr>
          <p:cNvPr id="9" name="Picture 8" descr="A graph of a column&#10;&#10;Description automatically generated">
            <a:extLst>
              <a:ext uri="{FF2B5EF4-FFF2-40B4-BE49-F238E27FC236}">
                <a16:creationId xmlns:a16="http://schemas.microsoft.com/office/drawing/2014/main" id="{9BA52CE1-4C36-079D-D90E-A4BBC1D871EF}"/>
              </a:ext>
            </a:extLst>
          </p:cNvPr>
          <p:cNvPicPr>
            <a:picLocks noChangeAspect="1"/>
          </p:cNvPicPr>
          <p:nvPr/>
        </p:nvPicPr>
        <p:blipFill>
          <a:blip r:embed="rId8"/>
          <a:stretch>
            <a:fillRect/>
          </a:stretch>
        </p:blipFill>
        <p:spPr>
          <a:xfrm>
            <a:off x="5658118" y="2727051"/>
            <a:ext cx="2743200" cy="1854657"/>
          </a:xfrm>
          <a:prstGeom prst="rect">
            <a:avLst/>
          </a:prstGeom>
        </p:spPr>
      </p:pic>
      <p:pic>
        <p:nvPicPr>
          <p:cNvPr id="10" name="Picture 9">
            <a:extLst>
              <a:ext uri="{FF2B5EF4-FFF2-40B4-BE49-F238E27FC236}">
                <a16:creationId xmlns:a16="http://schemas.microsoft.com/office/drawing/2014/main" id="{D902EDD3-196F-E55C-4813-109FC21D80D3}"/>
              </a:ext>
            </a:extLst>
          </p:cNvPr>
          <p:cNvPicPr>
            <a:picLocks noChangeAspect="1"/>
          </p:cNvPicPr>
          <p:nvPr/>
        </p:nvPicPr>
        <p:blipFill>
          <a:blip r:embed="rId9"/>
          <a:stretch>
            <a:fillRect/>
          </a:stretch>
        </p:blipFill>
        <p:spPr>
          <a:xfrm>
            <a:off x="8491470" y="2708940"/>
            <a:ext cx="2743200" cy="1826485"/>
          </a:xfrm>
          <a:prstGeom prst="rect">
            <a:avLst/>
          </a:prstGeom>
        </p:spPr>
      </p:pic>
      <p:pic>
        <p:nvPicPr>
          <p:cNvPr id="11" name="Picture 10" descr="A graph with blue lines&#10;&#10;Description automatically generated">
            <a:extLst>
              <a:ext uri="{FF2B5EF4-FFF2-40B4-BE49-F238E27FC236}">
                <a16:creationId xmlns:a16="http://schemas.microsoft.com/office/drawing/2014/main" id="{F46DE026-BCD5-E005-DA0C-F3AABFC974D5}"/>
              </a:ext>
            </a:extLst>
          </p:cNvPr>
          <p:cNvPicPr>
            <a:picLocks noChangeAspect="1"/>
          </p:cNvPicPr>
          <p:nvPr/>
        </p:nvPicPr>
        <p:blipFill>
          <a:blip r:embed="rId10"/>
          <a:stretch>
            <a:fillRect/>
          </a:stretch>
        </p:blipFill>
        <p:spPr>
          <a:xfrm>
            <a:off x="216794" y="4479785"/>
            <a:ext cx="2743200" cy="1826485"/>
          </a:xfrm>
          <a:prstGeom prst="rect">
            <a:avLst/>
          </a:prstGeom>
        </p:spPr>
      </p:pic>
      <p:pic>
        <p:nvPicPr>
          <p:cNvPr id="12" name="Picture 11" descr="A graph with blue lines&#10;&#10;Description automatically generated">
            <a:extLst>
              <a:ext uri="{FF2B5EF4-FFF2-40B4-BE49-F238E27FC236}">
                <a16:creationId xmlns:a16="http://schemas.microsoft.com/office/drawing/2014/main" id="{7B21A78E-6CDD-BC36-D01F-B87DD8617471}"/>
              </a:ext>
            </a:extLst>
          </p:cNvPr>
          <p:cNvPicPr>
            <a:picLocks noChangeAspect="1"/>
          </p:cNvPicPr>
          <p:nvPr/>
        </p:nvPicPr>
        <p:blipFill>
          <a:blip r:embed="rId11"/>
          <a:stretch>
            <a:fillRect/>
          </a:stretch>
        </p:blipFill>
        <p:spPr>
          <a:xfrm>
            <a:off x="2996485" y="4555084"/>
            <a:ext cx="2743200" cy="1847605"/>
          </a:xfrm>
          <a:prstGeom prst="rect">
            <a:avLst/>
          </a:prstGeom>
        </p:spPr>
      </p:pic>
    </p:spTree>
    <p:extLst>
      <p:ext uri="{BB962C8B-B14F-4D97-AF65-F5344CB8AC3E}">
        <p14:creationId xmlns:p14="http://schemas.microsoft.com/office/powerpoint/2010/main" val="3948222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2"/>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Data Visualization </a:t>
            </a:r>
            <a:endParaRPr/>
          </a:p>
        </p:txBody>
      </p:sp>
      <p:pic>
        <p:nvPicPr>
          <p:cNvPr id="324" name="Google Shape;324;p32"/>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325" name="Google Shape;325;p32"/>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pic>
        <p:nvPicPr>
          <p:cNvPr id="2" name="Picture 1" descr="A screenshot of a data&#10;&#10;Description automatically generated">
            <a:extLst>
              <a:ext uri="{FF2B5EF4-FFF2-40B4-BE49-F238E27FC236}">
                <a16:creationId xmlns:a16="http://schemas.microsoft.com/office/drawing/2014/main" id="{456B70C9-9024-8E74-D1E4-360972C6A64B}"/>
              </a:ext>
            </a:extLst>
          </p:cNvPr>
          <p:cNvPicPr>
            <a:picLocks noChangeAspect="1"/>
          </p:cNvPicPr>
          <p:nvPr/>
        </p:nvPicPr>
        <p:blipFill>
          <a:blip r:embed="rId4"/>
          <a:stretch>
            <a:fillRect/>
          </a:stretch>
        </p:blipFill>
        <p:spPr>
          <a:xfrm>
            <a:off x="281190" y="872064"/>
            <a:ext cx="11726212" cy="527485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1"/>
          <p:cNvSpPr txBox="1">
            <a:spLocks noGrp="1"/>
          </p:cNvSpPr>
          <p:nvPr>
            <p:ph type="title"/>
          </p:nvPr>
        </p:nvSpPr>
        <p:spPr>
          <a:xfrm>
            <a:off x="155575" y="116579"/>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Future Scopes </a:t>
            </a:r>
            <a:endParaRPr sz="3200" b="1">
              <a:latin typeface="Times New Roman"/>
              <a:ea typeface="Times New Roman"/>
              <a:cs typeface="Times New Roman"/>
              <a:sym typeface="Times New Roman"/>
            </a:endParaRPr>
          </a:p>
        </p:txBody>
      </p:sp>
      <p:sp>
        <p:nvSpPr>
          <p:cNvPr id="475" name="Google Shape;475;p31" descr="Future Scope Clipart - Man With Binoculars Png - Free Transparent PNG  Clipart Images Download"/>
          <p:cNvSpPr/>
          <p:nvPr/>
        </p:nvSpPr>
        <p:spPr>
          <a:xfrm>
            <a:off x="155575" y="-144461"/>
            <a:ext cx="304800" cy="304801"/>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pic>
        <p:nvPicPr>
          <p:cNvPr id="476" name="Google Shape;476;p31"/>
          <p:cNvPicPr preferRelativeResize="0"/>
          <p:nvPr/>
        </p:nvPicPr>
        <p:blipFill rotWithShape="1">
          <a:blip r:embed="rId3">
            <a:alphaModFix/>
          </a:blip>
          <a:srcRect/>
          <a:stretch/>
        </p:blipFill>
        <p:spPr>
          <a:xfrm>
            <a:off x="9580951" y="5971862"/>
            <a:ext cx="2592012" cy="805375"/>
          </a:xfrm>
          <a:prstGeom prst="rect">
            <a:avLst/>
          </a:prstGeom>
          <a:noFill/>
          <a:ln>
            <a:noFill/>
          </a:ln>
        </p:spPr>
      </p:pic>
      <p:sp>
        <p:nvSpPr>
          <p:cNvPr id="2" name="TextBox 1">
            <a:extLst>
              <a:ext uri="{FF2B5EF4-FFF2-40B4-BE49-F238E27FC236}">
                <a16:creationId xmlns:a16="http://schemas.microsoft.com/office/drawing/2014/main" id="{9338A9ED-5CCB-FD8A-D223-B93216DF715D}"/>
              </a:ext>
            </a:extLst>
          </p:cNvPr>
          <p:cNvSpPr txBox="1"/>
          <p:nvPr/>
        </p:nvSpPr>
        <p:spPr>
          <a:xfrm>
            <a:off x="626644" y="1127960"/>
            <a:ext cx="10637921"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2000" dirty="0"/>
              <a:t>By analyzing the data, optimization models can be built to maximize production of output (Mill TPH, Clinker TPH) by minimizing the input (DFA TPH, WFA TPH, Gypsum TPH etc.)</a:t>
            </a:r>
          </a:p>
          <a:p>
            <a:pPr marL="285750" indent="-285750">
              <a:buChar char="•"/>
            </a:pPr>
            <a:endParaRPr lang="en-US" sz="2000" dirty="0"/>
          </a:p>
          <a:p>
            <a:pPr marL="285750" indent="-285750">
              <a:buChar char="•"/>
            </a:pPr>
            <a:r>
              <a:rPr lang="en-US" sz="2000" dirty="0"/>
              <a:t>Models can be built to talk about quality of the product (based on Residue) in order to enhance the product consistency</a:t>
            </a:r>
          </a:p>
          <a:p>
            <a:pPr marL="285750" indent="-285750">
              <a:buChar char="•"/>
            </a:pPr>
            <a:endParaRPr lang="en-US" sz="2000" dirty="0"/>
          </a:p>
          <a:p>
            <a:pPr marL="285750" indent="-285750">
              <a:buChar char="•"/>
            </a:pPr>
            <a:r>
              <a:rPr lang="en-US" sz="2000" dirty="0"/>
              <a:t>Real time dashboards will help to get real time feedback on operations and management </a:t>
            </a:r>
          </a:p>
          <a:p>
            <a:pPr marL="285750" indent="-285750">
              <a:buChar char="•"/>
            </a:pPr>
            <a:endParaRPr lang="en-US" sz="2000" dirty="0"/>
          </a:p>
          <a:p>
            <a:pPr marL="285750" indent="-285750">
              <a:buChar char="•"/>
            </a:pPr>
            <a:endParaRPr lang="en-US" dirty="0"/>
          </a:p>
          <a:p>
            <a:pPr marL="285750" indent="-285750">
              <a:buChar char="•"/>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g119d570088c_0_0"/>
          <p:cNvSpPr txBox="1">
            <a:spLocks noGrp="1"/>
          </p:cNvSpPr>
          <p:nvPr>
            <p:ph type="title"/>
          </p:nvPr>
        </p:nvSpPr>
        <p:spPr>
          <a:xfrm>
            <a:off x="228600" y="191613"/>
            <a:ext cx="10515600" cy="535488"/>
          </a:xfrm>
          <a:prstGeom prst="rect">
            <a:avLst/>
          </a:prstGeom>
          <a:noFill/>
          <a:ln>
            <a:noFill/>
          </a:ln>
        </p:spPr>
        <p:txBody>
          <a:bodyPr spcFirstLastPara="1" wrap="square" lIns="91400" tIns="45675" rIns="91400" bIns="45675" anchor="ctr" anchorCtr="0">
            <a:spAutoFit/>
          </a:bodyPr>
          <a:lstStyle/>
          <a:p>
            <a:pPr>
              <a:buSzPts val="1100"/>
            </a:pPr>
            <a:r>
              <a:rPr lang="en-US" sz="3200" b="1" dirty="0">
                <a:latin typeface="Times New Roman"/>
                <a:ea typeface="Times New Roman"/>
                <a:cs typeface="Times New Roman"/>
              </a:rPr>
              <a:t>Business insights </a:t>
            </a:r>
          </a:p>
        </p:txBody>
      </p:sp>
      <p:pic>
        <p:nvPicPr>
          <p:cNvPr id="462" name="Google Shape;462;g119d570088c_0_0"/>
          <p:cNvPicPr preferRelativeResize="0"/>
          <p:nvPr/>
        </p:nvPicPr>
        <p:blipFill rotWithShape="1">
          <a:blip r:embed="rId3">
            <a:alphaModFix/>
          </a:blip>
          <a:srcRect/>
          <a:stretch/>
        </p:blipFill>
        <p:spPr>
          <a:xfrm>
            <a:off x="9580951" y="5971862"/>
            <a:ext cx="2592012" cy="805375"/>
          </a:xfrm>
          <a:prstGeom prst="rect">
            <a:avLst/>
          </a:prstGeom>
          <a:noFill/>
          <a:ln>
            <a:noFill/>
          </a:ln>
        </p:spPr>
      </p:pic>
      <p:sp>
        <p:nvSpPr>
          <p:cNvPr id="2" name="TextBox 1">
            <a:extLst>
              <a:ext uri="{FF2B5EF4-FFF2-40B4-BE49-F238E27FC236}">
                <a16:creationId xmlns:a16="http://schemas.microsoft.com/office/drawing/2014/main" id="{96AD034F-39F0-9CF7-0C8D-BE9D414D0E2F}"/>
              </a:ext>
            </a:extLst>
          </p:cNvPr>
          <p:cNvSpPr txBox="1"/>
          <p:nvPr/>
        </p:nvSpPr>
        <p:spPr>
          <a:xfrm>
            <a:off x="576866" y="1126901"/>
            <a:ext cx="11014119" cy="48167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2000" dirty="0"/>
              <a:t>The average amount of residue at the end of the process is 15.20 which indicate the quality of the cement produce, where we can evaluate it whether it falls under the desired range or not. Here we consider the range of residue must fall under 12-14. So required changes must be done to improve the quality of the cement. </a:t>
            </a:r>
          </a:p>
          <a:p>
            <a:pPr marL="285750" indent="-285750">
              <a:buChar char="•"/>
            </a:pPr>
            <a:endParaRPr lang="en-US" sz="2000" dirty="0"/>
          </a:p>
          <a:p>
            <a:pPr marL="285750" indent="-285750">
              <a:buChar char="•"/>
            </a:pPr>
            <a:r>
              <a:rPr lang="en-US" sz="2000" dirty="0"/>
              <a:t>Only 15.20% of residue from the entire residue falls under the desired range which shows the need of improving the quality of cement.</a:t>
            </a:r>
          </a:p>
          <a:p>
            <a:pPr marL="285750" indent="-285750">
              <a:buChar char="•"/>
            </a:pPr>
            <a:endParaRPr lang="en-US" sz="2000" dirty="0"/>
          </a:p>
          <a:p>
            <a:pPr marL="285750" indent="-285750">
              <a:buChar char="•"/>
            </a:pPr>
            <a:r>
              <a:rPr lang="en-US" sz="2000" dirty="0"/>
              <a:t>Gypsum TPH, DFA TPH, Mill vent BF O/L draft, Mill </a:t>
            </a:r>
            <a:r>
              <a:rPr lang="en-US" sz="2000" err="1"/>
              <a:t>folaphone</a:t>
            </a:r>
            <a:r>
              <a:rPr lang="en-US" sz="2000" dirty="0"/>
              <a:t> and Mill O/L draft still have outliers in them which indicate there may be occasional inefficiencies that we need to recheck.</a:t>
            </a:r>
          </a:p>
          <a:p>
            <a:pPr marL="285750" indent="-285750">
              <a:buChar char="•"/>
            </a:pPr>
            <a:endParaRPr lang="en-US" sz="2000" b="1" dirty="0"/>
          </a:p>
          <a:p>
            <a:pPr marL="285750" indent="-285750">
              <a:buChar char="•"/>
            </a:pPr>
            <a:endParaRPr lang="en-US" b="1" dirty="0"/>
          </a:p>
          <a:p>
            <a:pPr marL="285750" indent="-285750">
              <a:buChar char="•"/>
            </a:pPr>
            <a:endParaRPr lang="en-US" sz="1100" dirty="0"/>
          </a:p>
          <a:p>
            <a:pPr marL="285750" indent="-285750">
              <a:buChar char="•"/>
            </a:pPr>
            <a:endParaRPr lang="en-US" dirty="0"/>
          </a:p>
          <a:p>
            <a:pPr marL="285750" indent="-285750">
              <a:buChar char="•"/>
            </a:pPr>
            <a:endParaRPr lang="en-US" dirty="0"/>
          </a:p>
          <a:p>
            <a:pPr marL="285750" indent="-285750">
              <a:buChar cha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9"/>
          <p:cNvSpPr txBox="1">
            <a:spLocks noGrp="1"/>
          </p:cNvSpPr>
          <p:nvPr>
            <p:ph type="title"/>
          </p:nvPr>
        </p:nvSpPr>
        <p:spPr>
          <a:xfrm>
            <a:off x="228600" y="177777"/>
            <a:ext cx="10515600" cy="535491"/>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Challenges</a:t>
            </a:r>
            <a:endParaRPr sz="3200" b="1">
              <a:latin typeface="Times New Roman"/>
              <a:ea typeface="Times New Roman"/>
              <a:cs typeface="Times New Roman"/>
              <a:sym typeface="Times New Roman"/>
            </a:endParaRPr>
          </a:p>
        </p:txBody>
      </p:sp>
      <p:pic>
        <p:nvPicPr>
          <p:cNvPr id="468" name="Google Shape;468;p29"/>
          <p:cNvPicPr preferRelativeResize="0"/>
          <p:nvPr/>
        </p:nvPicPr>
        <p:blipFill rotWithShape="1">
          <a:blip r:embed="rId3">
            <a:alphaModFix/>
          </a:blip>
          <a:srcRect/>
          <a:stretch/>
        </p:blipFill>
        <p:spPr>
          <a:xfrm>
            <a:off x="9580951" y="5971862"/>
            <a:ext cx="2592012" cy="805375"/>
          </a:xfrm>
          <a:prstGeom prst="rect">
            <a:avLst/>
          </a:prstGeom>
          <a:noFill/>
          <a:ln>
            <a:noFill/>
          </a:ln>
        </p:spPr>
      </p:pic>
      <p:sp>
        <p:nvSpPr>
          <p:cNvPr id="2" name="TextBox 1">
            <a:extLst>
              <a:ext uri="{FF2B5EF4-FFF2-40B4-BE49-F238E27FC236}">
                <a16:creationId xmlns:a16="http://schemas.microsoft.com/office/drawing/2014/main" id="{2F0B0812-55AA-E625-9C1F-E4DFFE04AA47}"/>
              </a:ext>
            </a:extLst>
          </p:cNvPr>
          <p:cNvSpPr txBox="1"/>
          <p:nvPr/>
        </p:nvSpPr>
        <p:spPr>
          <a:xfrm>
            <a:off x="714375" y="1215690"/>
            <a:ext cx="10853486" cy="41857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endParaRPr lang="en-US" sz="2000" dirty="0"/>
          </a:p>
          <a:p>
            <a:pPr marL="285750" indent="-285750">
              <a:buChar char="•"/>
            </a:pPr>
            <a:endParaRPr lang="en-US" sz="2000" dirty="0"/>
          </a:p>
          <a:p>
            <a:pPr marL="285750" indent="-285750">
              <a:buChar char="•"/>
            </a:pPr>
            <a:r>
              <a:rPr lang="en-US" sz="2000" dirty="0"/>
              <a:t>Handling and analyzing large volumes of data might become a challenge.</a:t>
            </a:r>
          </a:p>
          <a:p>
            <a:endParaRPr lang="en-US" sz="2000" dirty="0"/>
          </a:p>
          <a:p>
            <a:pPr marL="285750" indent="-285750">
              <a:buChar char="•"/>
            </a:pPr>
            <a:r>
              <a:rPr lang="en-US" sz="2000" dirty="0"/>
              <a:t>There are variables like</a:t>
            </a:r>
            <a:r>
              <a:rPr lang="en-US" sz="1600" dirty="0"/>
              <a:t> </a:t>
            </a:r>
            <a:r>
              <a:rPr lang="en-US" sz="2000" dirty="0"/>
              <a:t>Mill vent BF O/L draft, Mill </a:t>
            </a:r>
            <a:r>
              <a:rPr lang="en-US" sz="2000" dirty="0" err="1"/>
              <a:t>folaphone</a:t>
            </a:r>
            <a:r>
              <a:rPr lang="en-US" sz="2000" dirty="0"/>
              <a:t> and Mill O/L draft which are not considered for outlier treatment since it have more than 10% outliers present in it. Also even after performing preprocessing variables like Gypsum TPH and DFA TPH are still contains outliers.</a:t>
            </a:r>
          </a:p>
          <a:p>
            <a:pPr marL="285750" indent="-285750">
              <a:buChar char="•"/>
            </a:pPr>
            <a:endParaRPr lang="en-US" sz="2000" dirty="0"/>
          </a:p>
          <a:p>
            <a:pPr marL="285750" indent="-285750">
              <a:buChar char="•"/>
            </a:pPr>
            <a:r>
              <a:rPr lang="en-US" sz="2000" dirty="0"/>
              <a:t>Even after performing transformation there are still some left where we can't completely convert them into normal distribution.</a:t>
            </a:r>
          </a:p>
          <a:p>
            <a:pPr marL="285750" indent="-285750">
              <a:buChar char="•"/>
            </a:pPr>
            <a:endParaRPr lang="en-US" sz="2800" dirty="0"/>
          </a:p>
          <a:p>
            <a:pPr marL="285750" indent="-285750">
              <a:buChar char="•"/>
            </a:pPr>
            <a:endParaRPr lang="en-US" sz="18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3"/>
          <p:cNvSpPr txBox="1">
            <a:spLocks noGrp="1"/>
          </p:cNvSpPr>
          <p:nvPr>
            <p:ph type="title"/>
          </p:nvPr>
        </p:nvSpPr>
        <p:spPr>
          <a:xfrm>
            <a:off x="76200" y="115403"/>
            <a:ext cx="107442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Queries ?  </a:t>
            </a:r>
            <a:endParaRPr sz="3200" b="1">
              <a:latin typeface="Times New Roman"/>
              <a:ea typeface="Times New Roman"/>
              <a:cs typeface="Times New Roman"/>
              <a:sym typeface="Times New Roman"/>
            </a:endParaRPr>
          </a:p>
        </p:txBody>
      </p:sp>
      <p:pic>
        <p:nvPicPr>
          <p:cNvPr id="483" name="Google Shape;483;p33"/>
          <p:cNvPicPr preferRelativeResize="0"/>
          <p:nvPr/>
        </p:nvPicPr>
        <p:blipFill rotWithShape="1">
          <a:blip r:embed="rId3">
            <a:alphaModFix/>
          </a:blip>
          <a:srcRect/>
          <a:stretch/>
        </p:blipFill>
        <p:spPr>
          <a:xfrm>
            <a:off x="2486998" y="1168646"/>
            <a:ext cx="7218003" cy="4520707"/>
          </a:xfrm>
          <a:prstGeom prst="rect">
            <a:avLst/>
          </a:prstGeom>
          <a:noFill/>
          <a:ln>
            <a:noFill/>
          </a:ln>
        </p:spPr>
      </p:pic>
      <p:pic>
        <p:nvPicPr>
          <p:cNvPr id="484" name="Google Shape;484;p33"/>
          <p:cNvPicPr preferRelativeResize="0"/>
          <p:nvPr/>
        </p:nvPicPr>
        <p:blipFill rotWithShape="1">
          <a:blip r:embed="rId4">
            <a:alphaModFix/>
          </a:blip>
          <a:srcRect/>
          <a:stretch/>
        </p:blipFill>
        <p:spPr>
          <a:xfrm>
            <a:off x="9580951" y="5971862"/>
            <a:ext cx="2592012" cy="8053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pic>
        <p:nvPicPr>
          <p:cNvPr id="489" name="Google Shape;489;p60"/>
          <p:cNvPicPr preferRelativeResize="0"/>
          <p:nvPr/>
        </p:nvPicPr>
        <p:blipFill rotWithShape="1">
          <a:blip r:embed="rId3">
            <a:alphaModFix/>
          </a:blip>
          <a:srcRect/>
          <a:stretch/>
        </p:blipFill>
        <p:spPr>
          <a:xfrm>
            <a:off x="9915533" y="6151969"/>
            <a:ext cx="2276467" cy="706033"/>
          </a:xfrm>
          <a:prstGeom prst="rect">
            <a:avLst/>
          </a:prstGeom>
          <a:noFill/>
          <a:ln>
            <a:noFill/>
          </a:ln>
        </p:spPr>
      </p:pic>
      <p:cxnSp>
        <p:nvCxnSpPr>
          <p:cNvPr id="490" name="Google Shape;490;p60"/>
          <p:cNvCxnSpPr/>
          <p:nvPr/>
        </p:nvCxnSpPr>
        <p:spPr>
          <a:xfrm>
            <a:off x="0" y="6464596"/>
            <a:ext cx="9597656" cy="0"/>
          </a:xfrm>
          <a:prstGeom prst="straightConnector1">
            <a:avLst/>
          </a:prstGeom>
          <a:noFill/>
          <a:ln w="9525" cap="flat" cmpd="sng">
            <a:solidFill>
              <a:srgbClr val="3B7FF2"/>
            </a:solidFill>
            <a:prstDash val="solid"/>
            <a:round/>
            <a:headEnd type="none" w="sm" len="sm"/>
            <a:tailEnd type="none" w="sm" len="sm"/>
          </a:ln>
        </p:spPr>
      </p:cxnSp>
      <p:pic>
        <p:nvPicPr>
          <p:cNvPr id="491" name="Google Shape;491;p60" descr="Attitudes 2 Animal Cognition Survey – The Anthrozoologist"/>
          <p:cNvPicPr preferRelativeResize="0"/>
          <p:nvPr/>
        </p:nvPicPr>
        <p:blipFill rotWithShape="1">
          <a:blip r:embed="rId4">
            <a:alphaModFix/>
          </a:blip>
          <a:srcRect/>
          <a:stretch/>
        </p:blipFill>
        <p:spPr>
          <a:xfrm>
            <a:off x="3110415" y="272435"/>
            <a:ext cx="5971172" cy="597117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1776</Words>
  <Application>Microsoft Office PowerPoint</Application>
  <PresentationFormat>Widescreen</PresentationFormat>
  <Paragraphs>267</Paragraphs>
  <Slides>31</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Georgia</vt:lpstr>
      <vt:lpstr>Imprint MT Shadow</vt:lpstr>
      <vt:lpstr>Century Schoolbook</vt:lpstr>
      <vt:lpstr>Times New Roman</vt:lpstr>
      <vt:lpstr>Algerian</vt:lpstr>
      <vt:lpstr>Arial,Sans-Serif</vt:lpstr>
      <vt:lpstr>Office Theme</vt:lpstr>
      <vt:lpstr>PowerPoint Presentation</vt:lpstr>
      <vt:lpstr>Project Overview</vt:lpstr>
      <vt:lpstr>Project Leadership</vt:lpstr>
      <vt:lpstr>Contents</vt:lpstr>
      <vt:lpstr>PowerPoint Presentation</vt:lpstr>
      <vt:lpstr>Business Problem</vt:lpstr>
      <vt:lpstr>Business Objectives, Constraints and Success Criteria</vt:lpstr>
      <vt:lpstr>CRISP-ML(Q) Methodology</vt:lpstr>
      <vt:lpstr>Technical Stacks</vt:lpstr>
      <vt:lpstr>Data Collection and Understanding  Raw material input For the process of manufactuirng cement, raw materials such as gypsum, DFA, WFA and clinker are needed. The quality and quantity of these are noted.  Process at mill The mill throughput (TPH), power consumed (KW), temparature (Temp I/L and O/L) are noted for examining the mill functioning and process  Quality checks  At the end of process, the amount of residue is noted so that it will an idea about the quality of cement manufactured. Required adjustments can be made accordingly.  Operations of machinery and its maintenence As a part of envoirnmental and safety monitoring, fans and ventilation are implemented. Automated alarms and alerts are also there to handle situations which is beyond threshold. we note the power used (KW), temparature (Temp I/L and O/L), revolutions per minute (RPM), pressure etc. for each   </vt:lpstr>
      <vt:lpstr>Data Dictionary </vt:lpstr>
      <vt:lpstr>Exploratory Data Analysis [EDA]</vt:lpstr>
      <vt:lpstr>EDA</vt:lpstr>
      <vt:lpstr>Missing Values Observation and Duplicates</vt:lpstr>
      <vt:lpstr>Outlier Detection</vt:lpstr>
      <vt:lpstr>Histogram for each column before preprocessing</vt:lpstr>
      <vt:lpstr>PowerPoint Presentation</vt:lpstr>
      <vt:lpstr>Boxplot to detect outliers </vt:lpstr>
      <vt:lpstr>PowerPoint Presentation</vt:lpstr>
      <vt:lpstr>Inferences from EDA</vt:lpstr>
      <vt:lpstr>Data preprocessing </vt:lpstr>
      <vt:lpstr>Boxplots after preprocessing</vt:lpstr>
      <vt:lpstr>PowerPoint Presentation</vt:lpstr>
      <vt:lpstr>Histograms after preprocessing</vt:lpstr>
      <vt:lpstr>PowerPoint Presentation</vt:lpstr>
      <vt:lpstr>Data Visualization </vt:lpstr>
      <vt:lpstr>Future Scopes </vt:lpstr>
      <vt:lpstr>Business insights </vt:lpstr>
      <vt:lpstr>Challenges</vt:lpstr>
      <vt:lpstr>Queries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BARTHWAL</dc:creator>
  <cp:lastModifiedBy>Athulya P</cp:lastModifiedBy>
  <cp:revision>1521</cp:revision>
  <dcterms:created xsi:type="dcterms:W3CDTF">2022-02-16T01:47:29Z</dcterms:created>
  <dcterms:modified xsi:type="dcterms:W3CDTF">2023-11-02T06:06:31Z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49deba9595b64033890e84905b5c3bc0</vt:lpwstr>
  </property>
</Properties>
</file>